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84ac3732-45e0-8233-53b4-001c6d9f1eea}">
          <p14:sldIdLst>
            <p14:sldId id="256"/>
            <p14:sldId id="257"/>
            <p14:sldId id="258"/>
            <p14:sldId id="259"/>
            <p14:sldId id="260"/>
          </p14:sldIdLst>
        </p14:section>
        <p14:section name="Demo" id="{c66cae57-b820-d986-b3a0-c24b38d6fad7}">
          <p14:sldIdLst>
            <p14:sldId id="261"/>
          </p14:sldIdLst>
        </p14:section>
        <p14:section name="Close" id="{0ab581c0-afe3-1902-9953-2699c3c59f4f}">
          <p14:sldIdLst>
            <p14:sldId id="262"/>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Open with the slogan: You travel, we care. VitaNatura 365 is health in your pocket for every traveller in Croatia. Today we show it with one story set in Dubrovnik.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The problem: the traveller becomes their own travel agent, in a foreign language, and people in a wheelchair often give up before they start. On the other side, Croatia has empty capacity outside the summer.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Two kinds of travellers use the same app: anyone whose trip goes wrong, and people who come to Croatia for a health trip on purpose. That includes travellers with reduced mobility, seniors and the people who travel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What the traveller says once in the chat is used everywhere. Example: the mobility code from the chat books airport assistance, and the recovery stage decides which paths and pools are unlocked.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This is the story you will see in the live demo. Real hospital, real routes, live weather. Then switch to the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 minutes in the browser. Order: landing page, Profile chat (click the answers, profile fills in), My plan, Help on the road (map, tourist clinic, Croatian passport), Transport (flight home, assistance request), Recovery (click day 6), Rehab (live weather in Vela Luka), Crowd-free trips (harvests, Green Sea Safari). Click Restart demo in the sidebar before you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Hospitals, routes and weather are real open data; prices and partners in the demo are labelled as samples. Health AI is high risk under the EU AI Act, so the app supports decisions and always shows its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This is the 365 part: a health and recovery guest comes outside the season, stays longer and spends locally. Partners include family farms, rehab centres and projects like Green Sea Safari.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Revenue comes from partners and B2B, so the traveller in trouble never pays for help. Next: a pilot in Dubrovnik and a real multilingual AI assistant.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20 seconds, then questions. Repeat the slogan, point to the QR code so the jury can try the app on their phones.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00800"/>
            <a:ext cx="3657600" cy="274320"/>
          </a:xfrm>
          <a:prstGeom prst="rect">
            <a:avLst/>
          </a:prstGeom>
          <a:noFill/>
          <a:ln/>
        </p:spPr>
        <p:txBody>
          <a:bodyPr wrap="square" lIns="0" tIns="0" rIns="0" bIns="0" rtlCol="0" anchor="ctr"/>
          <a:lstStyle/>
          <a:p>
            <a:pPr indent="0" marL="0">
              <a:buNone/>
            </a:pPr>
            <a:r>
              <a:rPr lang="en-US" sz="1000" dirty="0">
                <a:solidFill>
                  <a:srgbClr val="66746D"/>
                </a:solidFill>
              </a:rPr>
              <a:t>VitaNatura 365</a:t>
            </a:r>
            <a:endParaRPr lang="en-US" sz="1000" dirty="0"/>
          </a:p>
        </p:txBody>
      </p:sp>
      <p:sp>
        <p:nvSpPr>
          <p:cNvPr id="3" name="Text 1"/>
          <p:cNvSpPr/>
          <p:nvPr>
            <p:ph idx="101" type="title" hasCustomPrompt="1"/>
          </p:nvPr>
        </p:nvSpPr>
        <p:spPr>
          <a:xfrm>
            <a:off x="548640" y="41148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6746D"/>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5201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6746D"/>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jpe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jpe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2.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2.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jpe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jpeg"/><Relationship Id="rId5" Type="http://schemas.openxmlformats.org/officeDocument/2006/relationships/image" Target="../media/image-8-5.jpeg"/><Relationship Id="rId6" Type="http://schemas.openxmlformats.org/officeDocument/2006/relationships/image" Target="../media/image-8-6.jpeg"/><Relationship Id="rId7" Type="http://schemas.openxmlformats.org/officeDocument/2006/relationships/image" Target="../media/image-8-7.jpeg"/><Relationship Id="rId8" Type="http://schemas.openxmlformats.org/officeDocument/2006/relationships/slideLayout" Target="../slideLayouts/slideLayout2.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Background photo" descr="preencoded.png">    </p:cNvPr>
          <p:cNvPicPr>
            <a:picLocks noChangeAspect="1"/>
          </p:cNvPicPr>
          <p:nvPr/>
        </p:nvPicPr>
        <p:blipFill>
          <a:blip r:embed="rId1"/>
          <a:srcRect l="0" r="0" t="4314" b="4314"/>
          <a:stretch/>
        </p:blipFill>
        <p:spPr>
          <a:xfrm>
            <a:off x="0" y="0"/>
            <a:ext cx="12191695" cy="6858000"/>
          </a:xfrm>
          <a:prstGeom prst="rect">
            <a:avLst/>
          </a:prstGeom>
        </p:spPr>
      </p:pic>
      <p:sp>
        <p:nvSpPr>
          <p:cNvPr id="3" name="Scrim"/>
          <p:cNvSpPr/>
          <p:nvPr/>
        </p:nvSpPr>
        <p:spPr>
          <a:xfrm>
            <a:off x="0" y="0"/>
            <a:ext cx="12191695" cy="6858000"/>
          </a:xfrm>
          <a:prstGeom prst="rect">
            <a:avLst/>
          </a:prstGeom>
          <a:solidFill>
            <a:srgbClr val="15201B">
              <a:alpha val="65000"/>
            </a:srgbClr>
          </a:solidFill>
          <a:ln/>
        </p:spPr>
      </p:sp>
      <p:sp>
        <p:nvSpPr>
          <p:cNvPr id="4" name="Text 1"/>
          <p:cNvSpPr txBox="1"/>
          <p:nvPr/>
        </p:nvSpPr>
        <p:spPr>
          <a:xfrm>
            <a:off x="548640" y="1554480"/>
            <a:ext cx="7315200" cy="365760"/>
          </a:xfrm>
          <a:prstGeom prst="rect">
            <a:avLst/>
          </a:prstGeom>
          <a:noFill/>
          <a:ln/>
        </p:spPr>
        <p:txBody>
          <a:bodyPr wrap="square" lIns="0" tIns="0" rIns="0" bIns="0" rtlCol="0" anchor="ctr"/>
          <a:lstStyle/>
          <a:p>
            <a:pPr indent="0" marL="0">
              <a:buNone/>
            </a:pPr>
            <a:r>
              <a:rPr lang="en-US" sz="1600" b="1" spc="300" kern="0" dirty="0">
                <a:solidFill>
                  <a:srgbClr val="B8E6CF"/>
                </a:solidFill>
              </a:rPr>
              <a:t>HEALTH IN YOUR POCKET</a:t>
            </a:r>
            <a:endParaRPr lang="en-US" sz="1600" dirty="0"/>
          </a:p>
        </p:txBody>
      </p:sp>
      <p:sp>
        <p:nvSpPr>
          <p:cNvPr id="5" name="Text 2"/>
          <p:cNvSpPr txBox="1"/>
          <p:nvPr/>
        </p:nvSpPr>
        <p:spPr>
          <a:xfrm>
            <a:off x="548640" y="2011680"/>
            <a:ext cx="8229600" cy="2377440"/>
          </a:xfrm>
          <a:prstGeom prst="rect">
            <a:avLst/>
          </a:prstGeom>
          <a:noFill/>
          <a:ln/>
        </p:spPr>
        <p:txBody>
          <a:bodyPr wrap="square" lIns="0" tIns="0" rIns="0" bIns="0" rtlCol="0" anchor="t"/>
          <a:lstStyle/>
          <a:p>
            <a:pPr indent="0" marL="0">
              <a:lnSpc>
                <a:spcPct val="95000"/>
              </a:lnSpc>
              <a:buNone/>
            </a:pPr>
            <a:r>
              <a:rPr lang="en-US" sz="7200" b="1" dirty="0">
                <a:solidFill>
                  <a:srgbClr val="FFFFFF"/>
                </a:solidFill>
              </a:rPr>
              <a:t>You travel.</a:t>
            </a:r>
            <a:endParaRPr lang="en-US" sz="7200" dirty="0"/>
          </a:p>
          <a:p>
            <a:pPr indent="0" marL="0">
              <a:lnSpc>
                <a:spcPct val="95000"/>
              </a:lnSpc>
              <a:buNone/>
            </a:pPr>
            <a:r>
              <a:rPr lang="en-US" sz="7200" b="1" dirty="0">
                <a:solidFill>
                  <a:srgbClr val="FFFFFF"/>
                </a:solidFill>
              </a:rPr>
              <a:t>We care.</a:t>
            </a:r>
            <a:endParaRPr lang="en-US" sz="7200" dirty="0"/>
          </a:p>
        </p:txBody>
      </p:sp>
      <p:sp>
        <p:nvSpPr>
          <p:cNvPr id="6" name="Text 3"/>
          <p:cNvSpPr txBox="1"/>
          <p:nvPr/>
        </p:nvSpPr>
        <p:spPr>
          <a:xfrm>
            <a:off x="548640" y="4480560"/>
            <a:ext cx="6858000" cy="822960"/>
          </a:xfrm>
          <a:prstGeom prst="rect">
            <a:avLst/>
          </a:prstGeom>
          <a:noFill/>
          <a:ln/>
        </p:spPr>
        <p:txBody>
          <a:bodyPr wrap="square" lIns="0" tIns="0" rIns="0" bIns="0" rtlCol="0" anchor="t"/>
          <a:lstStyle/>
          <a:p>
            <a:pPr indent="0" marL="0">
              <a:buNone/>
            </a:pPr>
            <a:r>
              <a:rPr lang="en-US" sz="2000" dirty="0">
                <a:solidFill>
                  <a:srgbClr val="E3EEE8"/>
                </a:solidFill>
              </a:rPr>
              <a:t>VitaNatura 365: one app for help on the road, treatment, recovery and time in nature, all year round.</a:t>
            </a:r>
            <a:endParaRPr lang="en-US" sz="2000" dirty="0"/>
          </a:p>
        </p:txBody>
      </p:sp>
      <p:sp>
        <p:nvSpPr>
          <p:cNvPr id="7" name="Text 4"/>
          <p:cNvSpPr txBox="1"/>
          <p:nvPr/>
        </p:nvSpPr>
        <p:spPr>
          <a:xfrm>
            <a:off x="548640" y="6035040"/>
            <a:ext cx="5486400" cy="365760"/>
          </a:xfrm>
          <a:prstGeom prst="rect">
            <a:avLst/>
          </a:prstGeom>
          <a:noFill/>
          <a:ln/>
        </p:spPr>
        <p:txBody>
          <a:bodyPr wrap="square" lIns="0" tIns="0" rIns="0" bIns="0" rtlCol="0" anchor="ctr"/>
          <a:lstStyle/>
          <a:p>
            <a:pPr indent="0" marL="0">
              <a:buNone/>
            </a:pPr>
            <a:r>
              <a:rPr lang="en-US" sz="1400" dirty="0">
                <a:solidFill>
                  <a:srgbClr val="C9D6CF"/>
                </a:solidFill>
              </a:rPr>
              <a:t>Tourism 365 hackathon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Today, the traveller is their own travel agent</a:t>
            </a:r>
            <a:endParaRPr lang="en-US" sz="3600" dirty="0"/>
          </a:p>
        </p:txBody>
      </p:sp>
      <p:sp>
        <p:nvSpPr>
          <p:cNvPr id="3" name="Shape 1"/>
          <p:cNvSpPr/>
          <p:nvPr/>
        </p:nvSpPr>
        <p:spPr>
          <a:xfrm>
            <a:off x="548640" y="1600200"/>
            <a:ext cx="640080" cy="640080"/>
          </a:xfrm>
          <a:prstGeom prst="ellipse">
            <a:avLst/>
          </a:prstGeom>
          <a:solidFill>
            <a:schemeClr val="accent6"/>
          </a:solidFill>
          <a:ln/>
        </p:spPr>
      </p:sp>
      <p:pic>
        <p:nvPicPr>
          <p:cNvPr id="4" name="Image 0" descr="preencoded.png">    </p:cNvPr>
          <p:cNvPicPr>
            <a:picLocks noChangeAspect="1"/>
          </p:cNvPicPr>
          <p:nvPr/>
        </p:nvPicPr>
        <p:blipFill>
          <a:blip r:embed="rId1"/>
          <a:stretch>
            <a:fillRect/>
          </a:stretch>
        </p:blipFill>
        <p:spPr>
          <a:xfrm>
            <a:off x="676656" y="1728216"/>
            <a:ext cx="384048" cy="384048"/>
          </a:xfrm>
          <a:prstGeom prst="rect">
            <a:avLst/>
          </a:prstGeom>
        </p:spPr>
      </p:pic>
      <p:sp>
        <p:nvSpPr>
          <p:cNvPr id="5" name="Text 2"/>
          <p:cNvSpPr txBox="1"/>
          <p:nvPr/>
        </p:nvSpPr>
        <p:spPr>
          <a:xfrm>
            <a:off x="1417320" y="1600200"/>
            <a:ext cx="5120640" cy="365760"/>
          </a:xfrm>
          <a:prstGeom prst="rect">
            <a:avLst/>
          </a:prstGeom>
          <a:noFill/>
          <a:ln/>
        </p:spPr>
        <p:txBody>
          <a:bodyPr wrap="square" lIns="0" tIns="0" rIns="0" bIns="0" rtlCol="0" anchor="ctr"/>
          <a:lstStyle/>
          <a:p>
            <a:pPr indent="0" marL="0">
              <a:buNone/>
            </a:pPr>
            <a:r>
              <a:rPr lang="en-US" sz="1800" b="1" dirty="0">
                <a:solidFill>
                  <a:schemeClr val="tx1"/>
                </a:solidFill>
              </a:rPr>
              <a:t>Dozens of bookings, often in a foreign language</a:t>
            </a:r>
            <a:endParaRPr lang="en-US" sz="1800" dirty="0"/>
          </a:p>
        </p:txBody>
      </p:sp>
      <p:sp>
        <p:nvSpPr>
          <p:cNvPr id="6" name="Text 3"/>
          <p:cNvSpPr txBox="1"/>
          <p:nvPr/>
        </p:nvSpPr>
        <p:spPr>
          <a:xfrm>
            <a:off x="1417320" y="1984248"/>
            <a:ext cx="5120640" cy="685800"/>
          </a:xfrm>
          <a:prstGeom prst="rect">
            <a:avLst/>
          </a:prstGeom>
          <a:noFill/>
          <a:ln/>
        </p:spPr>
        <p:txBody>
          <a:bodyPr wrap="square" lIns="0" tIns="0" rIns="0" bIns="0" rtlCol="0" anchor="t"/>
          <a:lstStyle/>
          <a:p>
            <a:pPr indent="0" marL="0">
              <a:buNone/>
            </a:pPr>
            <a:r>
              <a:rPr lang="en-US" sz="1500" dirty="0">
                <a:solidFill>
                  <a:schemeClr val="accent5"/>
                </a:solidFill>
              </a:rPr>
              <a:t>Hospital, transport, accommodation and recovery are each arranged separately.</a:t>
            </a:r>
            <a:endParaRPr lang="en-US" sz="1500" dirty="0"/>
          </a:p>
        </p:txBody>
      </p:sp>
      <p:sp>
        <p:nvSpPr>
          <p:cNvPr id="7" name="Shape 4"/>
          <p:cNvSpPr/>
          <p:nvPr/>
        </p:nvSpPr>
        <p:spPr>
          <a:xfrm>
            <a:off x="548640" y="2788920"/>
            <a:ext cx="640080" cy="640080"/>
          </a:xfrm>
          <a:prstGeom prst="ellipse">
            <a:avLst/>
          </a:prstGeom>
          <a:solidFill>
            <a:schemeClr val="accent6"/>
          </a:solidFill>
          <a:ln/>
        </p:spPr>
      </p:sp>
      <p:pic>
        <p:nvPicPr>
          <p:cNvPr id="8" name="Image 1" descr="preencoded.png">    </p:cNvPr>
          <p:cNvPicPr>
            <a:picLocks noChangeAspect="1"/>
          </p:cNvPicPr>
          <p:nvPr/>
        </p:nvPicPr>
        <p:blipFill>
          <a:blip r:embed="rId2"/>
          <a:stretch>
            <a:fillRect/>
          </a:stretch>
        </p:blipFill>
        <p:spPr>
          <a:xfrm>
            <a:off x="676656" y="2916936"/>
            <a:ext cx="384048" cy="384048"/>
          </a:xfrm>
          <a:prstGeom prst="rect">
            <a:avLst/>
          </a:prstGeom>
        </p:spPr>
      </p:pic>
      <p:sp>
        <p:nvSpPr>
          <p:cNvPr id="9" name="Text 5"/>
          <p:cNvSpPr txBox="1"/>
          <p:nvPr/>
        </p:nvSpPr>
        <p:spPr>
          <a:xfrm>
            <a:off x="1417320" y="2788920"/>
            <a:ext cx="5120640" cy="365760"/>
          </a:xfrm>
          <a:prstGeom prst="rect">
            <a:avLst/>
          </a:prstGeom>
          <a:noFill/>
          <a:ln/>
        </p:spPr>
        <p:txBody>
          <a:bodyPr wrap="square" lIns="0" tIns="0" rIns="0" bIns="0" rtlCol="0" anchor="ctr"/>
          <a:lstStyle/>
          <a:p>
            <a:pPr indent="0" marL="0">
              <a:buNone/>
            </a:pPr>
            <a:r>
              <a:rPr lang="en-US" sz="1800" b="1" dirty="0">
                <a:solidFill>
                  <a:schemeClr val="tx1"/>
                </a:solidFill>
              </a:rPr>
              <a:t>Is the trip even possible?</a:t>
            </a:r>
            <a:endParaRPr lang="en-US" sz="1800" dirty="0"/>
          </a:p>
        </p:txBody>
      </p:sp>
      <p:sp>
        <p:nvSpPr>
          <p:cNvPr id="10" name="Text 6"/>
          <p:cNvSpPr txBox="1"/>
          <p:nvPr/>
        </p:nvSpPr>
        <p:spPr>
          <a:xfrm>
            <a:off x="1417320" y="3172968"/>
            <a:ext cx="5120640" cy="685800"/>
          </a:xfrm>
          <a:prstGeom prst="rect">
            <a:avLst/>
          </a:prstGeom>
          <a:noFill/>
          <a:ln/>
        </p:spPr>
        <p:txBody>
          <a:bodyPr wrap="square" lIns="0" tIns="0" rIns="0" bIns="0" rtlCol="0" anchor="t"/>
          <a:lstStyle/>
          <a:p>
            <a:pPr indent="0" marL="0">
              <a:buNone/>
            </a:pPr>
            <a:r>
              <a:rPr lang="en-US" sz="1500" dirty="0">
                <a:solidFill>
                  <a:schemeClr val="accent5"/>
                </a:solidFill>
              </a:rPr>
              <a:t>Travellers with reduced mobility can't tell which flights, taxis and rooms work for them.</a:t>
            </a:r>
            <a:endParaRPr lang="en-US" sz="1500" dirty="0"/>
          </a:p>
        </p:txBody>
      </p:sp>
      <p:sp>
        <p:nvSpPr>
          <p:cNvPr id="11" name="Shape 7"/>
          <p:cNvSpPr/>
          <p:nvPr/>
        </p:nvSpPr>
        <p:spPr>
          <a:xfrm>
            <a:off x="548640" y="3977640"/>
            <a:ext cx="640080" cy="640080"/>
          </a:xfrm>
          <a:prstGeom prst="ellipse">
            <a:avLst/>
          </a:prstGeom>
          <a:solidFill>
            <a:schemeClr val="accent6"/>
          </a:solidFill>
          <a:ln/>
        </p:spPr>
      </p:sp>
      <p:pic>
        <p:nvPicPr>
          <p:cNvPr id="12" name="Image 2" descr="preencoded.png">    </p:cNvPr>
          <p:cNvPicPr>
            <a:picLocks noChangeAspect="1"/>
          </p:cNvPicPr>
          <p:nvPr/>
        </p:nvPicPr>
        <p:blipFill>
          <a:blip r:embed="rId3"/>
          <a:stretch>
            <a:fillRect/>
          </a:stretch>
        </p:blipFill>
        <p:spPr>
          <a:xfrm>
            <a:off x="676656" y="4105656"/>
            <a:ext cx="384048" cy="384048"/>
          </a:xfrm>
          <a:prstGeom prst="rect">
            <a:avLst/>
          </a:prstGeom>
        </p:spPr>
      </p:pic>
      <p:sp>
        <p:nvSpPr>
          <p:cNvPr id="13" name="Text 8"/>
          <p:cNvSpPr txBox="1"/>
          <p:nvPr/>
        </p:nvSpPr>
        <p:spPr>
          <a:xfrm>
            <a:off x="1417320" y="3977640"/>
            <a:ext cx="5120640" cy="365760"/>
          </a:xfrm>
          <a:prstGeom prst="rect">
            <a:avLst/>
          </a:prstGeom>
          <a:noFill/>
          <a:ln/>
        </p:spPr>
        <p:txBody>
          <a:bodyPr wrap="square" lIns="0" tIns="0" rIns="0" bIns="0" rtlCol="0" anchor="ctr"/>
          <a:lstStyle/>
          <a:p>
            <a:pPr indent="0" marL="0">
              <a:buNone/>
            </a:pPr>
            <a:r>
              <a:rPr lang="en-US" sz="1800" b="1" dirty="0">
                <a:solidFill>
                  <a:schemeClr val="tx1"/>
                </a:solidFill>
              </a:rPr>
              <a:t>The clinic loses sight of the patient</a:t>
            </a:r>
            <a:endParaRPr lang="en-US" sz="1800" dirty="0"/>
          </a:p>
        </p:txBody>
      </p:sp>
      <p:sp>
        <p:nvSpPr>
          <p:cNvPr id="14" name="Text 9"/>
          <p:cNvSpPr txBox="1"/>
          <p:nvPr/>
        </p:nvSpPr>
        <p:spPr>
          <a:xfrm>
            <a:off x="1417320" y="4361688"/>
            <a:ext cx="5120640" cy="685800"/>
          </a:xfrm>
          <a:prstGeom prst="rect">
            <a:avLst/>
          </a:prstGeom>
          <a:noFill/>
          <a:ln/>
        </p:spPr>
        <p:txBody>
          <a:bodyPr wrap="square" lIns="0" tIns="0" rIns="0" bIns="0" rtlCol="0" anchor="t"/>
          <a:lstStyle/>
          <a:p>
            <a:pPr indent="0" marL="0">
              <a:buNone/>
            </a:pPr>
            <a:r>
              <a:rPr lang="en-US" sz="1500" dirty="0">
                <a:solidFill>
                  <a:schemeClr val="accent5"/>
                </a:solidFill>
              </a:rPr>
              <a:t>Once the patient leaves the hospital, nobody follows the recovery.</a:t>
            </a:r>
            <a:endParaRPr lang="en-US" sz="1500" dirty="0"/>
          </a:p>
        </p:txBody>
      </p:sp>
      <p:sp>
        <p:nvSpPr>
          <p:cNvPr id="15" name="Shape 10"/>
          <p:cNvSpPr/>
          <p:nvPr/>
        </p:nvSpPr>
        <p:spPr>
          <a:xfrm>
            <a:off x="548640" y="5212080"/>
            <a:ext cx="5989320" cy="868680"/>
          </a:xfrm>
          <a:prstGeom prst="roundRect">
            <a:avLst>
              <a:gd name="adj" fmla="val 12632"/>
            </a:avLst>
          </a:prstGeom>
          <a:solidFill>
            <a:schemeClr val="bg2"/>
          </a:solidFill>
          <a:ln/>
        </p:spPr>
      </p:sp>
      <p:sp>
        <p:nvSpPr>
          <p:cNvPr id="16" name="Text 11"/>
          <p:cNvSpPr txBox="1"/>
          <p:nvPr/>
        </p:nvSpPr>
        <p:spPr>
          <a:xfrm>
            <a:off x="777240" y="5257800"/>
            <a:ext cx="5577840" cy="777240"/>
          </a:xfrm>
          <a:prstGeom prst="rect">
            <a:avLst/>
          </a:prstGeom>
          <a:noFill/>
          <a:ln/>
        </p:spPr>
        <p:txBody>
          <a:bodyPr wrap="square" lIns="0" tIns="0" rIns="0" bIns="0" rtlCol="0" anchor="ctr"/>
          <a:lstStyle/>
          <a:p>
            <a:pPr indent="0" marL="0">
              <a:buNone/>
            </a:pPr>
            <a:r>
              <a:rPr lang="en-US" sz="1500" dirty="0">
                <a:solidFill>
                  <a:schemeClr val="tx1"/>
                </a:solidFill>
              </a:rPr>
              <a:t>Meanwhile, spas, hotels and islands stand half empty from October to May, while the Old Town fills up on cruise days.</a:t>
            </a:r>
            <a:endParaRPr lang="en-US" sz="1500" dirty="0"/>
          </a:p>
        </p:txBody>
      </p:sp>
      <p:pic>
        <p:nvPicPr>
          <p:cNvPr id="17" name="Dubrovnik photo" descr="preencoded.png">    </p:cNvPr>
          <p:cNvPicPr>
            <a:picLocks noChangeAspect="1"/>
          </p:cNvPicPr>
          <p:nvPr/>
        </p:nvPicPr>
        <p:blipFill>
          <a:blip r:embed="rId4"/>
          <a:srcRect l="15987" r="15987" t="0" b="0"/>
          <a:stretch/>
        </p:blipFill>
        <p:spPr>
          <a:xfrm>
            <a:off x="6903720" y="1600200"/>
            <a:ext cx="4739335" cy="448056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6746D"/>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For every tourist, not only patients</a:t>
            </a:r>
            <a:endParaRPr lang="en-US" sz="3600" dirty="0"/>
          </a:p>
        </p:txBody>
      </p:sp>
      <p:sp>
        <p:nvSpPr>
          <p:cNvPr id="3" name="Shape 1"/>
          <p:cNvSpPr/>
          <p:nvPr/>
        </p:nvSpPr>
        <p:spPr>
          <a:xfrm>
            <a:off x="548640" y="1463040"/>
            <a:ext cx="5394960" cy="4709160"/>
          </a:xfrm>
          <a:prstGeom prst="roundRect">
            <a:avLst>
              <a:gd name="adj" fmla="val 2913"/>
            </a:avLst>
          </a:prstGeom>
          <a:solidFill>
            <a:schemeClr val="bg2"/>
          </a:solidFill>
          <a:ln/>
        </p:spPr>
      </p:sp>
      <p:pic>
        <p:nvPicPr>
          <p:cNvPr id="4" name="When something goes wrong on the trip" descr="preencoded.png">    </p:cNvPr>
          <p:cNvPicPr>
            <a:picLocks noChangeAspect="1"/>
          </p:cNvPicPr>
          <p:nvPr/>
        </p:nvPicPr>
        <p:blipFill>
          <a:blip r:embed="rId1"/>
          <a:srcRect l="0" r="0" t="21092" b="21092"/>
          <a:stretch/>
        </p:blipFill>
        <p:spPr>
          <a:xfrm>
            <a:off x="548640" y="1463040"/>
            <a:ext cx="5394960" cy="1920240"/>
          </a:xfrm>
          <a:prstGeom prst="rect">
            <a:avLst/>
          </a:prstGeom>
        </p:spPr>
      </p:pic>
      <p:sp>
        <p:nvSpPr>
          <p:cNvPr id="5" name="Text 2"/>
          <p:cNvSpPr txBox="1"/>
          <p:nvPr/>
        </p:nvSpPr>
        <p:spPr>
          <a:xfrm>
            <a:off x="822960" y="3566160"/>
            <a:ext cx="4846320" cy="411480"/>
          </a:xfrm>
          <a:prstGeom prst="rect">
            <a:avLst/>
          </a:prstGeom>
          <a:noFill/>
          <a:ln/>
        </p:spPr>
        <p:txBody>
          <a:bodyPr wrap="square" lIns="0" tIns="0" rIns="0" bIns="0" rtlCol="0" anchor="ctr"/>
          <a:lstStyle/>
          <a:p>
            <a:pPr indent="0" marL="0">
              <a:buNone/>
            </a:pPr>
            <a:r>
              <a:rPr lang="en-US" sz="2000" b="1" dirty="0">
                <a:solidFill>
                  <a:schemeClr val="tx1"/>
                </a:solidFill>
              </a:rPr>
              <a:t>When something goes wrong on the trip</a:t>
            </a:r>
            <a:endParaRPr lang="en-US" sz="2000" dirty="0"/>
          </a:p>
        </p:txBody>
      </p:sp>
      <p:sp>
        <p:nvSpPr>
          <p:cNvPr id="6" name="Text 3"/>
          <p:cNvSpPr txBox="1"/>
          <p:nvPr/>
        </p:nvSpPr>
        <p:spPr>
          <a:xfrm>
            <a:off x="822960" y="4005072"/>
            <a:ext cx="4846320" cy="685800"/>
          </a:xfrm>
          <a:prstGeom prst="rect">
            <a:avLst/>
          </a:prstGeom>
          <a:noFill/>
          <a:ln/>
        </p:spPr>
        <p:txBody>
          <a:bodyPr wrap="square" lIns="0" tIns="0" rIns="0" bIns="0" rtlCol="0" anchor="t"/>
          <a:lstStyle/>
          <a:p>
            <a:pPr indent="0" marL="0">
              <a:buNone/>
            </a:pPr>
            <a:r>
              <a:rPr lang="en-US" sz="1500" dirty="0">
                <a:solidFill>
                  <a:schemeClr val="accent5"/>
                </a:solidFill>
              </a:rPr>
              <a:t>A fall, a fever, a toothache. Help nearby, in your language, and the rest of the trip rebuilt.</a:t>
            </a:r>
            <a:endParaRPr lang="en-US" sz="1500" dirty="0"/>
          </a:p>
        </p:txBody>
      </p:sp>
      <p:pic>
        <p:nvPicPr>
          <p:cNvPr id="7" name="Image 1" descr="preencoded.png">    </p:cNvPr>
          <p:cNvPicPr>
            <a:picLocks noChangeAspect="1"/>
          </p:cNvPicPr>
          <p:nvPr/>
        </p:nvPicPr>
        <p:blipFill>
          <a:blip r:embed="rId2"/>
          <a:stretch>
            <a:fillRect/>
          </a:stretch>
        </p:blipFill>
        <p:spPr>
          <a:xfrm>
            <a:off x="822960" y="4846320"/>
            <a:ext cx="274320" cy="274320"/>
          </a:xfrm>
          <a:prstGeom prst="rect">
            <a:avLst/>
          </a:prstGeom>
        </p:spPr>
      </p:pic>
      <p:sp>
        <p:nvSpPr>
          <p:cNvPr id="8" name="Text 4"/>
          <p:cNvSpPr txBox="1"/>
          <p:nvPr/>
        </p:nvSpPr>
        <p:spPr>
          <a:xfrm>
            <a:off x="1234440" y="4818888"/>
            <a:ext cx="4434840" cy="329184"/>
          </a:xfrm>
          <a:prstGeom prst="rect">
            <a:avLst/>
          </a:prstGeom>
          <a:noFill/>
          <a:ln/>
        </p:spPr>
        <p:txBody>
          <a:bodyPr wrap="square" lIns="0" tIns="0" rIns="0" bIns="0" rtlCol="0" anchor="ctr"/>
          <a:lstStyle/>
          <a:p>
            <a:pPr indent="0" marL="0">
              <a:buNone/>
            </a:pPr>
            <a:r>
              <a:rPr lang="en-US" sz="1500" dirty="0">
                <a:solidFill>
                  <a:schemeClr val="tx1"/>
                </a:solidFill>
              </a:rPr>
              <a:t>Nearest hospital, clinic or pharmacy</a:t>
            </a:r>
            <a:endParaRPr lang="en-US" sz="1500" dirty="0"/>
          </a:p>
        </p:txBody>
      </p:sp>
      <p:pic>
        <p:nvPicPr>
          <p:cNvPr id="9" name="Image 2" descr="preencoded.png">    </p:cNvPr>
          <p:cNvPicPr>
            <a:picLocks noChangeAspect="1"/>
          </p:cNvPicPr>
          <p:nvPr/>
        </p:nvPicPr>
        <p:blipFill>
          <a:blip r:embed="rId3"/>
          <a:stretch>
            <a:fillRect/>
          </a:stretch>
        </p:blipFill>
        <p:spPr>
          <a:xfrm>
            <a:off x="822960" y="5230368"/>
            <a:ext cx="274320" cy="274320"/>
          </a:xfrm>
          <a:prstGeom prst="rect">
            <a:avLst/>
          </a:prstGeom>
        </p:spPr>
      </p:pic>
      <p:sp>
        <p:nvSpPr>
          <p:cNvPr id="10" name="Text 5"/>
          <p:cNvSpPr txBox="1"/>
          <p:nvPr/>
        </p:nvSpPr>
        <p:spPr>
          <a:xfrm>
            <a:off x="1234440" y="5202936"/>
            <a:ext cx="4434840" cy="329184"/>
          </a:xfrm>
          <a:prstGeom prst="rect">
            <a:avLst/>
          </a:prstGeom>
          <a:noFill/>
          <a:ln/>
        </p:spPr>
        <p:txBody>
          <a:bodyPr wrap="square" lIns="0" tIns="0" rIns="0" bIns="0" rtlCol="0" anchor="ctr"/>
          <a:lstStyle/>
          <a:p>
            <a:pPr indent="0" marL="0">
              <a:buNone/>
            </a:pPr>
            <a:r>
              <a:rPr lang="en-US" sz="1500" dirty="0">
                <a:solidFill>
                  <a:schemeClr val="tx1"/>
                </a:solidFill>
              </a:rPr>
              <a:t>112 and 194 in one tap</a:t>
            </a:r>
            <a:endParaRPr lang="en-US" sz="1500" dirty="0"/>
          </a:p>
        </p:txBody>
      </p:sp>
      <p:pic>
        <p:nvPicPr>
          <p:cNvPr id="11" name="Image 3" descr="preencoded.png">    </p:cNvPr>
          <p:cNvPicPr>
            <a:picLocks noChangeAspect="1"/>
          </p:cNvPicPr>
          <p:nvPr/>
        </p:nvPicPr>
        <p:blipFill>
          <a:blip r:embed="rId4"/>
          <a:stretch>
            <a:fillRect/>
          </a:stretch>
        </p:blipFill>
        <p:spPr>
          <a:xfrm>
            <a:off x="822960" y="5614416"/>
            <a:ext cx="274320" cy="274320"/>
          </a:xfrm>
          <a:prstGeom prst="rect">
            <a:avLst/>
          </a:prstGeom>
        </p:spPr>
      </p:pic>
      <p:sp>
        <p:nvSpPr>
          <p:cNvPr id="12" name="Text 6"/>
          <p:cNvSpPr txBox="1"/>
          <p:nvPr/>
        </p:nvSpPr>
        <p:spPr>
          <a:xfrm>
            <a:off x="1234440" y="5586984"/>
            <a:ext cx="4434840" cy="329184"/>
          </a:xfrm>
          <a:prstGeom prst="rect">
            <a:avLst/>
          </a:prstGeom>
          <a:noFill/>
          <a:ln/>
        </p:spPr>
        <p:txBody>
          <a:bodyPr wrap="square" lIns="0" tIns="0" rIns="0" bIns="0" rtlCol="0" anchor="ctr"/>
          <a:lstStyle/>
          <a:p>
            <a:pPr indent="0" marL="0">
              <a:buNone/>
            </a:pPr>
            <a:r>
              <a:rPr lang="en-US" sz="1500" dirty="0">
                <a:solidFill>
                  <a:schemeClr val="tx1"/>
                </a:solidFill>
              </a:rPr>
              <a:t>Insurance and costs explained</a:t>
            </a:r>
            <a:endParaRPr lang="en-US" sz="1500" dirty="0"/>
          </a:p>
        </p:txBody>
      </p:sp>
      <p:sp>
        <p:nvSpPr>
          <p:cNvPr id="13" name="Shape 7"/>
          <p:cNvSpPr/>
          <p:nvPr/>
        </p:nvSpPr>
        <p:spPr>
          <a:xfrm>
            <a:off x="6190488" y="1463040"/>
            <a:ext cx="5394960" cy="4709160"/>
          </a:xfrm>
          <a:prstGeom prst="roundRect">
            <a:avLst>
              <a:gd name="adj" fmla="val 2913"/>
            </a:avLst>
          </a:prstGeom>
          <a:solidFill>
            <a:schemeClr val="bg2"/>
          </a:solidFill>
          <a:ln/>
        </p:spPr>
      </p:sp>
      <p:pic>
        <p:nvPicPr>
          <p:cNvPr id="14" name="When the trip is for your health" descr="preencoded.png">    </p:cNvPr>
          <p:cNvPicPr>
            <a:picLocks noChangeAspect="1"/>
          </p:cNvPicPr>
          <p:nvPr/>
        </p:nvPicPr>
        <p:blipFill>
          <a:blip r:embed="rId5"/>
          <a:srcRect l="0" r="0" t="70169" b="6102"/>
          <a:stretch/>
        </p:blipFill>
        <p:spPr>
          <a:xfrm>
            <a:off x="6190488" y="1463040"/>
            <a:ext cx="5394960" cy="1920240"/>
          </a:xfrm>
          <a:prstGeom prst="rect">
            <a:avLst/>
          </a:prstGeom>
        </p:spPr>
      </p:pic>
      <p:sp>
        <p:nvSpPr>
          <p:cNvPr id="15" name="Text 8"/>
          <p:cNvSpPr txBox="1"/>
          <p:nvPr/>
        </p:nvSpPr>
        <p:spPr>
          <a:xfrm>
            <a:off x="6464808" y="3566160"/>
            <a:ext cx="4846320" cy="411480"/>
          </a:xfrm>
          <a:prstGeom prst="rect">
            <a:avLst/>
          </a:prstGeom>
          <a:noFill/>
          <a:ln/>
        </p:spPr>
        <p:txBody>
          <a:bodyPr wrap="square" lIns="0" tIns="0" rIns="0" bIns="0" rtlCol="0" anchor="ctr"/>
          <a:lstStyle/>
          <a:p>
            <a:pPr indent="0" marL="0">
              <a:buNone/>
            </a:pPr>
            <a:r>
              <a:rPr lang="en-US" sz="2000" b="1" dirty="0">
                <a:solidFill>
                  <a:schemeClr val="tx1"/>
                </a:solidFill>
              </a:rPr>
              <a:t>When the trip is for your health</a:t>
            </a:r>
            <a:endParaRPr lang="en-US" sz="2000" dirty="0"/>
          </a:p>
        </p:txBody>
      </p:sp>
      <p:sp>
        <p:nvSpPr>
          <p:cNvPr id="16" name="Text 9"/>
          <p:cNvSpPr txBox="1"/>
          <p:nvPr/>
        </p:nvSpPr>
        <p:spPr>
          <a:xfrm>
            <a:off x="6464808" y="4005072"/>
            <a:ext cx="4846320" cy="685800"/>
          </a:xfrm>
          <a:prstGeom prst="rect">
            <a:avLst/>
          </a:prstGeom>
          <a:noFill/>
          <a:ln/>
        </p:spPr>
        <p:txBody>
          <a:bodyPr wrap="square" lIns="0" tIns="0" rIns="0" bIns="0" rtlCol="0" anchor="t"/>
          <a:lstStyle/>
          <a:p>
            <a:pPr indent="0" marL="0">
              <a:buNone/>
            </a:pPr>
            <a:r>
              <a:rPr lang="en-US" sz="1500" dirty="0">
                <a:solidFill>
                  <a:schemeClr val="accent5"/>
                </a:solidFill>
              </a:rPr>
              <a:t>Dental work, orthopaedics, rehabilitation or a spa programme, planned with transport and a stay that fit.</a:t>
            </a:r>
            <a:endParaRPr lang="en-US" sz="1500" dirty="0"/>
          </a:p>
        </p:txBody>
      </p:sp>
      <p:pic>
        <p:nvPicPr>
          <p:cNvPr id="17" name="Image 5" descr="preencoded.png">    </p:cNvPr>
          <p:cNvPicPr>
            <a:picLocks noChangeAspect="1"/>
          </p:cNvPicPr>
          <p:nvPr/>
        </p:nvPicPr>
        <p:blipFill>
          <a:blip r:embed="rId6"/>
          <a:stretch>
            <a:fillRect/>
          </a:stretch>
        </p:blipFill>
        <p:spPr>
          <a:xfrm>
            <a:off x="6464808" y="4846320"/>
            <a:ext cx="274320" cy="274320"/>
          </a:xfrm>
          <a:prstGeom prst="rect">
            <a:avLst/>
          </a:prstGeom>
        </p:spPr>
      </p:pic>
      <p:sp>
        <p:nvSpPr>
          <p:cNvPr id="18" name="Text 10"/>
          <p:cNvSpPr txBox="1"/>
          <p:nvPr/>
        </p:nvSpPr>
        <p:spPr>
          <a:xfrm>
            <a:off x="6876288" y="4818888"/>
            <a:ext cx="4434840" cy="329184"/>
          </a:xfrm>
          <a:prstGeom prst="rect">
            <a:avLst/>
          </a:prstGeom>
          <a:noFill/>
          <a:ln/>
        </p:spPr>
        <p:txBody>
          <a:bodyPr wrap="square" lIns="0" tIns="0" rIns="0" bIns="0" rtlCol="0" anchor="ctr"/>
          <a:lstStyle/>
          <a:p>
            <a:pPr indent="0" marL="0">
              <a:buNone/>
            </a:pPr>
            <a:r>
              <a:rPr lang="en-US" sz="1500" dirty="0">
                <a:solidFill>
                  <a:schemeClr val="tx1"/>
                </a:solidFill>
              </a:rPr>
              <a:t>Clinic matched to your needs</a:t>
            </a:r>
            <a:endParaRPr lang="en-US" sz="1500" dirty="0"/>
          </a:p>
        </p:txBody>
      </p:sp>
      <p:pic>
        <p:nvPicPr>
          <p:cNvPr id="19" name="Image 6" descr="preencoded.png">    </p:cNvPr>
          <p:cNvPicPr>
            <a:picLocks noChangeAspect="1"/>
          </p:cNvPicPr>
          <p:nvPr/>
        </p:nvPicPr>
        <p:blipFill>
          <a:blip r:embed="rId7"/>
          <a:stretch>
            <a:fillRect/>
          </a:stretch>
        </p:blipFill>
        <p:spPr>
          <a:xfrm>
            <a:off x="6464808" y="5230368"/>
            <a:ext cx="274320" cy="274320"/>
          </a:xfrm>
          <a:prstGeom prst="rect">
            <a:avLst/>
          </a:prstGeom>
        </p:spPr>
      </p:pic>
      <p:sp>
        <p:nvSpPr>
          <p:cNvPr id="20" name="Text 11"/>
          <p:cNvSpPr txBox="1"/>
          <p:nvPr/>
        </p:nvSpPr>
        <p:spPr>
          <a:xfrm>
            <a:off x="6876288" y="5202936"/>
            <a:ext cx="4434840" cy="329184"/>
          </a:xfrm>
          <a:prstGeom prst="rect">
            <a:avLst/>
          </a:prstGeom>
          <a:noFill/>
          <a:ln/>
        </p:spPr>
        <p:txBody>
          <a:bodyPr wrap="square" lIns="0" tIns="0" rIns="0" bIns="0" rtlCol="0" anchor="ctr"/>
          <a:lstStyle/>
          <a:p>
            <a:pPr indent="0" marL="0">
              <a:buNone/>
            </a:pPr>
            <a:r>
              <a:rPr lang="en-US" sz="1500" dirty="0">
                <a:solidFill>
                  <a:schemeClr val="tx1"/>
                </a:solidFill>
              </a:rPr>
              <a:t>Step-free transport and rooms</a:t>
            </a:r>
            <a:endParaRPr lang="en-US" sz="1500" dirty="0"/>
          </a:p>
        </p:txBody>
      </p:sp>
      <p:pic>
        <p:nvPicPr>
          <p:cNvPr id="21" name="Image 7" descr="preencoded.png">    </p:cNvPr>
          <p:cNvPicPr>
            <a:picLocks noChangeAspect="1"/>
          </p:cNvPicPr>
          <p:nvPr/>
        </p:nvPicPr>
        <p:blipFill>
          <a:blip r:embed="rId8"/>
          <a:stretch>
            <a:fillRect/>
          </a:stretch>
        </p:blipFill>
        <p:spPr>
          <a:xfrm>
            <a:off x="6464808" y="5614416"/>
            <a:ext cx="274320" cy="274320"/>
          </a:xfrm>
          <a:prstGeom prst="rect">
            <a:avLst/>
          </a:prstGeom>
        </p:spPr>
      </p:pic>
      <p:sp>
        <p:nvSpPr>
          <p:cNvPr id="22" name="Text 12"/>
          <p:cNvSpPr txBox="1"/>
          <p:nvPr/>
        </p:nvSpPr>
        <p:spPr>
          <a:xfrm>
            <a:off x="6876288" y="5586984"/>
            <a:ext cx="4434840" cy="329184"/>
          </a:xfrm>
          <a:prstGeom prst="rect">
            <a:avLst/>
          </a:prstGeom>
          <a:noFill/>
          <a:ln/>
        </p:spPr>
        <p:txBody>
          <a:bodyPr wrap="square" lIns="0" tIns="0" rIns="0" bIns="0" rtlCol="0" anchor="ctr"/>
          <a:lstStyle/>
          <a:p>
            <a:pPr indent="0" marL="0">
              <a:buNone/>
            </a:pPr>
            <a:r>
              <a:rPr lang="en-US" sz="1500" dirty="0">
                <a:solidFill>
                  <a:schemeClr val="tx1"/>
                </a:solidFill>
              </a:rPr>
              <a:t>Recovery followed after you leave</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6746D"/>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One profile, six connected modules</a:t>
            </a:r>
            <a:endParaRPr lang="en-US" sz="3600" dirty="0"/>
          </a:p>
        </p:txBody>
      </p:sp>
      <p:sp>
        <p:nvSpPr>
          <p:cNvPr id="3" name="Shape 1"/>
          <p:cNvSpPr/>
          <p:nvPr/>
        </p:nvSpPr>
        <p:spPr>
          <a:xfrm>
            <a:off x="868680" y="1828800"/>
            <a:ext cx="3291840" cy="3291840"/>
          </a:xfrm>
          <a:prstGeom prst="ellipse">
            <a:avLst/>
          </a:prstGeom>
          <a:solidFill>
            <a:schemeClr val="tx2"/>
          </a:solidFill>
          <a:ln/>
        </p:spPr>
      </p:sp>
      <p:pic>
        <p:nvPicPr>
          <p:cNvPr id="4" name="Image 0" descr="preencoded.png">    </p:cNvPr>
          <p:cNvPicPr>
            <a:picLocks noChangeAspect="1"/>
          </p:cNvPicPr>
          <p:nvPr/>
        </p:nvPicPr>
        <p:blipFill>
          <a:blip r:embed="rId1"/>
          <a:stretch>
            <a:fillRect/>
          </a:stretch>
        </p:blipFill>
        <p:spPr>
          <a:xfrm>
            <a:off x="2057400" y="2240280"/>
            <a:ext cx="914400" cy="914400"/>
          </a:xfrm>
          <a:prstGeom prst="rect">
            <a:avLst/>
          </a:prstGeom>
        </p:spPr>
      </p:pic>
      <p:sp>
        <p:nvSpPr>
          <p:cNvPr id="5" name="Text 2"/>
          <p:cNvSpPr txBox="1"/>
          <p:nvPr/>
        </p:nvSpPr>
        <p:spPr>
          <a:xfrm>
            <a:off x="1051560" y="3200400"/>
            <a:ext cx="2926080" cy="457200"/>
          </a:xfrm>
          <a:prstGeom prst="rect">
            <a:avLst/>
          </a:prstGeom>
          <a:noFill/>
          <a:ln/>
        </p:spPr>
        <p:txBody>
          <a:bodyPr wrap="square" lIns="0" tIns="0" rIns="0" bIns="0" rtlCol="0" anchor="ctr"/>
          <a:lstStyle/>
          <a:p>
            <a:pPr algn="ctr" indent="0" marL="0">
              <a:buNone/>
            </a:pPr>
            <a:r>
              <a:rPr lang="en-US" sz="2400" b="1" dirty="0">
                <a:solidFill>
                  <a:srgbClr val="FFFFFF"/>
                </a:solidFill>
              </a:rPr>
              <a:t>One profile</a:t>
            </a:r>
            <a:endParaRPr lang="en-US" sz="2400" dirty="0"/>
          </a:p>
        </p:txBody>
      </p:sp>
      <p:sp>
        <p:nvSpPr>
          <p:cNvPr id="6" name="Text 3"/>
          <p:cNvSpPr txBox="1"/>
          <p:nvPr/>
        </p:nvSpPr>
        <p:spPr>
          <a:xfrm>
            <a:off x="1234440" y="3657600"/>
            <a:ext cx="2560320" cy="822960"/>
          </a:xfrm>
          <a:prstGeom prst="rect">
            <a:avLst/>
          </a:prstGeom>
          <a:noFill/>
          <a:ln/>
        </p:spPr>
        <p:txBody>
          <a:bodyPr wrap="square" lIns="0" tIns="0" rIns="0" bIns="0" rtlCol="0" anchor="t"/>
          <a:lstStyle/>
          <a:p>
            <a:pPr algn="ctr" indent="0" marL="0">
              <a:buNone/>
            </a:pPr>
            <a:r>
              <a:rPr lang="en-US" sz="1500" dirty="0">
                <a:solidFill>
                  <a:srgbClr val="E3EEE8"/>
                </a:solidFill>
              </a:rPr>
              <a:t>Told once in the chat: needs, mobility, health</a:t>
            </a:r>
            <a:endParaRPr lang="en-US" sz="1500" dirty="0"/>
          </a:p>
        </p:txBody>
      </p:sp>
      <p:sp>
        <p:nvSpPr>
          <p:cNvPr id="7" name="Shape 4"/>
          <p:cNvSpPr/>
          <p:nvPr/>
        </p:nvSpPr>
        <p:spPr>
          <a:xfrm>
            <a:off x="4709160" y="1600200"/>
            <a:ext cx="2167128" cy="2103120"/>
          </a:xfrm>
          <a:prstGeom prst="roundRect">
            <a:avLst>
              <a:gd name="adj" fmla="val 5217"/>
            </a:avLst>
          </a:prstGeom>
          <a:solidFill>
            <a:schemeClr val="bg2"/>
          </a:solidFill>
          <a:ln/>
        </p:spPr>
      </p:sp>
      <p:sp>
        <p:nvSpPr>
          <p:cNvPr id="8" name="Shape 5"/>
          <p:cNvSpPr/>
          <p:nvPr/>
        </p:nvSpPr>
        <p:spPr>
          <a:xfrm>
            <a:off x="4937760" y="1828800"/>
            <a:ext cx="594360" cy="594360"/>
          </a:xfrm>
          <a:prstGeom prst="ellipse">
            <a:avLst/>
          </a:prstGeom>
          <a:solidFill>
            <a:schemeClr val="accent6"/>
          </a:solidFill>
          <a:ln/>
        </p:spPr>
      </p:sp>
      <p:pic>
        <p:nvPicPr>
          <p:cNvPr id="9" name="Image 1" descr="preencoded.png">    </p:cNvPr>
          <p:cNvPicPr>
            <a:picLocks noChangeAspect="1"/>
          </p:cNvPicPr>
          <p:nvPr/>
        </p:nvPicPr>
        <p:blipFill>
          <a:blip r:embed="rId2"/>
          <a:stretch>
            <a:fillRect/>
          </a:stretch>
        </p:blipFill>
        <p:spPr>
          <a:xfrm>
            <a:off x="5056632" y="1947672"/>
            <a:ext cx="356616" cy="356616"/>
          </a:xfrm>
          <a:prstGeom prst="rect">
            <a:avLst/>
          </a:prstGeom>
        </p:spPr>
      </p:pic>
      <p:sp>
        <p:nvSpPr>
          <p:cNvPr id="10" name="Text 6"/>
          <p:cNvSpPr txBox="1"/>
          <p:nvPr/>
        </p:nvSpPr>
        <p:spPr>
          <a:xfrm>
            <a:off x="4937760" y="2514600"/>
            <a:ext cx="1783080" cy="411480"/>
          </a:xfrm>
          <a:prstGeom prst="rect">
            <a:avLst/>
          </a:prstGeom>
          <a:noFill/>
          <a:ln/>
        </p:spPr>
        <p:txBody>
          <a:bodyPr wrap="square" lIns="0" tIns="0" rIns="0" bIns="0" rtlCol="0" anchor="ctr"/>
          <a:lstStyle/>
          <a:p>
            <a:pPr indent="0" marL="0">
              <a:buNone/>
            </a:pPr>
            <a:r>
              <a:rPr lang="en-US" sz="1600" b="1" dirty="0">
                <a:solidFill>
                  <a:schemeClr val="tx1"/>
                </a:solidFill>
              </a:rPr>
              <a:t>Help on the road</a:t>
            </a:r>
            <a:endParaRPr lang="en-US" sz="1600" dirty="0"/>
          </a:p>
        </p:txBody>
      </p:sp>
      <p:sp>
        <p:nvSpPr>
          <p:cNvPr id="11" name="Text 7"/>
          <p:cNvSpPr txBox="1"/>
          <p:nvPr/>
        </p:nvSpPr>
        <p:spPr>
          <a:xfrm>
            <a:off x="4937760" y="2926080"/>
            <a:ext cx="1783080" cy="640080"/>
          </a:xfrm>
          <a:prstGeom prst="rect">
            <a:avLst/>
          </a:prstGeom>
          <a:noFill/>
          <a:ln/>
        </p:spPr>
        <p:txBody>
          <a:bodyPr wrap="square" lIns="0" tIns="0" rIns="0" bIns="0" rtlCol="0" anchor="t"/>
          <a:lstStyle/>
          <a:p>
            <a:pPr indent="0" marL="0">
              <a:buNone/>
            </a:pPr>
            <a:r>
              <a:rPr lang="en-US" sz="1400" dirty="0">
                <a:solidFill>
                  <a:schemeClr val="accent5"/>
                </a:solidFill>
              </a:rPr>
              <a:t>Nearest care, 112, health passport</a:t>
            </a:r>
            <a:endParaRPr lang="en-US" sz="1400" dirty="0"/>
          </a:p>
        </p:txBody>
      </p:sp>
      <p:sp>
        <p:nvSpPr>
          <p:cNvPr id="12" name="Shape 8"/>
          <p:cNvSpPr/>
          <p:nvPr/>
        </p:nvSpPr>
        <p:spPr>
          <a:xfrm>
            <a:off x="7059168" y="1600200"/>
            <a:ext cx="2167128" cy="2103120"/>
          </a:xfrm>
          <a:prstGeom prst="roundRect">
            <a:avLst>
              <a:gd name="adj" fmla="val 5217"/>
            </a:avLst>
          </a:prstGeom>
          <a:solidFill>
            <a:schemeClr val="bg2"/>
          </a:solidFill>
          <a:ln/>
        </p:spPr>
      </p:sp>
      <p:sp>
        <p:nvSpPr>
          <p:cNvPr id="13" name="Shape 9"/>
          <p:cNvSpPr/>
          <p:nvPr/>
        </p:nvSpPr>
        <p:spPr>
          <a:xfrm>
            <a:off x="7287768" y="1828800"/>
            <a:ext cx="594360" cy="594360"/>
          </a:xfrm>
          <a:prstGeom prst="ellipse">
            <a:avLst/>
          </a:prstGeom>
          <a:solidFill>
            <a:schemeClr val="accent6"/>
          </a:solidFill>
          <a:ln/>
        </p:spPr>
      </p:sp>
      <p:pic>
        <p:nvPicPr>
          <p:cNvPr id="14" name="Image 2" descr="preencoded.png">    </p:cNvPr>
          <p:cNvPicPr>
            <a:picLocks noChangeAspect="1"/>
          </p:cNvPicPr>
          <p:nvPr/>
        </p:nvPicPr>
        <p:blipFill>
          <a:blip r:embed="rId3"/>
          <a:stretch>
            <a:fillRect/>
          </a:stretch>
        </p:blipFill>
        <p:spPr>
          <a:xfrm>
            <a:off x="7406640" y="1947672"/>
            <a:ext cx="356616" cy="356616"/>
          </a:xfrm>
          <a:prstGeom prst="rect">
            <a:avLst/>
          </a:prstGeom>
        </p:spPr>
      </p:pic>
      <p:sp>
        <p:nvSpPr>
          <p:cNvPr id="15" name="Text 10"/>
          <p:cNvSpPr txBox="1"/>
          <p:nvPr/>
        </p:nvSpPr>
        <p:spPr>
          <a:xfrm>
            <a:off x="7287768" y="2514600"/>
            <a:ext cx="1783080" cy="411480"/>
          </a:xfrm>
          <a:prstGeom prst="rect">
            <a:avLst/>
          </a:prstGeom>
          <a:noFill/>
          <a:ln/>
        </p:spPr>
        <p:txBody>
          <a:bodyPr wrap="square" lIns="0" tIns="0" rIns="0" bIns="0" rtlCol="0" anchor="ctr"/>
          <a:lstStyle/>
          <a:p>
            <a:pPr indent="0" marL="0">
              <a:buNone/>
            </a:pPr>
            <a:r>
              <a:rPr lang="en-US" sz="1600" b="1" dirty="0">
                <a:solidFill>
                  <a:schemeClr val="tx1"/>
                </a:solidFill>
              </a:rPr>
              <a:t>Clinic and stay</a:t>
            </a:r>
            <a:endParaRPr lang="en-US" sz="1600" dirty="0"/>
          </a:p>
        </p:txBody>
      </p:sp>
      <p:sp>
        <p:nvSpPr>
          <p:cNvPr id="16" name="Text 11"/>
          <p:cNvSpPr txBox="1"/>
          <p:nvPr/>
        </p:nvSpPr>
        <p:spPr>
          <a:xfrm>
            <a:off x="7287768" y="2926080"/>
            <a:ext cx="1783080" cy="640080"/>
          </a:xfrm>
          <a:prstGeom prst="rect">
            <a:avLst/>
          </a:prstGeom>
          <a:noFill/>
          <a:ln/>
        </p:spPr>
        <p:txBody>
          <a:bodyPr wrap="square" lIns="0" tIns="0" rIns="0" bIns="0" rtlCol="0" anchor="t"/>
          <a:lstStyle/>
          <a:p>
            <a:pPr indent="0" marL="0">
              <a:buNone/>
            </a:pPr>
            <a:r>
              <a:rPr lang="en-US" sz="1400" dirty="0">
                <a:solidFill>
                  <a:schemeClr val="accent5"/>
                </a:solidFill>
              </a:rPr>
              <a:t>Right hospital, step-free room</a:t>
            </a:r>
            <a:endParaRPr lang="en-US" sz="1400" dirty="0"/>
          </a:p>
        </p:txBody>
      </p:sp>
      <p:sp>
        <p:nvSpPr>
          <p:cNvPr id="17" name="Shape 12"/>
          <p:cNvSpPr/>
          <p:nvPr/>
        </p:nvSpPr>
        <p:spPr>
          <a:xfrm>
            <a:off x="9409176" y="1600200"/>
            <a:ext cx="2167128" cy="2103120"/>
          </a:xfrm>
          <a:prstGeom prst="roundRect">
            <a:avLst>
              <a:gd name="adj" fmla="val 5217"/>
            </a:avLst>
          </a:prstGeom>
          <a:solidFill>
            <a:schemeClr val="bg2"/>
          </a:solidFill>
          <a:ln/>
        </p:spPr>
      </p:sp>
      <p:sp>
        <p:nvSpPr>
          <p:cNvPr id="18" name="Shape 13"/>
          <p:cNvSpPr/>
          <p:nvPr/>
        </p:nvSpPr>
        <p:spPr>
          <a:xfrm>
            <a:off x="9637776" y="1828800"/>
            <a:ext cx="594360" cy="594360"/>
          </a:xfrm>
          <a:prstGeom prst="ellipse">
            <a:avLst/>
          </a:prstGeom>
          <a:solidFill>
            <a:schemeClr val="accent6"/>
          </a:solidFill>
          <a:ln/>
        </p:spPr>
      </p:sp>
      <p:pic>
        <p:nvPicPr>
          <p:cNvPr id="19" name="Image 3" descr="preencoded.png">    </p:cNvPr>
          <p:cNvPicPr>
            <a:picLocks noChangeAspect="1"/>
          </p:cNvPicPr>
          <p:nvPr/>
        </p:nvPicPr>
        <p:blipFill>
          <a:blip r:embed="rId4"/>
          <a:stretch>
            <a:fillRect/>
          </a:stretch>
        </p:blipFill>
        <p:spPr>
          <a:xfrm>
            <a:off x="9756648" y="1947672"/>
            <a:ext cx="356616" cy="356616"/>
          </a:xfrm>
          <a:prstGeom prst="rect">
            <a:avLst/>
          </a:prstGeom>
        </p:spPr>
      </p:pic>
      <p:sp>
        <p:nvSpPr>
          <p:cNvPr id="20" name="Text 14"/>
          <p:cNvSpPr txBox="1"/>
          <p:nvPr/>
        </p:nvSpPr>
        <p:spPr>
          <a:xfrm>
            <a:off x="9637776" y="2514600"/>
            <a:ext cx="1783080" cy="411480"/>
          </a:xfrm>
          <a:prstGeom prst="rect">
            <a:avLst/>
          </a:prstGeom>
          <a:noFill/>
          <a:ln/>
        </p:spPr>
        <p:txBody>
          <a:bodyPr wrap="square" lIns="0" tIns="0" rIns="0" bIns="0" rtlCol="0" anchor="ctr"/>
          <a:lstStyle/>
          <a:p>
            <a:pPr indent="0" marL="0">
              <a:buNone/>
            </a:pPr>
            <a:r>
              <a:rPr lang="en-US" sz="1600" b="1" dirty="0">
                <a:solidFill>
                  <a:schemeClr val="tx1"/>
                </a:solidFill>
              </a:rPr>
              <a:t>Accessible transport</a:t>
            </a:r>
            <a:endParaRPr lang="en-US" sz="1600" dirty="0"/>
          </a:p>
        </p:txBody>
      </p:sp>
      <p:sp>
        <p:nvSpPr>
          <p:cNvPr id="21" name="Text 15"/>
          <p:cNvSpPr txBox="1"/>
          <p:nvPr/>
        </p:nvSpPr>
        <p:spPr>
          <a:xfrm>
            <a:off x="9637776" y="2926080"/>
            <a:ext cx="1783080" cy="640080"/>
          </a:xfrm>
          <a:prstGeom prst="rect">
            <a:avLst/>
          </a:prstGeom>
          <a:noFill/>
          <a:ln/>
        </p:spPr>
        <p:txBody>
          <a:bodyPr wrap="square" lIns="0" tIns="0" rIns="0" bIns="0" rtlCol="0" anchor="t"/>
          <a:lstStyle/>
          <a:p>
            <a:pPr indent="0" marL="0">
              <a:buNone/>
            </a:pPr>
            <a:r>
              <a:rPr lang="en-US" sz="1400" dirty="0">
                <a:solidFill>
                  <a:schemeClr val="accent5"/>
                </a:solidFill>
              </a:rPr>
              <a:t>Every transfer checked for steps</a:t>
            </a:r>
            <a:endParaRPr lang="en-US" sz="1400" dirty="0"/>
          </a:p>
        </p:txBody>
      </p:sp>
      <p:sp>
        <p:nvSpPr>
          <p:cNvPr id="22" name="Shape 16"/>
          <p:cNvSpPr/>
          <p:nvPr/>
        </p:nvSpPr>
        <p:spPr>
          <a:xfrm>
            <a:off x="4709160" y="3886200"/>
            <a:ext cx="2167128" cy="2103120"/>
          </a:xfrm>
          <a:prstGeom prst="roundRect">
            <a:avLst>
              <a:gd name="adj" fmla="val 5217"/>
            </a:avLst>
          </a:prstGeom>
          <a:solidFill>
            <a:schemeClr val="bg2"/>
          </a:solidFill>
          <a:ln/>
        </p:spPr>
      </p:sp>
      <p:sp>
        <p:nvSpPr>
          <p:cNvPr id="23" name="Shape 17"/>
          <p:cNvSpPr/>
          <p:nvPr/>
        </p:nvSpPr>
        <p:spPr>
          <a:xfrm>
            <a:off x="4937760" y="4114800"/>
            <a:ext cx="594360" cy="594360"/>
          </a:xfrm>
          <a:prstGeom prst="ellipse">
            <a:avLst/>
          </a:prstGeom>
          <a:solidFill>
            <a:schemeClr val="accent6"/>
          </a:solidFill>
          <a:ln/>
        </p:spPr>
      </p:sp>
      <p:pic>
        <p:nvPicPr>
          <p:cNvPr id="24" name="Image 4" descr="preencoded.png">    </p:cNvPr>
          <p:cNvPicPr>
            <a:picLocks noChangeAspect="1"/>
          </p:cNvPicPr>
          <p:nvPr/>
        </p:nvPicPr>
        <p:blipFill>
          <a:blip r:embed="rId5"/>
          <a:stretch>
            <a:fillRect/>
          </a:stretch>
        </p:blipFill>
        <p:spPr>
          <a:xfrm>
            <a:off x="5056632" y="4233672"/>
            <a:ext cx="356616" cy="356616"/>
          </a:xfrm>
          <a:prstGeom prst="rect">
            <a:avLst/>
          </a:prstGeom>
        </p:spPr>
      </p:pic>
      <p:sp>
        <p:nvSpPr>
          <p:cNvPr id="25" name="Text 18"/>
          <p:cNvSpPr txBox="1"/>
          <p:nvPr/>
        </p:nvSpPr>
        <p:spPr>
          <a:xfrm>
            <a:off x="4937760" y="4800600"/>
            <a:ext cx="1783080" cy="411480"/>
          </a:xfrm>
          <a:prstGeom prst="rect">
            <a:avLst/>
          </a:prstGeom>
          <a:noFill/>
          <a:ln/>
        </p:spPr>
        <p:txBody>
          <a:bodyPr wrap="square" lIns="0" tIns="0" rIns="0" bIns="0" rtlCol="0" anchor="ctr"/>
          <a:lstStyle/>
          <a:p>
            <a:pPr indent="0" marL="0">
              <a:buNone/>
            </a:pPr>
            <a:r>
              <a:rPr lang="en-US" sz="1600" b="1" dirty="0">
                <a:solidFill>
                  <a:schemeClr val="tx1"/>
                </a:solidFill>
              </a:rPr>
              <a:t>Recovery</a:t>
            </a:r>
            <a:endParaRPr lang="en-US" sz="1600" dirty="0"/>
          </a:p>
        </p:txBody>
      </p:sp>
      <p:sp>
        <p:nvSpPr>
          <p:cNvPr id="26" name="Text 19"/>
          <p:cNvSpPr txBox="1"/>
          <p:nvPr/>
        </p:nvSpPr>
        <p:spPr>
          <a:xfrm>
            <a:off x="4937760" y="5212080"/>
            <a:ext cx="1783080" cy="640080"/>
          </a:xfrm>
          <a:prstGeom prst="rect">
            <a:avLst/>
          </a:prstGeom>
          <a:noFill/>
          <a:ln/>
        </p:spPr>
        <p:txBody>
          <a:bodyPr wrap="square" lIns="0" tIns="0" rIns="0" bIns="0" rtlCol="0" anchor="t"/>
          <a:lstStyle/>
          <a:p>
            <a:pPr indent="0" marL="0">
              <a:buNone/>
            </a:pPr>
            <a:r>
              <a:rPr lang="en-US" sz="1400" dirty="0">
                <a:solidFill>
                  <a:schemeClr val="accent5"/>
                </a:solidFill>
              </a:rPr>
              <a:t>One daily summary for the doctor</a:t>
            </a:r>
            <a:endParaRPr lang="en-US" sz="1400" dirty="0"/>
          </a:p>
        </p:txBody>
      </p:sp>
      <p:sp>
        <p:nvSpPr>
          <p:cNvPr id="27" name="Shape 20"/>
          <p:cNvSpPr/>
          <p:nvPr/>
        </p:nvSpPr>
        <p:spPr>
          <a:xfrm>
            <a:off x="7059168" y="3886200"/>
            <a:ext cx="2167128" cy="2103120"/>
          </a:xfrm>
          <a:prstGeom prst="roundRect">
            <a:avLst>
              <a:gd name="adj" fmla="val 5217"/>
            </a:avLst>
          </a:prstGeom>
          <a:solidFill>
            <a:schemeClr val="bg2"/>
          </a:solidFill>
          <a:ln/>
        </p:spPr>
      </p:sp>
      <p:sp>
        <p:nvSpPr>
          <p:cNvPr id="28" name="Shape 21"/>
          <p:cNvSpPr/>
          <p:nvPr/>
        </p:nvSpPr>
        <p:spPr>
          <a:xfrm>
            <a:off x="7287768" y="4114800"/>
            <a:ext cx="594360" cy="594360"/>
          </a:xfrm>
          <a:prstGeom prst="ellipse">
            <a:avLst/>
          </a:prstGeom>
          <a:solidFill>
            <a:schemeClr val="accent6"/>
          </a:solidFill>
          <a:ln/>
        </p:spPr>
      </p:sp>
      <p:pic>
        <p:nvPicPr>
          <p:cNvPr id="29" name="Image 5" descr="preencoded.png">    </p:cNvPr>
          <p:cNvPicPr>
            <a:picLocks noChangeAspect="1"/>
          </p:cNvPicPr>
          <p:nvPr/>
        </p:nvPicPr>
        <p:blipFill>
          <a:blip r:embed="rId6"/>
          <a:stretch>
            <a:fillRect/>
          </a:stretch>
        </p:blipFill>
        <p:spPr>
          <a:xfrm>
            <a:off x="7406640" y="4233672"/>
            <a:ext cx="356616" cy="356616"/>
          </a:xfrm>
          <a:prstGeom prst="rect">
            <a:avLst/>
          </a:prstGeom>
        </p:spPr>
      </p:pic>
      <p:sp>
        <p:nvSpPr>
          <p:cNvPr id="30" name="Text 22"/>
          <p:cNvSpPr txBox="1"/>
          <p:nvPr/>
        </p:nvSpPr>
        <p:spPr>
          <a:xfrm>
            <a:off x="7287768" y="4800600"/>
            <a:ext cx="1783080" cy="411480"/>
          </a:xfrm>
          <a:prstGeom prst="rect">
            <a:avLst/>
          </a:prstGeom>
          <a:noFill/>
          <a:ln/>
        </p:spPr>
        <p:txBody>
          <a:bodyPr wrap="square" lIns="0" tIns="0" rIns="0" bIns="0" rtlCol="0" anchor="ctr"/>
          <a:lstStyle/>
          <a:p>
            <a:pPr indent="0" marL="0">
              <a:buNone/>
            </a:pPr>
            <a:r>
              <a:rPr lang="en-US" sz="1600" b="1" dirty="0">
                <a:solidFill>
                  <a:schemeClr val="tx1"/>
                </a:solidFill>
              </a:rPr>
              <a:t>Rehab and nature</a:t>
            </a:r>
            <a:endParaRPr lang="en-US" sz="1600" dirty="0"/>
          </a:p>
        </p:txBody>
      </p:sp>
      <p:sp>
        <p:nvSpPr>
          <p:cNvPr id="31" name="Text 23"/>
          <p:cNvSpPr txBox="1"/>
          <p:nvPr/>
        </p:nvSpPr>
        <p:spPr>
          <a:xfrm>
            <a:off x="7287768" y="5212080"/>
            <a:ext cx="1783080" cy="640080"/>
          </a:xfrm>
          <a:prstGeom prst="rect">
            <a:avLst/>
          </a:prstGeom>
          <a:noFill/>
          <a:ln/>
        </p:spPr>
        <p:txBody>
          <a:bodyPr wrap="square" lIns="0" tIns="0" rIns="0" bIns="0" rtlCol="0" anchor="t"/>
          <a:lstStyle/>
          <a:p>
            <a:pPr indent="0" marL="0">
              <a:buNone/>
            </a:pPr>
            <a:r>
              <a:rPr lang="en-US" sz="1400" dirty="0">
                <a:solidFill>
                  <a:schemeClr val="accent5"/>
                </a:solidFill>
              </a:rPr>
              <a:t>Spas and quiet islands, off-season</a:t>
            </a:r>
            <a:endParaRPr lang="en-US" sz="1400" dirty="0"/>
          </a:p>
        </p:txBody>
      </p:sp>
      <p:sp>
        <p:nvSpPr>
          <p:cNvPr id="32" name="Shape 24"/>
          <p:cNvSpPr/>
          <p:nvPr/>
        </p:nvSpPr>
        <p:spPr>
          <a:xfrm>
            <a:off x="9409176" y="3886200"/>
            <a:ext cx="2167128" cy="2103120"/>
          </a:xfrm>
          <a:prstGeom prst="roundRect">
            <a:avLst>
              <a:gd name="adj" fmla="val 5217"/>
            </a:avLst>
          </a:prstGeom>
          <a:solidFill>
            <a:schemeClr val="bg2"/>
          </a:solidFill>
          <a:ln/>
        </p:spPr>
      </p:sp>
      <p:sp>
        <p:nvSpPr>
          <p:cNvPr id="33" name="Shape 25"/>
          <p:cNvSpPr/>
          <p:nvPr/>
        </p:nvSpPr>
        <p:spPr>
          <a:xfrm>
            <a:off x="9637776" y="4114800"/>
            <a:ext cx="594360" cy="594360"/>
          </a:xfrm>
          <a:prstGeom prst="ellipse">
            <a:avLst/>
          </a:prstGeom>
          <a:solidFill>
            <a:schemeClr val="accent6"/>
          </a:solidFill>
          <a:ln/>
        </p:spPr>
      </p:sp>
      <p:pic>
        <p:nvPicPr>
          <p:cNvPr id="34" name="Image 6" descr="preencoded.png">    </p:cNvPr>
          <p:cNvPicPr>
            <a:picLocks noChangeAspect="1"/>
          </p:cNvPicPr>
          <p:nvPr/>
        </p:nvPicPr>
        <p:blipFill>
          <a:blip r:embed="rId7"/>
          <a:stretch>
            <a:fillRect/>
          </a:stretch>
        </p:blipFill>
        <p:spPr>
          <a:xfrm>
            <a:off x="9756648" y="4233672"/>
            <a:ext cx="356616" cy="356616"/>
          </a:xfrm>
          <a:prstGeom prst="rect">
            <a:avLst/>
          </a:prstGeom>
        </p:spPr>
      </p:pic>
      <p:sp>
        <p:nvSpPr>
          <p:cNvPr id="35" name="Text 26"/>
          <p:cNvSpPr txBox="1"/>
          <p:nvPr/>
        </p:nvSpPr>
        <p:spPr>
          <a:xfrm>
            <a:off x="9637776" y="4800600"/>
            <a:ext cx="1783080" cy="411480"/>
          </a:xfrm>
          <a:prstGeom prst="rect">
            <a:avLst/>
          </a:prstGeom>
          <a:noFill/>
          <a:ln/>
        </p:spPr>
        <p:txBody>
          <a:bodyPr wrap="square" lIns="0" tIns="0" rIns="0" bIns="0" rtlCol="0" anchor="ctr"/>
          <a:lstStyle/>
          <a:p>
            <a:pPr indent="0" marL="0">
              <a:buNone/>
            </a:pPr>
            <a:r>
              <a:rPr lang="en-US" sz="1600" b="1" dirty="0">
                <a:solidFill>
                  <a:schemeClr val="tx1"/>
                </a:solidFill>
              </a:rPr>
              <a:t>Crowd-free trips</a:t>
            </a:r>
            <a:endParaRPr lang="en-US" sz="1600" dirty="0"/>
          </a:p>
        </p:txBody>
      </p:sp>
      <p:sp>
        <p:nvSpPr>
          <p:cNvPr id="36" name="Text 27"/>
          <p:cNvSpPr txBox="1"/>
          <p:nvPr/>
        </p:nvSpPr>
        <p:spPr>
          <a:xfrm>
            <a:off x="9637776" y="5212080"/>
            <a:ext cx="1783080" cy="640080"/>
          </a:xfrm>
          <a:prstGeom prst="rect">
            <a:avLst/>
          </a:prstGeom>
          <a:noFill/>
          <a:ln/>
        </p:spPr>
        <p:txBody>
          <a:bodyPr wrap="square" lIns="0" tIns="0" rIns="0" bIns="0" rtlCol="0" anchor="t"/>
          <a:lstStyle/>
          <a:p>
            <a:pPr indent="0" marL="0">
              <a:buNone/>
            </a:pPr>
            <a:r>
              <a:rPr lang="en-US" sz="1400" dirty="0">
                <a:solidFill>
                  <a:schemeClr val="accent5"/>
                </a:solidFill>
              </a:rPr>
              <a:t>Harvests, farms, sea clean-ups</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6746D"/>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Meet Marta: one fall, one connected plan</a:t>
            </a:r>
            <a:endParaRPr lang="en-US" sz="3600" dirty="0"/>
          </a:p>
        </p:txBody>
      </p:sp>
      <p:sp>
        <p:nvSpPr>
          <p:cNvPr id="3" name="Text 1"/>
          <p:cNvSpPr txBox="1"/>
          <p:nvPr/>
        </p:nvSpPr>
        <p:spPr>
          <a:xfrm>
            <a:off x="548640" y="1325880"/>
            <a:ext cx="10058400" cy="457200"/>
          </a:xfrm>
          <a:prstGeom prst="rect">
            <a:avLst/>
          </a:prstGeom>
          <a:noFill/>
          <a:ln/>
        </p:spPr>
        <p:txBody>
          <a:bodyPr wrap="square" lIns="0" tIns="0" rIns="0" bIns="0" rtlCol="0" anchor="ctr"/>
          <a:lstStyle/>
          <a:p>
            <a:pPr indent="0" marL="0">
              <a:buNone/>
            </a:pPr>
            <a:r>
              <a:rPr lang="en-US" sz="1800" dirty="0">
                <a:solidFill>
                  <a:schemeClr val="accent5"/>
                </a:solidFill>
              </a:rPr>
              <a:t>Marta, 54, a teacher from Vienna, slips on the Dubrovnik city walls in October.</a:t>
            </a:r>
            <a:endParaRPr lang="en-US" sz="1800" dirty="0"/>
          </a:p>
        </p:txBody>
      </p:sp>
      <p:sp>
        <p:nvSpPr>
          <p:cNvPr id="4" name="Shape 2"/>
          <p:cNvSpPr/>
          <p:nvPr/>
        </p:nvSpPr>
        <p:spPr>
          <a:xfrm>
            <a:off x="822960" y="2788920"/>
            <a:ext cx="10545775" cy="0"/>
          </a:xfrm>
          <a:prstGeom prst="line">
            <a:avLst/>
          </a:prstGeom>
          <a:noFill/>
          <a:ln w="25400">
            <a:solidFill>
              <a:srgbClr val="5CC49A"/>
            </a:solidFill>
            <a:prstDash val="solid"/>
          </a:ln>
        </p:spPr>
      </p:sp>
      <p:sp>
        <p:nvSpPr>
          <p:cNvPr id="5" name="Shape 3"/>
          <p:cNvSpPr/>
          <p:nvPr/>
        </p:nvSpPr>
        <p:spPr>
          <a:xfrm>
            <a:off x="685800" y="2633472"/>
            <a:ext cx="310896" cy="310896"/>
          </a:xfrm>
          <a:prstGeom prst="ellipse">
            <a:avLst/>
          </a:prstGeom>
          <a:solidFill>
            <a:schemeClr val="tx2"/>
          </a:solidFill>
          <a:ln w="25400">
            <a:solidFill>
              <a:srgbClr val="1D6B4F"/>
            </a:solidFill>
            <a:prstDash val="solid"/>
          </a:ln>
        </p:spPr>
      </p:sp>
      <p:sp>
        <p:nvSpPr>
          <p:cNvPr id="6" name="Text 4"/>
          <p:cNvSpPr txBox="1"/>
          <p:nvPr/>
        </p:nvSpPr>
        <p:spPr>
          <a:xfrm>
            <a:off x="548640" y="2011680"/>
            <a:ext cx="1737360" cy="365760"/>
          </a:xfrm>
          <a:prstGeom prst="rect">
            <a:avLst/>
          </a:prstGeom>
          <a:noFill/>
          <a:ln/>
        </p:spPr>
        <p:txBody>
          <a:bodyPr wrap="square" lIns="0" tIns="0" rIns="0" bIns="0" rtlCol="0" anchor="ctr"/>
          <a:lstStyle/>
          <a:p>
            <a:pPr indent="0" marL="0">
              <a:buNone/>
            </a:pPr>
            <a:r>
              <a:rPr lang="en-US" sz="1600" b="1" dirty="0">
                <a:solidFill>
                  <a:schemeClr val="tx2"/>
                </a:solidFill>
              </a:rPr>
              <a:t>4 Oct</a:t>
            </a:r>
            <a:endParaRPr lang="en-US" sz="1600" dirty="0"/>
          </a:p>
        </p:txBody>
      </p:sp>
      <p:sp>
        <p:nvSpPr>
          <p:cNvPr id="7" name="Text 5"/>
          <p:cNvSpPr txBox="1"/>
          <p:nvPr/>
        </p:nvSpPr>
        <p:spPr>
          <a:xfrm>
            <a:off x="548640" y="3154680"/>
            <a:ext cx="1737360" cy="685800"/>
          </a:xfrm>
          <a:prstGeom prst="rect">
            <a:avLst/>
          </a:prstGeom>
          <a:noFill/>
          <a:ln/>
        </p:spPr>
        <p:txBody>
          <a:bodyPr wrap="square" lIns="0" tIns="0" rIns="0" bIns="0" rtlCol="0" anchor="t"/>
          <a:lstStyle/>
          <a:p>
            <a:pPr indent="0" marL="0">
              <a:buNone/>
            </a:pPr>
            <a:r>
              <a:rPr lang="en-US" sz="1600" b="1" dirty="0">
                <a:solidFill>
                  <a:schemeClr val="tx1"/>
                </a:solidFill>
              </a:rPr>
              <a:t>Fall on the city walls</a:t>
            </a:r>
            <a:endParaRPr lang="en-US" sz="1600" dirty="0"/>
          </a:p>
        </p:txBody>
      </p:sp>
      <p:sp>
        <p:nvSpPr>
          <p:cNvPr id="8" name="Text 6"/>
          <p:cNvSpPr txBox="1"/>
          <p:nvPr/>
        </p:nvSpPr>
        <p:spPr>
          <a:xfrm>
            <a:off x="548640" y="3840480"/>
            <a:ext cx="1737360" cy="685800"/>
          </a:xfrm>
          <a:prstGeom prst="rect">
            <a:avLst/>
          </a:prstGeom>
          <a:noFill/>
          <a:ln/>
        </p:spPr>
        <p:txBody>
          <a:bodyPr wrap="square" lIns="0" tIns="0" rIns="0" bIns="0" rtlCol="0" anchor="t"/>
          <a:lstStyle/>
          <a:p>
            <a:pPr indent="0" marL="0">
              <a:buNone/>
            </a:pPr>
            <a:r>
              <a:rPr lang="en-US" sz="1400" dirty="0">
                <a:solidFill>
                  <a:schemeClr val="accent5"/>
                </a:solidFill>
              </a:rPr>
              <a:t>Carry chair to Pile Gate, ER in 6 min</a:t>
            </a:r>
            <a:endParaRPr lang="en-US" sz="1400" dirty="0"/>
          </a:p>
        </p:txBody>
      </p:sp>
      <p:sp>
        <p:nvSpPr>
          <p:cNvPr id="9" name="Shape 7"/>
          <p:cNvSpPr/>
          <p:nvPr/>
        </p:nvSpPr>
        <p:spPr>
          <a:xfrm>
            <a:off x="2532888" y="2633472"/>
            <a:ext cx="310896" cy="310896"/>
          </a:xfrm>
          <a:prstGeom prst="ellipse">
            <a:avLst/>
          </a:prstGeom>
          <a:solidFill>
            <a:srgbClr val="FFFFFF"/>
          </a:solidFill>
          <a:ln w="25400">
            <a:solidFill>
              <a:srgbClr val="1D6B4F"/>
            </a:solidFill>
            <a:prstDash val="solid"/>
          </a:ln>
        </p:spPr>
      </p:sp>
      <p:sp>
        <p:nvSpPr>
          <p:cNvPr id="10" name="Text 8"/>
          <p:cNvSpPr txBox="1"/>
          <p:nvPr/>
        </p:nvSpPr>
        <p:spPr>
          <a:xfrm>
            <a:off x="2395728" y="2011680"/>
            <a:ext cx="1737360" cy="365760"/>
          </a:xfrm>
          <a:prstGeom prst="rect">
            <a:avLst/>
          </a:prstGeom>
          <a:noFill/>
          <a:ln/>
        </p:spPr>
        <p:txBody>
          <a:bodyPr wrap="square" lIns="0" tIns="0" rIns="0" bIns="0" rtlCol="0" anchor="ctr"/>
          <a:lstStyle/>
          <a:p>
            <a:pPr indent="0" marL="0">
              <a:buNone/>
            </a:pPr>
            <a:r>
              <a:rPr lang="en-US" sz="1600" b="1" dirty="0">
                <a:solidFill>
                  <a:schemeClr val="tx2"/>
                </a:solidFill>
              </a:rPr>
              <a:t>6 Oct</a:t>
            </a:r>
            <a:endParaRPr lang="en-US" sz="1600" dirty="0"/>
          </a:p>
        </p:txBody>
      </p:sp>
      <p:sp>
        <p:nvSpPr>
          <p:cNvPr id="11" name="Text 9"/>
          <p:cNvSpPr txBox="1"/>
          <p:nvPr/>
        </p:nvSpPr>
        <p:spPr>
          <a:xfrm>
            <a:off x="2395728" y="3154680"/>
            <a:ext cx="1737360" cy="685800"/>
          </a:xfrm>
          <a:prstGeom prst="rect">
            <a:avLst/>
          </a:prstGeom>
          <a:noFill/>
          <a:ln/>
        </p:spPr>
        <p:txBody>
          <a:bodyPr wrap="square" lIns="0" tIns="0" rIns="0" bIns="0" rtlCol="0" anchor="t"/>
          <a:lstStyle/>
          <a:p>
            <a:pPr indent="0" marL="0">
              <a:buNone/>
            </a:pPr>
            <a:r>
              <a:rPr lang="en-US" sz="1600" b="1" dirty="0">
                <a:solidFill>
                  <a:schemeClr val="tx1"/>
                </a:solidFill>
              </a:rPr>
              <a:t>Surgery in Dubrovnik</a:t>
            </a:r>
            <a:endParaRPr lang="en-US" sz="1600" dirty="0"/>
          </a:p>
        </p:txBody>
      </p:sp>
      <p:sp>
        <p:nvSpPr>
          <p:cNvPr id="12" name="Text 10"/>
          <p:cNvSpPr txBox="1"/>
          <p:nvPr/>
        </p:nvSpPr>
        <p:spPr>
          <a:xfrm>
            <a:off x="2395728" y="3840480"/>
            <a:ext cx="1737360" cy="685800"/>
          </a:xfrm>
          <a:prstGeom prst="rect">
            <a:avLst/>
          </a:prstGeom>
          <a:noFill/>
          <a:ln/>
        </p:spPr>
        <p:txBody>
          <a:bodyPr wrap="square" lIns="0" tIns="0" rIns="0" bIns="0" rtlCol="0" anchor="t"/>
          <a:lstStyle/>
          <a:p>
            <a:pPr indent="0" marL="0">
              <a:buNone/>
            </a:pPr>
            <a:r>
              <a:rPr lang="en-US" sz="1400" dirty="0">
                <a:solidFill>
                  <a:schemeClr val="accent5"/>
                </a:solidFill>
              </a:rPr>
              <a:t>Covered by her EHIC card</a:t>
            </a:r>
            <a:endParaRPr lang="en-US" sz="1400" dirty="0"/>
          </a:p>
        </p:txBody>
      </p:sp>
      <p:sp>
        <p:nvSpPr>
          <p:cNvPr id="13" name="Shape 11"/>
          <p:cNvSpPr/>
          <p:nvPr/>
        </p:nvSpPr>
        <p:spPr>
          <a:xfrm>
            <a:off x="4379976" y="2633472"/>
            <a:ext cx="310896" cy="310896"/>
          </a:xfrm>
          <a:prstGeom prst="ellipse">
            <a:avLst/>
          </a:prstGeom>
          <a:solidFill>
            <a:srgbClr val="FFFFFF"/>
          </a:solidFill>
          <a:ln w="25400">
            <a:solidFill>
              <a:srgbClr val="1D6B4F"/>
            </a:solidFill>
            <a:prstDash val="solid"/>
          </a:ln>
        </p:spPr>
      </p:sp>
      <p:sp>
        <p:nvSpPr>
          <p:cNvPr id="14" name="Text 12"/>
          <p:cNvSpPr txBox="1"/>
          <p:nvPr/>
        </p:nvSpPr>
        <p:spPr>
          <a:xfrm>
            <a:off x="4242816" y="2011680"/>
            <a:ext cx="1737360" cy="365760"/>
          </a:xfrm>
          <a:prstGeom prst="rect">
            <a:avLst/>
          </a:prstGeom>
          <a:noFill/>
          <a:ln/>
        </p:spPr>
        <p:txBody>
          <a:bodyPr wrap="square" lIns="0" tIns="0" rIns="0" bIns="0" rtlCol="0" anchor="ctr"/>
          <a:lstStyle/>
          <a:p>
            <a:pPr indent="0" marL="0">
              <a:buNone/>
            </a:pPr>
            <a:r>
              <a:rPr lang="en-US" sz="1600" b="1" dirty="0">
                <a:solidFill>
                  <a:schemeClr val="tx2"/>
                </a:solidFill>
              </a:rPr>
              <a:t>8 Oct</a:t>
            </a:r>
            <a:endParaRPr lang="en-US" sz="1600" dirty="0"/>
          </a:p>
        </p:txBody>
      </p:sp>
      <p:sp>
        <p:nvSpPr>
          <p:cNvPr id="15" name="Text 13"/>
          <p:cNvSpPr txBox="1"/>
          <p:nvPr/>
        </p:nvSpPr>
        <p:spPr>
          <a:xfrm>
            <a:off x="4242816" y="3154680"/>
            <a:ext cx="1737360" cy="685800"/>
          </a:xfrm>
          <a:prstGeom prst="rect">
            <a:avLst/>
          </a:prstGeom>
          <a:noFill/>
          <a:ln/>
        </p:spPr>
        <p:txBody>
          <a:bodyPr wrap="square" lIns="0" tIns="0" rIns="0" bIns="0" rtlCol="0" anchor="t"/>
          <a:lstStyle/>
          <a:p>
            <a:pPr indent="0" marL="0">
              <a:buNone/>
            </a:pPr>
            <a:r>
              <a:rPr lang="en-US" sz="1600" b="1" dirty="0">
                <a:solidFill>
                  <a:schemeClr val="tx1"/>
                </a:solidFill>
              </a:rPr>
              <a:t>Step-free stay in Lapad</a:t>
            </a:r>
            <a:endParaRPr lang="en-US" sz="1600" dirty="0"/>
          </a:p>
        </p:txBody>
      </p:sp>
      <p:sp>
        <p:nvSpPr>
          <p:cNvPr id="16" name="Text 14"/>
          <p:cNvSpPr txBox="1"/>
          <p:nvPr/>
        </p:nvSpPr>
        <p:spPr>
          <a:xfrm>
            <a:off x="4242816" y="3840480"/>
            <a:ext cx="1737360" cy="685800"/>
          </a:xfrm>
          <a:prstGeom prst="rect">
            <a:avLst/>
          </a:prstGeom>
          <a:noFill/>
          <a:ln/>
        </p:spPr>
        <p:txBody>
          <a:bodyPr wrap="square" lIns="0" tIns="0" rIns="0" bIns="0" rtlCol="0" anchor="t"/>
          <a:lstStyle/>
          <a:p>
            <a:pPr indent="0" marL="0">
              <a:buNone/>
            </a:pPr>
            <a:r>
              <a:rPr lang="en-US" sz="1400" dirty="0">
                <a:solidFill>
                  <a:schemeClr val="accent5"/>
                </a:solidFill>
              </a:rPr>
              <a:t>Adapted taxi, ground floor</a:t>
            </a:r>
            <a:endParaRPr lang="en-US" sz="1400" dirty="0"/>
          </a:p>
        </p:txBody>
      </p:sp>
      <p:sp>
        <p:nvSpPr>
          <p:cNvPr id="17" name="Shape 15"/>
          <p:cNvSpPr/>
          <p:nvPr/>
        </p:nvSpPr>
        <p:spPr>
          <a:xfrm>
            <a:off x="6227064" y="2633472"/>
            <a:ext cx="310896" cy="310896"/>
          </a:xfrm>
          <a:prstGeom prst="ellipse">
            <a:avLst/>
          </a:prstGeom>
          <a:solidFill>
            <a:srgbClr val="FFFFFF"/>
          </a:solidFill>
          <a:ln w="25400">
            <a:solidFill>
              <a:srgbClr val="1D6B4F"/>
            </a:solidFill>
            <a:prstDash val="solid"/>
          </a:ln>
        </p:spPr>
      </p:sp>
      <p:sp>
        <p:nvSpPr>
          <p:cNvPr id="18" name="Text 16"/>
          <p:cNvSpPr txBox="1"/>
          <p:nvPr/>
        </p:nvSpPr>
        <p:spPr>
          <a:xfrm>
            <a:off x="6089904" y="2011680"/>
            <a:ext cx="1737360" cy="365760"/>
          </a:xfrm>
          <a:prstGeom prst="rect">
            <a:avLst/>
          </a:prstGeom>
          <a:noFill/>
          <a:ln/>
        </p:spPr>
        <p:txBody>
          <a:bodyPr wrap="square" lIns="0" tIns="0" rIns="0" bIns="0" rtlCol="0" anchor="ctr"/>
          <a:lstStyle/>
          <a:p>
            <a:pPr indent="0" marL="0">
              <a:buNone/>
            </a:pPr>
            <a:r>
              <a:rPr lang="en-US" sz="1600" b="1" dirty="0">
                <a:solidFill>
                  <a:schemeClr val="tx2"/>
                </a:solidFill>
              </a:rPr>
              <a:t>October</a:t>
            </a:r>
            <a:endParaRPr lang="en-US" sz="1600" dirty="0"/>
          </a:p>
        </p:txBody>
      </p:sp>
      <p:sp>
        <p:nvSpPr>
          <p:cNvPr id="19" name="Text 17"/>
          <p:cNvSpPr txBox="1"/>
          <p:nvPr/>
        </p:nvSpPr>
        <p:spPr>
          <a:xfrm>
            <a:off x="6089904" y="3154680"/>
            <a:ext cx="1737360" cy="685800"/>
          </a:xfrm>
          <a:prstGeom prst="rect">
            <a:avLst/>
          </a:prstGeom>
          <a:noFill/>
          <a:ln/>
        </p:spPr>
        <p:txBody>
          <a:bodyPr wrap="square" lIns="0" tIns="0" rIns="0" bIns="0" rtlCol="0" anchor="t"/>
          <a:lstStyle/>
          <a:p>
            <a:pPr indent="0" marL="0">
              <a:buNone/>
            </a:pPr>
            <a:r>
              <a:rPr lang="en-US" sz="1600" b="1" dirty="0">
                <a:solidFill>
                  <a:schemeClr val="tx1"/>
                </a:solidFill>
              </a:rPr>
              <a:t>Recovery, monitored</a:t>
            </a:r>
            <a:endParaRPr lang="en-US" sz="1600" dirty="0"/>
          </a:p>
        </p:txBody>
      </p:sp>
      <p:sp>
        <p:nvSpPr>
          <p:cNvPr id="20" name="Text 18"/>
          <p:cNvSpPr txBox="1"/>
          <p:nvPr/>
        </p:nvSpPr>
        <p:spPr>
          <a:xfrm>
            <a:off x="6089904" y="3840480"/>
            <a:ext cx="1737360" cy="685800"/>
          </a:xfrm>
          <a:prstGeom prst="rect">
            <a:avLst/>
          </a:prstGeom>
          <a:noFill/>
          <a:ln/>
        </p:spPr>
        <p:txBody>
          <a:bodyPr wrap="square" lIns="0" tIns="0" rIns="0" bIns="0" rtlCol="0" anchor="t"/>
          <a:lstStyle/>
          <a:p>
            <a:pPr indent="0" marL="0">
              <a:buNone/>
            </a:pPr>
            <a:r>
              <a:rPr lang="en-US" sz="1400" dirty="0">
                <a:solidFill>
                  <a:schemeClr val="accent5"/>
                </a:solidFill>
              </a:rPr>
              <a:t>Watch data and a daily check-in</a:t>
            </a:r>
            <a:endParaRPr lang="en-US" sz="1400" dirty="0"/>
          </a:p>
        </p:txBody>
      </p:sp>
      <p:sp>
        <p:nvSpPr>
          <p:cNvPr id="21" name="Shape 19"/>
          <p:cNvSpPr/>
          <p:nvPr/>
        </p:nvSpPr>
        <p:spPr>
          <a:xfrm>
            <a:off x="8074152" y="2633472"/>
            <a:ext cx="310896" cy="310896"/>
          </a:xfrm>
          <a:prstGeom prst="ellipse">
            <a:avLst/>
          </a:prstGeom>
          <a:solidFill>
            <a:srgbClr val="FFFFFF"/>
          </a:solidFill>
          <a:ln w="25400">
            <a:solidFill>
              <a:srgbClr val="1D6B4F"/>
            </a:solidFill>
            <a:prstDash val="solid"/>
          </a:ln>
        </p:spPr>
      </p:sp>
      <p:sp>
        <p:nvSpPr>
          <p:cNvPr id="22" name="Text 20"/>
          <p:cNvSpPr txBox="1"/>
          <p:nvPr/>
        </p:nvSpPr>
        <p:spPr>
          <a:xfrm>
            <a:off x="7936992" y="2011680"/>
            <a:ext cx="1737360" cy="365760"/>
          </a:xfrm>
          <a:prstGeom prst="rect">
            <a:avLst/>
          </a:prstGeom>
          <a:noFill/>
          <a:ln/>
        </p:spPr>
        <p:txBody>
          <a:bodyPr wrap="square" lIns="0" tIns="0" rIns="0" bIns="0" rtlCol="0" anchor="ctr"/>
          <a:lstStyle/>
          <a:p>
            <a:pPr indent="0" marL="0">
              <a:buNone/>
            </a:pPr>
            <a:r>
              <a:rPr lang="en-US" sz="1600" b="1" dirty="0">
                <a:solidFill>
                  <a:schemeClr val="tx2"/>
                </a:solidFill>
              </a:rPr>
              <a:t>2 - 15 Nov</a:t>
            </a:r>
            <a:endParaRPr lang="en-US" sz="1600" dirty="0"/>
          </a:p>
        </p:txBody>
      </p:sp>
      <p:sp>
        <p:nvSpPr>
          <p:cNvPr id="23" name="Text 21"/>
          <p:cNvSpPr txBox="1"/>
          <p:nvPr/>
        </p:nvSpPr>
        <p:spPr>
          <a:xfrm>
            <a:off x="7936992" y="3154680"/>
            <a:ext cx="1737360" cy="685800"/>
          </a:xfrm>
          <a:prstGeom prst="rect">
            <a:avLst/>
          </a:prstGeom>
          <a:noFill/>
          <a:ln/>
        </p:spPr>
        <p:txBody>
          <a:bodyPr wrap="square" lIns="0" tIns="0" rIns="0" bIns="0" rtlCol="0" anchor="t"/>
          <a:lstStyle/>
          <a:p>
            <a:pPr indent="0" marL="0">
              <a:buNone/>
            </a:pPr>
            <a:r>
              <a:rPr lang="en-US" sz="1600" b="1" dirty="0">
                <a:solidFill>
                  <a:schemeClr val="tx1"/>
                </a:solidFill>
              </a:rPr>
              <a:t>Rehab at Kalos</a:t>
            </a:r>
            <a:endParaRPr lang="en-US" sz="1600" dirty="0"/>
          </a:p>
        </p:txBody>
      </p:sp>
      <p:sp>
        <p:nvSpPr>
          <p:cNvPr id="24" name="Text 22"/>
          <p:cNvSpPr txBox="1"/>
          <p:nvPr/>
        </p:nvSpPr>
        <p:spPr>
          <a:xfrm>
            <a:off x="7936992" y="3840480"/>
            <a:ext cx="1737360" cy="685800"/>
          </a:xfrm>
          <a:prstGeom prst="rect">
            <a:avLst/>
          </a:prstGeom>
          <a:noFill/>
          <a:ln/>
        </p:spPr>
        <p:txBody>
          <a:bodyPr wrap="square" lIns="0" tIns="0" rIns="0" bIns="0" rtlCol="0" anchor="t"/>
          <a:lstStyle/>
          <a:p>
            <a:pPr indent="0" marL="0">
              <a:buNone/>
            </a:pPr>
            <a:r>
              <a:rPr lang="en-US" sz="1400" dirty="0">
                <a:solidFill>
                  <a:schemeClr val="accent5"/>
                </a:solidFill>
              </a:rPr>
              <a:t>Seawater pool on Korčula</a:t>
            </a:r>
            <a:endParaRPr lang="en-US" sz="1400" dirty="0"/>
          </a:p>
        </p:txBody>
      </p:sp>
      <p:sp>
        <p:nvSpPr>
          <p:cNvPr id="25" name="Shape 23"/>
          <p:cNvSpPr/>
          <p:nvPr/>
        </p:nvSpPr>
        <p:spPr>
          <a:xfrm>
            <a:off x="9921240" y="2633472"/>
            <a:ext cx="310896" cy="310896"/>
          </a:xfrm>
          <a:prstGeom prst="ellipse">
            <a:avLst/>
          </a:prstGeom>
          <a:solidFill>
            <a:srgbClr val="FFFFFF"/>
          </a:solidFill>
          <a:ln w="25400">
            <a:solidFill>
              <a:srgbClr val="1D6B4F"/>
            </a:solidFill>
            <a:prstDash val="solid"/>
          </a:ln>
        </p:spPr>
      </p:sp>
      <p:sp>
        <p:nvSpPr>
          <p:cNvPr id="26" name="Text 24"/>
          <p:cNvSpPr txBox="1"/>
          <p:nvPr/>
        </p:nvSpPr>
        <p:spPr>
          <a:xfrm>
            <a:off x="9784080" y="2011680"/>
            <a:ext cx="1737360" cy="365760"/>
          </a:xfrm>
          <a:prstGeom prst="rect">
            <a:avLst/>
          </a:prstGeom>
          <a:noFill/>
          <a:ln/>
        </p:spPr>
        <p:txBody>
          <a:bodyPr wrap="square" lIns="0" tIns="0" rIns="0" bIns="0" rtlCol="0" anchor="ctr"/>
          <a:lstStyle/>
          <a:p>
            <a:pPr indent="0" marL="0">
              <a:buNone/>
            </a:pPr>
            <a:r>
              <a:rPr lang="en-US" sz="1600" b="1" dirty="0">
                <a:solidFill>
                  <a:schemeClr val="tx2"/>
                </a:solidFill>
              </a:rPr>
              <a:t>17 Nov</a:t>
            </a:r>
            <a:endParaRPr lang="en-US" sz="1600" dirty="0"/>
          </a:p>
        </p:txBody>
      </p:sp>
      <p:sp>
        <p:nvSpPr>
          <p:cNvPr id="27" name="Text 25"/>
          <p:cNvSpPr txBox="1"/>
          <p:nvPr/>
        </p:nvSpPr>
        <p:spPr>
          <a:xfrm>
            <a:off x="9784080" y="3154680"/>
            <a:ext cx="1737360" cy="685800"/>
          </a:xfrm>
          <a:prstGeom prst="rect">
            <a:avLst/>
          </a:prstGeom>
          <a:noFill/>
          <a:ln/>
        </p:spPr>
        <p:txBody>
          <a:bodyPr wrap="square" lIns="0" tIns="0" rIns="0" bIns="0" rtlCol="0" anchor="t"/>
          <a:lstStyle/>
          <a:p>
            <a:pPr indent="0" marL="0">
              <a:buNone/>
            </a:pPr>
            <a:r>
              <a:rPr lang="en-US" sz="1600" b="1" dirty="0">
                <a:solidFill>
                  <a:schemeClr val="tx1"/>
                </a:solidFill>
              </a:rPr>
              <a:t>Flight home</a:t>
            </a:r>
            <a:endParaRPr lang="en-US" sz="1600" dirty="0"/>
          </a:p>
        </p:txBody>
      </p:sp>
      <p:sp>
        <p:nvSpPr>
          <p:cNvPr id="28" name="Text 26"/>
          <p:cNvSpPr txBox="1"/>
          <p:nvPr/>
        </p:nvSpPr>
        <p:spPr>
          <a:xfrm>
            <a:off x="9784080" y="3840480"/>
            <a:ext cx="1737360" cy="685800"/>
          </a:xfrm>
          <a:prstGeom prst="rect">
            <a:avLst/>
          </a:prstGeom>
          <a:noFill/>
          <a:ln/>
        </p:spPr>
        <p:txBody>
          <a:bodyPr wrap="square" lIns="0" tIns="0" rIns="0" bIns="0" rtlCol="0" anchor="t"/>
          <a:lstStyle/>
          <a:p>
            <a:pPr indent="0" marL="0">
              <a:buNone/>
            </a:pPr>
            <a:r>
              <a:rPr lang="en-US" sz="1400" dirty="0">
                <a:solidFill>
                  <a:schemeClr val="accent5"/>
                </a:solidFill>
              </a:rPr>
              <a:t>Wheelchair at both airports</a:t>
            </a:r>
            <a:endParaRPr lang="en-US" sz="1400" dirty="0"/>
          </a:p>
        </p:txBody>
      </p:sp>
      <p:pic>
        <p:nvPicPr>
          <p:cNvPr id="29" name="Vela Luka photo" descr="preencoded.png">    </p:cNvPr>
          <p:cNvPicPr>
            <a:picLocks noChangeAspect="1"/>
          </p:cNvPicPr>
          <p:nvPr/>
        </p:nvPicPr>
        <p:blipFill>
          <a:blip r:embed="rId1"/>
          <a:srcRect l="0" r="0" t="33051" b="33051"/>
          <a:stretch/>
        </p:blipFill>
        <p:spPr>
          <a:xfrm>
            <a:off x="548640" y="4800600"/>
            <a:ext cx="5394960" cy="1371600"/>
          </a:xfrm>
          <a:prstGeom prst="rect">
            <a:avLst/>
          </a:prstGeom>
        </p:spPr>
      </p:pic>
      <p:pic>
        <p:nvPicPr>
          <p:cNvPr id="30" name="Elaphiti islands photo" descr="preencoded.png">    </p:cNvPr>
          <p:cNvPicPr>
            <a:picLocks noChangeAspect="1"/>
          </p:cNvPicPr>
          <p:nvPr/>
        </p:nvPicPr>
        <p:blipFill>
          <a:blip r:embed="rId2"/>
          <a:srcRect l="0" r="0" t="30932" b="30932"/>
          <a:stretch/>
        </p:blipFill>
        <p:spPr>
          <a:xfrm>
            <a:off x="6217920" y="4800600"/>
            <a:ext cx="5394960" cy="137160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6746D"/>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Background photo" descr="preencoded.png">    </p:cNvPr>
          <p:cNvPicPr>
            <a:picLocks noChangeAspect="1"/>
          </p:cNvPicPr>
          <p:nvPr/>
        </p:nvPicPr>
        <p:blipFill>
          <a:blip r:embed="rId1"/>
          <a:srcRect l="0" r="0" t="4773" b="4773"/>
          <a:stretch/>
        </p:blipFill>
        <p:spPr>
          <a:xfrm>
            <a:off x="0" y="0"/>
            <a:ext cx="12191695" cy="6858000"/>
          </a:xfrm>
          <a:prstGeom prst="rect">
            <a:avLst/>
          </a:prstGeom>
        </p:spPr>
      </p:pic>
      <p:sp>
        <p:nvSpPr>
          <p:cNvPr id="3" name="Scrim"/>
          <p:cNvSpPr/>
          <p:nvPr/>
        </p:nvSpPr>
        <p:spPr>
          <a:xfrm>
            <a:off x="0" y="0"/>
            <a:ext cx="12191695" cy="6858000"/>
          </a:xfrm>
          <a:prstGeom prst="rect">
            <a:avLst/>
          </a:prstGeom>
          <a:solidFill>
            <a:srgbClr val="15201B">
              <a:alpha val="65000"/>
            </a:srgbClr>
          </a:solidFill>
          <a:ln/>
        </p:spPr>
      </p:sp>
      <p:sp>
        <p:nvSpPr>
          <p:cNvPr id="4" name="Text 1"/>
          <p:cNvSpPr txBox="1"/>
          <p:nvPr/>
        </p:nvSpPr>
        <p:spPr>
          <a:xfrm>
            <a:off x="548640" y="2011680"/>
            <a:ext cx="7315200" cy="1188720"/>
          </a:xfrm>
          <a:prstGeom prst="rect">
            <a:avLst/>
          </a:prstGeom>
          <a:noFill/>
          <a:ln/>
        </p:spPr>
        <p:txBody>
          <a:bodyPr wrap="square" lIns="0" tIns="0" rIns="0" bIns="0" rtlCol="0" anchor="ctr"/>
          <a:lstStyle/>
          <a:p>
            <a:pPr indent="0" marL="0">
              <a:buNone/>
            </a:pPr>
            <a:r>
              <a:rPr lang="en-US" sz="6600" b="1" dirty="0">
                <a:solidFill>
                  <a:srgbClr val="FFFFFF"/>
                </a:solidFill>
              </a:rPr>
              <a:t>Live demo</a:t>
            </a:r>
            <a:endParaRPr lang="en-US" sz="6600" dirty="0"/>
          </a:p>
        </p:txBody>
      </p:sp>
      <p:sp>
        <p:nvSpPr>
          <p:cNvPr id="5" name="Text 2"/>
          <p:cNvSpPr txBox="1"/>
          <p:nvPr/>
        </p:nvSpPr>
        <p:spPr>
          <a:xfrm>
            <a:off x="548640" y="3291840"/>
            <a:ext cx="6400800" cy="822960"/>
          </a:xfrm>
          <a:prstGeom prst="rect">
            <a:avLst/>
          </a:prstGeom>
          <a:noFill/>
          <a:ln/>
        </p:spPr>
        <p:txBody>
          <a:bodyPr wrap="square" lIns="0" tIns="0" rIns="0" bIns="0" rtlCol="0" anchor="t"/>
          <a:lstStyle/>
          <a:p>
            <a:pPr indent="0" marL="0">
              <a:buNone/>
            </a:pPr>
            <a:r>
              <a:rPr lang="en-US" sz="2000" dirty="0">
                <a:solidFill>
                  <a:srgbClr val="E3EEE8"/>
                </a:solidFill>
              </a:rPr>
              <a:t>Follow Marta through the app, from the first message to the flight home.</a:t>
            </a:r>
            <a:endParaRPr lang="en-US" sz="2000" dirty="0"/>
          </a:p>
        </p:txBody>
      </p:sp>
      <p:sp>
        <p:nvSpPr>
          <p:cNvPr id="6" name="Text 3"/>
          <p:cNvSpPr txBox="1"/>
          <p:nvPr/>
        </p:nvSpPr>
        <p:spPr>
          <a:xfrm>
            <a:off x="548640" y="4389120"/>
            <a:ext cx="7315200" cy="457200"/>
          </a:xfrm>
          <a:prstGeom prst="rect">
            <a:avLst/>
          </a:prstGeom>
          <a:noFill/>
          <a:ln/>
        </p:spPr>
        <p:txBody>
          <a:bodyPr wrap="square" lIns="0" tIns="0" rIns="0" bIns="0" rtlCol="0" anchor="ctr"/>
          <a:lstStyle/>
          <a:p>
            <a:pPr indent="0" marL="0">
              <a:buNone/>
            </a:pPr>
            <a:r>
              <a:rPr lang="en-US" sz="1800" b="1" dirty="0">
                <a:solidFill>
                  <a:srgbClr val="B8E6CF"/>
                </a:solidFill>
              </a:rPr>
              <a:t>dk129213.github.io/VitaNatura/</a:t>
            </a:r>
            <a:endParaRPr lang="en-US" sz="1800" dirty="0"/>
          </a:p>
        </p:txBody>
      </p:sp>
      <p:sp>
        <p:nvSpPr>
          <p:cNvPr id="7" name="Shape 4"/>
          <p:cNvSpPr/>
          <p:nvPr/>
        </p:nvSpPr>
        <p:spPr>
          <a:xfrm>
            <a:off x="8412480" y="1828800"/>
            <a:ext cx="3017520" cy="3429000"/>
          </a:xfrm>
          <a:prstGeom prst="roundRect">
            <a:avLst>
              <a:gd name="adj" fmla="val 4545"/>
            </a:avLst>
          </a:prstGeom>
          <a:solidFill>
            <a:srgbClr val="FFFFFF"/>
          </a:solidFill>
          <a:ln/>
        </p:spPr>
      </p:sp>
      <p:pic>
        <p:nvPicPr>
          <p:cNvPr id="8" name="Image 1" descr="preencoded.png">    </p:cNvPr>
          <p:cNvPicPr>
            <a:picLocks noChangeAspect="1"/>
          </p:cNvPicPr>
          <p:nvPr/>
        </p:nvPicPr>
        <p:blipFill>
          <a:blip r:embed="rId2"/>
          <a:stretch>
            <a:fillRect/>
          </a:stretch>
        </p:blipFill>
        <p:spPr>
          <a:xfrm>
            <a:off x="8641080" y="2057400"/>
            <a:ext cx="2560320" cy="2560320"/>
          </a:xfrm>
          <a:prstGeom prst="rect">
            <a:avLst/>
          </a:prstGeom>
        </p:spPr>
      </p:pic>
      <p:sp>
        <p:nvSpPr>
          <p:cNvPr id="9" name="Text 5"/>
          <p:cNvSpPr txBox="1"/>
          <p:nvPr/>
        </p:nvSpPr>
        <p:spPr>
          <a:xfrm>
            <a:off x="8412480" y="4681728"/>
            <a:ext cx="3017520" cy="411480"/>
          </a:xfrm>
          <a:prstGeom prst="rect">
            <a:avLst/>
          </a:prstGeom>
          <a:noFill/>
          <a:ln/>
        </p:spPr>
        <p:txBody>
          <a:bodyPr wrap="square" lIns="0" tIns="0" rIns="0" bIns="0" rtlCol="0" anchor="ctr"/>
          <a:lstStyle/>
          <a:p>
            <a:pPr algn="ctr" indent="0" marL="0">
              <a:buNone/>
            </a:pPr>
            <a:r>
              <a:rPr lang="en-US" sz="1500" b="1" dirty="0">
                <a:solidFill>
                  <a:schemeClr val="tx1"/>
                </a:solidFill>
              </a:rPr>
              <a:t>Scan to try it</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Built on real data, responsibly</a:t>
            </a:r>
            <a:endParaRPr lang="en-US" sz="3600" dirty="0"/>
          </a:p>
        </p:txBody>
      </p:sp>
      <p:sp>
        <p:nvSpPr>
          <p:cNvPr id="3" name="Shape 1"/>
          <p:cNvSpPr/>
          <p:nvPr/>
        </p:nvSpPr>
        <p:spPr>
          <a:xfrm>
            <a:off x="548640" y="1508760"/>
            <a:ext cx="3063240" cy="2148840"/>
          </a:xfrm>
          <a:prstGeom prst="roundRect">
            <a:avLst>
              <a:gd name="adj" fmla="val 5106"/>
            </a:avLst>
          </a:prstGeom>
          <a:solidFill>
            <a:schemeClr val="bg2"/>
          </a:solidFill>
          <a:ln/>
        </p:spPr>
      </p:sp>
      <p:sp>
        <p:nvSpPr>
          <p:cNvPr id="4" name="Text 2"/>
          <p:cNvSpPr txBox="1"/>
          <p:nvPr/>
        </p:nvSpPr>
        <p:spPr>
          <a:xfrm>
            <a:off x="822960" y="1737360"/>
            <a:ext cx="2560320" cy="822960"/>
          </a:xfrm>
          <a:prstGeom prst="rect">
            <a:avLst/>
          </a:prstGeom>
          <a:noFill/>
          <a:ln/>
        </p:spPr>
        <p:txBody>
          <a:bodyPr wrap="square" lIns="0" tIns="0" rIns="0" bIns="0" rtlCol="0" anchor="ctr"/>
          <a:lstStyle/>
          <a:p>
            <a:pPr indent="0" marL="0">
              <a:buNone/>
            </a:pPr>
            <a:r>
              <a:rPr lang="en-US" sz="4400" b="1" dirty="0">
                <a:solidFill>
                  <a:schemeClr val="tx2"/>
                </a:solidFill>
              </a:rPr>
              <a:t>22</a:t>
            </a:r>
            <a:endParaRPr lang="en-US" sz="4400" dirty="0"/>
          </a:p>
        </p:txBody>
      </p:sp>
      <p:sp>
        <p:nvSpPr>
          <p:cNvPr id="5" name="Text 3"/>
          <p:cNvSpPr txBox="1"/>
          <p:nvPr/>
        </p:nvSpPr>
        <p:spPr>
          <a:xfrm>
            <a:off x="822960" y="2560320"/>
            <a:ext cx="2560320" cy="640080"/>
          </a:xfrm>
          <a:prstGeom prst="rect">
            <a:avLst/>
          </a:prstGeom>
          <a:noFill/>
          <a:ln/>
        </p:spPr>
        <p:txBody>
          <a:bodyPr wrap="square" lIns="0" tIns="0" rIns="0" bIns="0" rtlCol="0" anchor="t"/>
          <a:lstStyle/>
          <a:p>
            <a:pPr indent="0" marL="0">
              <a:buNone/>
            </a:pPr>
            <a:r>
              <a:rPr lang="en-US" sz="1500" dirty="0">
                <a:solidFill>
                  <a:schemeClr val="tx1"/>
                </a:solidFill>
              </a:rPr>
              <a:t>health places around Dubrovnik</a:t>
            </a:r>
            <a:endParaRPr lang="en-US" sz="1500" dirty="0"/>
          </a:p>
        </p:txBody>
      </p:sp>
      <p:sp>
        <p:nvSpPr>
          <p:cNvPr id="6" name="Text 4"/>
          <p:cNvSpPr txBox="1"/>
          <p:nvPr/>
        </p:nvSpPr>
        <p:spPr>
          <a:xfrm>
            <a:off x="822960" y="3200400"/>
            <a:ext cx="2560320" cy="274320"/>
          </a:xfrm>
          <a:prstGeom prst="rect">
            <a:avLst/>
          </a:prstGeom>
          <a:noFill/>
          <a:ln/>
        </p:spPr>
        <p:txBody>
          <a:bodyPr wrap="square" lIns="0" tIns="0" rIns="0" bIns="0" rtlCol="0" anchor="ctr"/>
          <a:lstStyle/>
          <a:p>
            <a:pPr indent="0" marL="0">
              <a:buNone/>
            </a:pPr>
            <a:r>
              <a:rPr lang="en-US" sz="1100" dirty="0">
                <a:solidFill>
                  <a:schemeClr val="accent5"/>
                </a:solidFill>
              </a:rPr>
              <a:t>OpenStreetMap</a:t>
            </a:r>
            <a:endParaRPr lang="en-US" sz="1100" dirty="0"/>
          </a:p>
        </p:txBody>
      </p:sp>
      <p:sp>
        <p:nvSpPr>
          <p:cNvPr id="7" name="Shape 5"/>
          <p:cNvSpPr/>
          <p:nvPr/>
        </p:nvSpPr>
        <p:spPr>
          <a:xfrm>
            <a:off x="3794760" y="1508760"/>
            <a:ext cx="3063240" cy="2148840"/>
          </a:xfrm>
          <a:prstGeom prst="roundRect">
            <a:avLst>
              <a:gd name="adj" fmla="val 5106"/>
            </a:avLst>
          </a:prstGeom>
          <a:solidFill>
            <a:schemeClr val="bg2"/>
          </a:solidFill>
          <a:ln/>
        </p:spPr>
      </p:sp>
      <p:sp>
        <p:nvSpPr>
          <p:cNvPr id="8" name="Text 6"/>
          <p:cNvSpPr txBox="1"/>
          <p:nvPr/>
        </p:nvSpPr>
        <p:spPr>
          <a:xfrm>
            <a:off x="4069080" y="1737360"/>
            <a:ext cx="2560320" cy="822960"/>
          </a:xfrm>
          <a:prstGeom prst="rect">
            <a:avLst/>
          </a:prstGeom>
          <a:noFill/>
          <a:ln/>
        </p:spPr>
        <p:txBody>
          <a:bodyPr wrap="square" lIns="0" tIns="0" rIns="0" bIns="0" rtlCol="0" anchor="ctr"/>
          <a:lstStyle/>
          <a:p>
            <a:pPr indent="0" marL="0">
              <a:buNone/>
            </a:pPr>
            <a:r>
              <a:rPr lang="en-US" sz="4400" b="1" dirty="0">
                <a:solidFill>
                  <a:schemeClr val="tx2"/>
                </a:solidFill>
              </a:rPr>
              <a:t>6 min</a:t>
            </a:r>
            <a:endParaRPr lang="en-US" sz="4400" dirty="0"/>
          </a:p>
        </p:txBody>
      </p:sp>
      <p:sp>
        <p:nvSpPr>
          <p:cNvPr id="9" name="Text 7"/>
          <p:cNvSpPr txBox="1"/>
          <p:nvPr/>
        </p:nvSpPr>
        <p:spPr>
          <a:xfrm>
            <a:off x="4069080" y="2560320"/>
            <a:ext cx="2560320" cy="640080"/>
          </a:xfrm>
          <a:prstGeom prst="rect">
            <a:avLst/>
          </a:prstGeom>
          <a:noFill/>
          <a:ln/>
        </p:spPr>
        <p:txBody>
          <a:bodyPr wrap="square" lIns="0" tIns="0" rIns="0" bIns="0" rtlCol="0" anchor="t"/>
          <a:lstStyle/>
          <a:p>
            <a:pPr indent="0" marL="0">
              <a:buNone/>
            </a:pPr>
            <a:r>
              <a:rPr lang="en-US" sz="1500" dirty="0">
                <a:solidFill>
                  <a:schemeClr val="tx1"/>
                </a:solidFill>
              </a:rPr>
              <a:t>from Pile Gate to the emergency department</a:t>
            </a:r>
            <a:endParaRPr lang="en-US" sz="1500" dirty="0"/>
          </a:p>
        </p:txBody>
      </p:sp>
      <p:sp>
        <p:nvSpPr>
          <p:cNvPr id="10" name="Text 8"/>
          <p:cNvSpPr txBox="1"/>
          <p:nvPr/>
        </p:nvSpPr>
        <p:spPr>
          <a:xfrm>
            <a:off x="4069080" y="3200400"/>
            <a:ext cx="2560320" cy="274320"/>
          </a:xfrm>
          <a:prstGeom prst="rect">
            <a:avLst/>
          </a:prstGeom>
          <a:noFill/>
          <a:ln/>
        </p:spPr>
        <p:txBody>
          <a:bodyPr wrap="square" lIns="0" tIns="0" rIns="0" bIns="0" rtlCol="0" anchor="ctr"/>
          <a:lstStyle/>
          <a:p>
            <a:pPr indent="0" marL="0">
              <a:buNone/>
            </a:pPr>
            <a:r>
              <a:rPr lang="en-US" sz="1100" dirty="0">
                <a:solidFill>
                  <a:schemeClr val="accent5"/>
                </a:solidFill>
              </a:rPr>
              <a:t>OSRM routing</a:t>
            </a:r>
            <a:endParaRPr lang="en-US" sz="1100" dirty="0"/>
          </a:p>
        </p:txBody>
      </p:sp>
      <p:sp>
        <p:nvSpPr>
          <p:cNvPr id="11" name="Shape 9"/>
          <p:cNvSpPr/>
          <p:nvPr/>
        </p:nvSpPr>
        <p:spPr>
          <a:xfrm>
            <a:off x="548640" y="3840480"/>
            <a:ext cx="3063240" cy="2148840"/>
          </a:xfrm>
          <a:prstGeom prst="roundRect">
            <a:avLst>
              <a:gd name="adj" fmla="val 5106"/>
            </a:avLst>
          </a:prstGeom>
          <a:solidFill>
            <a:schemeClr val="bg2"/>
          </a:solidFill>
          <a:ln/>
        </p:spPr>
      </p:sp>
      <p:sp>
        <p:nvSpPr>
          <p:cNvPr id="12" name="Text 10"/>
          <p:cNvSpPr txBox="1"/>
          <p:nvPr/>
        </p:nvSpPr>
        <p:spPr>
          <a:xfrm>
            <a:off x="822960" y="4069080"/>
            <a:ext cx="2560320" cy="822960"/>
          </a:xfrm>
          <a:prstGeom prst="rect">
            <a:avLst/>
          </a:prstGeom>
          <a:noFill/>
          <a:ln/>
        </p:spPr>
        <p:txBody>
          <a:bodyPr wrap="square" lIns="0" tIns="0" rIns="0" bIns="0" rtlCol="0" anchor="ctr"/>
          <a:lstStyle/>
          <a:p>
            <a:pPr indent="0" marL="0">
              <a:buNone/>
            </a:pPr>
            <a:r>
              <a:rPr lang="en-US" sz="4400" b="1" dirty="0">
                <a:solidFill>
                  <a:schemeClr val="tx2"/>
                </a:solidFill>
              </a:rPr>
              <a:t>Live</a:t>
            </a:r>
            <a:endParaRPr lang="en-US" sz="4400" dirty="0"/>
          </a:p>
        </p:txBody>
      </p:sp>
      <p:sp>
        <p:nvSpPr>
          <p:cNvPr id="13" name="Text 11"/>
          <p:cNvSpPr txBox="1"/>
          <p:nvPr/>
        </p:nvSpPr>
        <p:spPr>
          <a:xfrm>
            <a:off x="822960" y="4892040"/>
            <a:ext cx="2560320" cy="640080"/>
          </a:xfrm>
          <a:prstGeom prst="rect">
            <a:avLst/>
          </a:prstGeom>
          <a:noFill/>
          <a:ln/>
        </p:spPr>
        <p:txBody>
          <a:bodyPr wrap="square" lIns="0" tIns="0" rIns="0" bIns="0" rtlCol="0" anchor="t"/>
          <a:lstStyle/>
          <a:p>
            <a:pPr indent="0" marL="0">
              <a:buNone/>
            </a:pPr>
            <a:r>
              <a:rPr lang="en-US" sz="1500" dirty="0">
                <a:solidFill>
                  <a:schemeClr val="tx1"/>
                </a:solidFill>
              </a:rPr>
              <a:t>weather, air quality and pollen</a:t>
            </a:r>
            <a:endParaRPr lang="en-US" sz="1500" dirty="0"/>
          </a:p>
        </p:txBody>
      </p:sp>
      <p:sp>
        <p:nvSpPr>
          <p:cNvPr id="14" name="Text 12"/>
          <p:cNvSpPr txBox="1"/>
          <p:nvPr/>
        </p:nvSpPr>
        <p:spPr>
          <a:xfrm>
            <a:off x="822960" y="5532120"/>
            <a:ext cx="2560320" cy="274320"/>
          </a:xfrm>
          <a:prstGeom prst="rect">
            <a:avLst/>
          </a:prstGeom>
          <a:noFill/>
          <a:ln/>
        </p:spPr>
        <p:txBody>
          <a:bodyPr wrap="square" lIns="0" tIns="0" rIns="0" bIns="0" rtlCol="0" anchor="ctr"/>
          <a:lstStyle/>
          <a:p>
            <a:pPr indent="0" marL="0">
              <a:buNone/>
            </a:pPr>
            <a:r>
              <a:rPr lang="en-US" sz="1100" dirty="0">
                <a:solidFill>
                  <a:schemeClr val="accent5"/>
                </a:solidFill>
              </a:rPr>
              <a:t>Open-Meteo</a:t>
            </a:r>
            <a:endParaRPr lang="en-US" sz="1100" dirty="0"/>
          </a:p>
        </p:txBody>
      </p:sp>
      <p:sp>
        <p:nvSpPr>
          <p:cNvPr id="15" name="Shape 13"/>
          <p:cNvSpPr/>
          <p:nvPr/>
        </p:nvSpPr>
        <p:spPr>
          <a:xfrm>
            <a:off x="3794760" y="3840480"/>
            <a:ext cx="3063240" cy="2148840"/>
          </a:xfrm>
          <a:prstGeom prst="roundRect">
            <a:avLst>
              <a:gd name="adj" fmla="val 5106"/>
            </a:avLst>
          </a:prstGeom>
          <a:solidFill>
            <a:schemeClr val="bg2"/>
          </a:solidFill>
          <a:ln/>
        </p:spPr>
      </p:sp>
      <p:sp>
        <p:nvSpPr>
          <p:cNvPr id="16" name="Text 14"/>
          <p:cNvSpPr txBox="1"/>
          <p:nvPr/>
        </p:nvSpPr>
        <p:spPr>
          <a:xfrm>
            <a:off x="4069080" y="4069080"/>
            <a:ext cx="2560320" cy="822960"/>
          </a:xfrm>
          <a:prstGeom prst="rect">
            <a:avLst/>
          </a:prstGeom>
          <a:noFill/>
          <a:ln/>
        </p:spPr>
        <p:txBody>
          <a:bodyPr wrap="square" lIns="0" tIns="0" rIns="0" bIns="0" rtlCol="0" anchor="ctr"/>
          <a:lstStyle/>
          <a:p>
            <a:pPr indent="0" marL="0">
              <a:buNone/>
            </a:pPr>
            <a:r>
              <a:rPr lang="en-US" sz="4400" b="1" dirty="0">
                <a:solidFill>
                  <a:schemeClr val="tx2"/>
                </a:solidFill>
              </a:rPr>
              <a:t>48 h</a:t>
            </a:r>
            <a:endParaRPr lang="en-US" sz="4400" dirty="0"/>
          </a:p>
        </p:txBody>
      </p:sp>
      <p:sp>
        <p:nvSpPr>
          <p:cNvPr id="17" name="Text 15"/>
          <p:cNvSpPr txBox="1"/>
          <p:nvPr/>
        </p:nvSpPr>
        <p:spPr>
          <a:xfrm>
            <a:off x="4069080" y="4892040"/>
            <a:ext cx="2560320" cy="640080"/>
          </a:xfrm>
          <a:prstGeom prst="rect">
            <a:avLst/>
          </a:prstGeom>
          <a:noFill/>
          <a:ln/>
        </p:spPr>
        <p:txBody>
          <a:bodyPr wrap="square" lIns="0" tIns="0" rIns="0" bIns="0" rtlCol="0" anchor="t"/>
          <a:lstStyle/>
          <a:p>
            <a:pPr indent="0" marL="0">
              <a:buNone/>
            </a:pPr>
            <a:r>
              <a:rPr lang="en-US" sz="1500" dirty="0">
                <a:solidFill>
                  <a:schemeClr val="tx1"/>
                </a:solidFill>
              </a:rPr>
              <a:t>notice that guarantees airport assistance</a:t>
            </a:r>
            <a:endParaRPr lang="en-US" sz="1500" dirty="0"/>
          </a:p>
        </p:txBody>
      </p:sp>
      <p:sp>
        <p:nvSpPr>
          <p:cNvPr id="18" name="Text 16"/>
          <p:cNvSpPr txBox="1"/>
          <p:nvPr/>
        </p:nvSpPr>
        <p:spPr>
          <a:xfrm>
            <a:off x="4069080" y="5532120"/>
            <a:ext cx="2560320" cy="274320"/>
          </a:xfrm>
          <a:prstGeom prst="rect">
            <a:avLst/>
          </a:prstGeom>
          <a:noFill/>
          <a:ln/>
        </p:spPr>
        <p:txBody>
          <a:bodyPr wrap="square" lIns="0" tIns="0" rIns="0" bIns="0" rtlCol="0" anchor="ctr"/>
          <a:lstStyle/>
          <a:p>
            <a:pPr indent="0" marL="0">
              <a:buNone/>
            </a:pPr>
            <a:r>
              <a:rPr lang="en-US" sz="1100" dirty="0">
                <a:solidFill>
                  <a:schemeClr val="accent5"/>
                </a:solidFill>
              </a:rPr>
              <a:t>EU Regulation 1107/2006</a:t>
            </a:r>
            <a:endParaRPr lang="en-US" sz="1100" dirty="0"/>
          </a:p>
        </p:txBody>
      </p:sp>
      <p:sp>
        <p:nvSpPr>
          <p:cNvPr id="19" name="Shape 17"/>
          <p:cNvSpPr/>
          <p:nvPr/>
        </p:nvSpPr>
        <p:spPr>
          <a:xfrm>
            <a:off x="7269480" y="1508760"/>
            <a:ext cx="4373575" cy="4480560"/>
          </a:xfrm>
          <a:prstGeom prst="roundRect">
            <a:avLst>
              <a:gd name="adj" fmla="val 2509"/>
            </a:avLst>
          </a:prstGeom>
          <a:solidFill>
            <a:schemeClr val="tx2"/>
          </a:solidFill>
          <a:ln/>
        </p:spPr>
      </p:sp>
      <p:pic>
        <p:nvPicPr>
          <p:cNvPr id="20" name="Image 0" descr="preencoded.png">    </p:cNvPr>
          <p:cNvPicPr>
            <a:picLocks noChangeAspect="1"/>
          </p:cNvPicPr>
          <p:nvPr/>
        </p:nvPicPr>
        <p:blipFill>
          <a:blip r:embed="rId1"/>
          <a:stretch>
            <a:fillRect/>
          </a:stretch>
        </p:blipFill>
        <p:spPr>
          <a:xfrm>
            <a:off x="7589520" y="1783080"/>
            <a:ext cx="548640" cy="548640"/>
          </a:xfrm>
          <a:prstGeom prst="rect">
            <a:avLst/>
          </a:prstGeom>
        </p:spPr>
      </p:pic>
      <p:sp>
        <p:nvSpPr>
          <p:cNvPr id="21" name="Text 18"/>
          <p:cNvSpPr txBox="1"/>
          <p:nvPr/>
        </p:nvSpPr>
        <p:spPr>
          <a:xfrm>
            <a:off x="7589520" y="2468880"/>
            <a:ext cx="3749040" cy="457200"/>
          </a:xfrm>
          <a:prstGeom prst="rect">
            <a:avLst/>
          </a:prstGeom>
          <a:noFill/>
          <a:ln/>
        </p:spPr>
        <p:txBody>
          <a:bodyPr wrap="square" lIns="0" tIns="0" rIns="0" bIns="0" rtlCol="0" anchor="ctr"/>
          <a:lstStyle/>
          <a:p>
            <a:pPr indent="0" marL="0">
              <a:buNone/>
            </a:pPr>
            <a:r>
              <a:rPr lang="en-US" sz="2000" b="1" dirty="0">
                <a:solidFill>
                  <a:srgbClr val="FFFFFF"/>
                </a:solidFill>
              </a:rPr>
              <a:t>Responsible by design</a:t>
            </a:r>
            <a:endParaRPr lang="en-US" sz="2000" dirty="0"/>
          </a:p>
        </p:txBody>
      </p:sp>
      <p:sp>
        <p:nvSpPr>
          <p:cNvPr id="22" name="Text 19"/>
          <p:cNvSpPr txBox="1"/>
          <p:nvPr/>
        </p:nvSpPr>
        <p:spPr>
          <a:xfrm>
            <a:off x="7589520" y="3017520"/>
            <a:ext cx="3794760" cy="27432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FFFFFF"/>
                </a:solidFill>
              </a:rPr>
              <a:t>Supports doctors and travellers, never diagnoses</a:t>
            </a:r>
            <a:endParaRPr lang="en-US" sz="1500" dirty="0"/>
          </a:p>
          <a:p>
            <a:pPr marL="342900" indent="-342900">
              <a:spcAft>
                <a:spcPts val="1000"/>
              </a:spcAft>
              <a:buSzPct val="100000"/>
              <a:buChar char="•"/>
            </a:pPr>
            <a:r>
              <a:rPr lang="en-US" sz="1500" dirty="0">
                <a:solidFill>
                  <a:srgbClr val="FFFFFF"/>
                </a:solidFill>
              </a:rPr>
              <a:t>Every recommendation shows its reason and source</a:t>
            </a:r>
            <a:endParaRPr lang="en-US" sz="1500" dirty="0"/>
          </a:p>
          <a:p>
            <a:pPr marL="342900" indent="-342900">
              <a:spcAft>
                <a:spcPts val="1000"/>
              </a:spcAft>
              <a:buSzPct val="100000"/>
              <a:buChar char="•"/>
            </a:pPr>
            <a:r>
              <a:rPr lang="en-US" sz="1500" dirty="0">
                <a:solidFill>
                  <a:srgbClr val="FFFFFF"/>
                </a:solidFill>
              </a:rPr>
              <a:t>Health data stays on the phone unless shared (GDPR)</a:t>
            </a:r>
            <a:endParaRPr lang="en-US" sz="1500" dirty="0"/>
          </a:p>
          <a:p>
            <a:pPr marL="342900" indent="-342900">
              <a:spcAft>
                <a:spcPts val="1000"/>
              </a:spcAft>
              <a:buSzPct val="100000"/>
              <a:buChar char="•"/>
            </a:pPr>
            <a:r>
              <a:rPr lang="en-US" sz="1500" dirty="0">
                <a:solidFill>
                  <a:srgbClr val="FFFFFF"/>
                </a:solidFill>
              </a:rPr>
              <a:t>Designed for EU AI Act rules on high-risk health AI</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6746D"/>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Why it matters for Dubrovnik, all year</a:t>
            </a:r>
            <a:endParaRPr lang="en-US" sz="3600" dirty="0"/>
          </a:p>
        </p:txBody>
      </p:sp>
      <p:sp>
        <p:nvSpPr>
          <p:cNvPr id="3" name="Shape 1"/>
          <p:cNvSpPr/>
          <p:nvPr/>
        </p:nvSpPr>
        <p:spPr>
          <a:xfrm>
            <a:off x="548640" y="1600200"/>
            <a:ext cx="640080" cy="640080"/>
          </a:xfrm>
          <a:prstGeom prst="ellipse">
            <a:avLst/>
          </a:prstGeom>
          <a:solidFill>
            <a:schemeClr val="accent6"/>
          </a:solidFill>
          <a:ln/>
        </p:spPr>
      </p:sp>
      <p:pic>
        <p:nvPicPr>
          <p:cNvPr id="4" name="Image 0" descr="preencoded.png">    </p:cNvPr>
          <p:cNvPicPr>
            <a:picLocks noChangeAspect="1"/>
          </p:cNvPicPr>
          <p:nvPr/>
        </p:nvPicPr>
        <p:blipFill>
          <a:blip r:embed="rId1"/>
          <a:stretch>
            <a:fillRect/>
          </a:stretch>
        </p:blipFill>
        <p:spPr>
          <a:xfrm>
            <a:off x="676656" y="1728216"/>
            <a:ext cx="384048" cy="384048"/>
          </a:xfrm>
          <a:prstGeom prst="rect">
            <a:avLst/>
          </a:prstGeom>
        </p:spPr>
      </p:pic>
      <p:sp>
        <p:nvSpPr>
          <p:cNvPr id="5" name="Text 2"/>
          <p:cNvSpPr txBox="1"/>
          <p:nvPr/>
        </p:nvSpPr>
        <p:spPr>
          <a:xfrm>
            <a:off x="1417320" y="1600200"/>
            <a:ext cx="4846320" cy="411480"/>
          </a:xfrm>
          <a:prstGeom prst="rect">
            <a:avLst/>
          </a:prstGeom>
          <a:noFill/>
          <a:ln/>
        </p:spPr>
        <p:txBody>
          <a:bodyPr wrap="square" lIns="0" tIns="0" rIns="0" bIns="0" rtlCol="0" anchor="ctr"/>
          <a:lstStyle/>
          <a:p>
            <a:pPr indent="0" marL="0">
              <a:buNone/>
            </a:pPr>
            <a:r>
              <a:rPr lang="en-US" sz="1800" b="1" dirty="0">
                <a:solidFill>
                  <a:schemeClr val="tx1"/>
                </a:solidFill>
              </a:rPr>
              <a:t>Longer stays outside July and August</a:t>
            </a:r>
            <a:endParaRPr lang="en-US" sz="1800" dirty="0"/>
          </a:p>
        </p:txBody>
      </p:sp>
      <p:sp>
        <p:nvSpPr>
          <p:cNvPr id="6" name="Text 3"/>
          <p:cNvSpPr txBox="1"/>
          <p:nvPr/>
        </p:nvSpPr>
        <p:spPr>
          <a:xfrm>
            <a:off x="1417320" y="2011680"/>
            <a:ext cx="4846320" cy="685800"/>
          </a:xfrm>
          <a:prstGeom prst="rect">
            <a:avLst/>
          </a:prstGeom>
          <a:noFill/>
          <a:ln/>
        </p:spPr>
        <p:txBody>
          <a:bodyPr wrap="square" lIns="0" tIns="0" rIns="0" bIns="0" rtlCol="0" anchor="t"/>
          <a:lstStyle/>
          <a:p>
            <a:pPr indent="0" marL="0">
              <a:buNone/>
            </a:pPr>
            <a:r>
              <a:rPr lang="en-US" sz="1500" dirty="0">
                <a:solidFill>
                  <a:schemeClr val="accent5"/>
                </a:solidFill>
              </a:rPr>
              <a:t>Recovery and rehab guests stay weeks, from October to May.</a:t>
            </a:r>
            <a:endParaRPr lang="en-US" sz="1500" dirty="0"/>
          </a:p>
        </p:txBody>
      </p:sp>
      <p:sp>
        <p:nvSpPr>
          <p:cNvPr id="7" name="Shape 4"/>
          <p:cNvSpPr/>
          <p:nvPr/>
        </p:nvSpPr>
        <p:spPr>
          <a:xfrm>
            <a:off x="548640" y="2971800"/>
            <a:ext cx="640080" cy="640080"/>
          </a:xfrm>
          <a:prstGeom prst="ellipse">
            <a:avLst/>
          </a:prstGeom>
          <a:solidFill>
            <a:schemeClr val="accent6"/>
          </a:solidFill>
          <a:ln/>
        </p:spPr>
      </p:sp>
      <p:pic>
        <p:nvPicPr>
          <p:cNvPr id="8" name="Image 1" descr="preencoded.png">    </p:cNvPr>
          <p:cNvPicPr>
            <a:picLocks noChangeAspect="1"/>
          </p:cNvPicPr>
          <p:nvPr/>
        </p:nvPicPr>
        <p:blipFill>
          <a:blip r:embed="rId2"/>
          <a:stretch>
            <a:fillRect/>
          </a:stretch>
        </p:blipFill>
        <p:spPr>
          <a:xfrm>
            <a:off x="676656" y="3099816"/>
            <a:ext cx="384048" cy="384048"/>
          </a:xfrm>
          <a:prstGeom prst="rect">
            <a:avLst/>
          </a:prstGeom>
        </p:spPr>
      </p:pic>
      <p:sp>
        <p:nvSpPr>
          <p:cNvPr id="9" name="Text 5"/>
          <p:cNvSpPr txBox="1"/>
          <p:nvPr/>
        </p:nvSpPr>
        <p:spPr>
          <a:xfrm>
            <a:off x="1417320" y="2971800"/>
            <a:ext cx="4846320" cy="411480"/>
          </a:xfrm>
          <a:prstGeom prst="rect">
            <a:avLst/>
          </a:prstGeom>
          <a:noFill/>
          <a:ln/>
        </p:spPr>
        <p:txBody>
          <a:bodyPr wrap="square" lIns="0" tIns="0" rIns="0" bIns="0" rtlCol="0" anchor="ctr"/>
          <a:lstStyle/>
          <a:p>
            <a:pPr indent="0" marL="0">
              <a:buNone/>
            </a:pPr>
            <a:r>
              <a:rPr lang="en-US" sz="1800" b="1" dirty="0">
                <a:solidFill>
                  <a:schemeClr val="tx1"/>
                </a:solidFill>
              </a:rPr>
              <a:t>Money stays with local families</a:t>
            </a:r>
            <a:endParaRPr lang="en-US" sz="1800" dirty="0"/>
          </a:p>
        </p:txBody>
      </p:sp>
      <p:sp>
        <p:nvSpPr>
          <p:cNvPr id="10" name="Text 6"/>
          <p:cNvSpPr txBox="1"/>
          <p:nvPr/>
        </p:nvSpPr>
        <p:spPr>
          <a:xfrm>
            <a:off x="1417320" y="3383280"/>
            <a:ext cx="4846320" cy="685800"/>
          </a:xfrm>
          <a:prstGeom prst="rect">
            <a:avLst/>
          </a:prstGeom>
          <a:noFill/>
          <a:ln/>
        </p:spPr>
        <p:txBody>
          <a:bodyPr wrap="square" lIns="0" tIns="0" rIns="0" bIns="0" rtlCol="0" anchor="t"/>
          <a:lstStyle/>
          <a:p>
            <a:pPr indent="0" marL="0">
              <a:buNone/>
            </a:pPr>
            <a:r>
              <a:rPr lang="en-US" sz="1500" dirty="0">
                <a:solidFill>
                  <a:schemeClr val="accent5"/>
                </a:solidFill>
              </a:rPr>
              <a:t>Family farms, adapted taxis, spas and local guides.</a:t>
            </a:r>
            <a:endParaRPr lang="en-US" sz="1500" dirty="0"/>
          </a:p>
        </p:txBody>
      </p:sp>
      <p:sp>
        <p:nvSpPr>
          <p:cNvPr id="11" name="Shape 7"/>
          <p:cNvSpPr/>
          <p:nvPr/>
        </p:nvSpPr>
        <p:spPr>
          <a:xfrm>
            <a:off x="548640" y="4343400"/>
            <a:ext cx="640080" cy="640080"/>
          </a:xfrm>
          <a:prstGeom prst="ellipse">
            <a:avLst/>
          </a:prstGeom>
          <a:solidFill>
            <a:schemeClr val="accent6"/>
          </a:solidFill>
          <a:ln/>
        </p:spPr>
      </p:sp>
      <p:pic>
        <p:nvPicPr>
          <p:cNvPr id="12" name="Image 2" descr="preencoded.png">    </p:cNvPr>
          <p:cNvPicPr>
            <a:picLocks noChangeAspect="1"/>
          </p:cNvPicPr>
          <p:nvPr/>
        </p:nvPicPr>
        <p:blipFill>
          <a:blip r:embed="rId3"/>
          <a:stretch>
            <a:fillRect/>
          </a:stretch>
        </p:blipFill>
        <p:spPr>
          <a:xfrm>
            <a:off x="676656" y="4471416"/>
            <a:ext cx="384048" cy="384048"/>
          </a:xfrm>
          <a:prstGeom prst="rect">
            <a:avLst/>
          </a:prstGeom>
        </p:spPr>
      </p:pic>
      <p:sp>
        <p:nvSpPr>
          <p:cNvPr id="13" name="Text 8"/>
          <p:cNvSpPr txBox="1"/>
          <p:nvPr/>
        </p:nvSpPr>
        <p:spPr>
          <a:xfrm>
            <a:off x="1417320" y="4343400"/>
            <a:ext cx="4846320" cy="411480"/>
          </a:xfrm>
          <a:prstGeom prst="rect">
            <a:avLst/>
          </a:prstGeom>
          <a:noFill/>
          <a:ln/>
        </p:spPr>
        <p:txBody>
          <a:bodyPr wrap="square" lIns="0" tIns="0" rIns="0" bIns="0" rtlCol="0" anchor="ctr"/>
          <a:lstStyle/>
          <a:p>
            <a:pPr indent="0" marL="0">
              <a:buNone/>
            </a:pPr>
            <a:r>
              <a:rPr lang="en-US" sz="1800" b="1" dirty="0">
                <a:solidFill>
                  <a:schemeClr val="tx1"/>
                </a:solidFill>
              </a:rPr>
              <a:t>Fewer people in the Old Town on cruise days</a:t>
            </a:r>
            <a:endParaRPr lang="en-US" sz="1800" dirty="0"/>
          </a:p>
        </p:txBody>
      </p:sp>
      <p:sp>
        <p:nvSpPr>
          <p:cNvPr id="14" name="Text 9"/>
          <p:cNvSpPr txBox="1"/>
          <p:nvPr/>
        </p:nvSpPr>
        <p:spPr>
          <a:xfrm>
            <a:off x="1417320" y="4754880"/>
            <a:ext cx="4846320" cy="685800"/>
          </a:xfrm>
          <a:prstGeom prst="rect">
            <a:avLst/>
          </a:prstGeom>
          <a:noFill/>
          <a:ln/>
        </p:spPr>
        <p:txBody>
          <a:bodyPr wrap="square" lIns="0" tIns="0" rIns="0" bIns="0" rtlCol="0" anchor="t"/>
          <a:lstStyle/>
          <a:p>
            <a:pPr indent="0" marL="0">
              <a:buNone/>
            </a:pPr>
            <a:r>
              <a:rPr lang="en-US" sz="1500" dirty="0">
                <a:solidFill>
                  <a:schemeClr val="accent5"/>
                </a:solidFill>
              </a:rPr>
              <a:t>Vita suggests the Neretva delta, Ston or Lokrum instead.</a:t>
            </a:r>
            <a:endParaRPr lang="en-US" sz="1500" dirty="0"/>
          </a:p>
        </p:txBody>
      </p:sp>
      <p:pic>
        <p:nvPicPr>
          <p:cNvPr id="15" name="Mandarin harvest" descr="preencoded.png">    </p:cNvPr>
          <p:cNvPicPr>
            <a:picLocks noChangeAspect="1"/>
          </p:cNvPicPr>
          <p:nvPr/>
        </p:nvPicPr>
        <p:blipFill>
          <a:blip r:embed="rId4"/>
          <a:srcRect l="4701" r="4701" t="0" b="0"/>
          <a:stretch/>
        </p:blipFill>
        <p:spPr>
          <a:xfrm>
            <a:off x="6583680" y="1463040"/>
            <a:ext cx="2423160" cy="1783080"/>
          </a:xfrm>
          <a:prstGeom prst="rect">
            <a:avLst/>
          </a:prstGeom>
        </p:spPr>
      </p:pic>
      <p:sp>
        <p:nvSpPr>
          <p:cNvPr id="16" name="Text 10"/>
          <p:cNvSpPr txBox="1"/>
          <p:nvPr/>
        </p:nvSpPr>
        <p:spPr>
          <a:xfrm>
            <a:off x="6583680" y="3310128"/>
            <a:ext cx="2423160" cy="320040"/>
          </a:xfrm>
          <a:prstGeom prst="rect">
            <a:avLst/>
          </a:prstGeom>
          <a:noFill/>
          <a:ln/>
        </p:spPr>
        <p:txBody>
          <a:bodyPr wrap="square" lIns="0" tIns="0" rIns="0" bIns="0" rtlCol="0" anchor="ctr"/>
          <a:lstStyle/>
          <a:p>
            <a:pPr indent="0" marL="0">
              <a:buNone/>
            </a:pPr>
            <a:r>
              <a:rPr lang="en-US" sz="1400" b="1" dirty="0">
                <a:solidFill>
                  <a:schemeClr val="tx1"/>
                </a:solidFill>
              </a:rPr>
              <a:t>Mandarin harvest</a:t>
            </a:r>
            <a:endParaRPr lang="en-US" sz="1400" dirty="0"/>
          </a:p>
        </p:txBody>
      </p:sp>
      <p:pic>
        <p:nvPicPr>
          <p:cNvPr id="17" name="Grape harvest" descr="preencoded.png">    </p:cNvPr>
          <p:cNvPicPr>
            <a:picLocks noChangeAspect="1"/>
          </p:cNvPicPr>
          <p:nvPr/>
        </p:nvPicPr>
        <p:blipFill>
          <a:blip r:embed="rId5"/>
          <a:srcRect l="1001" r="1001" t="0" b="0"/>
          <a:stretch/>
        </p:blipFill>
        <p:spPr>
          <a:xfrm>
            <a:off x="9189720" y="1463040"/>
            <a:ext cx="2423160" cy="1783080"/>
          </a:xfrm>
          <a:prstGeom prst="rect">
            <a:avLst/>
          </a:prstGeom>
        </p:spPr>
      </p:pic>
      <p:sp>
        <p:nvSpPr>
          <p:cNvPr id="18" name="Text 11"/>
          <p:cNvSpPr txBox="1"/>
          <p:nvPr/>
        </p:nvSpPr>
        <p:spPr>
          <a:xfrm>
            <a:off x="9189720" y="3310128"/>
            <a:ext cx="2423160" cy="320040"/>
          </a:xfrm>
          <a:prstGeom prst="rect">
            <a:avLst/>
          </a:prstGeom>
          <a:noFill/>
          <a:ln/>
        </p:spPr>
        <p:txBody>
          <a:bodyPr wrap="square" lIns="0" tIns="0" rIns="0" bIns="0" rtlCol="0" anchor="ctr"/>
          <a:lstStyle/>
          <a:p>
            <a:pPr indent="0" marL="0">
              <a:buNone/>
            </a:pPr>
            <a:r>
              <a:rPr lang="en-US" sz="1400" b="1" dirty="0">
                <a:solidFill>
                  <a:schemeClr val="tx1"/>
                </a:solidFill>
              </a:rPr>
              <a:t>Grape harvest</a:t>
            </a:r>
            <a:endParaRPr lang="en-US" sz="1400" dirty="0"/>
          </a:p>
        </p:txBody>
      </p:sp>
      <p:pic>
        <p:nvPicPr>
          <p:cNvPr id="19" name="Olive picking" descr="preencoded.png">    </p:cNvPr>
          <p:cNvPicPr>
            <a:picLocks noChangeAspect="1"/>
          </p:cNvPicPr>
          <p:nvPr/>
        </p:nvPicPr>
        <p:blipFill>
          <a:blip r:embed="rId6"/>
          <a:srcRect l="0" r="0" t="943" b="943"/>
          <a:stretch/>
        </p:blipFill>
        <p:spPr>
          <a:xfrm>
            <a:off x="6583680" y="3840480"/>
            <a:ext cx="2423160" cy="1783080"/>
          </a:xfrm>
          <a:prstGeom prst="rect">
            <a:avLst/>
          </a:prstGeom>
        </p:spPr>
      </p:pic>
      <p:sp>
        <p:nvSpPr>
          <p:cNvPr id="20" name="Text 12"/>
          <p:cNvSpPr txBox="1"/>
          <p:nvPr/>
        </p:nvSpPr>
        <p:spPr>
          <a:xfrm>
            <a:off x="6583680" y="5687568"/>
            <a:ext cx="2423160" cy="320040"/>
          </a:xfrm>
          <a:prstGeom prst="rect">
            <a:avLst/>
          </a:prstGeom>
          <a:noFill/>
          <a:ln/>
        </p:spPr>
        <p:txBody>
          <a:bodyPr wrap="square" lIns="0" tIns="0" rIns="0" bIns="0" rtlCol="0" anchor="ctr"/>
          <a:lstStyle/>
          <a:p>
            <a:pPr indent="0" marL="0">
              <a:buNone/>
            </a:pPr>
            <a:r>
              <a:rPr lang="en-US" sz="1400" b="1" dirty="0">
                <a:solidFill>
                  <a:schemeClr val="tx1"/>
                </a:solidFill>
              </a:rPr>
              <a:t>Olive picking</a:t>
            </a:r>
            <a:endParaRPr lang="en-US" sz="1400" dirty="0"/>
          </a:p>
        </p:txBody>
      </p:sp>
      <p:pic>
        <p:nvPicPr>
          <p:cNvPr id="21" name="Green Sea Safari clean-ups" descr="preencoded.png">    </p:cNvPr>
          <p:cNvPicPr>
            <a:picLocks noChangeAspect="1"/>
          </p:cNvPicPr>
          <p:nvPr/>
        </p:nvPicPr>
        <p:blipFill>
          <a:blip r:embed="rId7"/>
          <a:srcRect l="4701" r="4701" t="0" b="0"/>
          <a:stretch/>
        </p:blipFill>
        <p:spPr>
          <a:xfrm>
            <a:off x="9189720" y="3840480"/>
            <a:ext cx="2423160" cy="1783080"/>
          </a:xfrm>
          <a:prstGeom prst="rect">
            <a:avLst/>
          </a:prstGeom>
        </p:spPr>
      </p:pic>
      <p:sp>
        <p:nvSpPr>
          <p:cNvPr id="22" name="Text 13"/>
          <p:cNvSpPr txBox="1"/>
          <p:nvPr/>
        </p:nvSpPr>
        <p:spPr>
          <a:xfrm>
            <a:off x="9189720" y="5687568"/>
            <a:ext cx="2423160" cy="320040"/>
          </a:xfrm>
          <a:prstGeom prst="rect">
            <a:avLst/>
          </a:prstGeom>
          <a:noFill/>
          <a:ln/>
        </p:spPr>
        <p:txBody>
          <a:bodyPr wrap="square" lIns="0" tIns="0" rIns="0" bIns="0" rtlCol="0" anchor="ctr"/>
          <a:lstStyle/>
          <a:p>
            <a:pPr indent="0" marL="0">
              <a:buNone/>
            </a:pPr>
            <a:r>
              <a:rPr lang="en-US" sz="1400" b="1" dirty="0">
                <a:solidFill>
                  <a:schemeClr val="tx1"/>
                </a:solidFill>
              </a:rPr>
              <a:t>Green Sea Safari clean-ups</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6746D"/>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How it earns, and what comes next</a:t>
            </a:r>
            <a:endParaRPr lang="en-US" sz="3600" dirty="0"/>
          </a:p>
        </p:txBody>
      </p:sp>
      <p:sp>
        <p:nvSpPr>
          <p:cNvPr id="3" name="Shape 1"/>
          <p:cNvSpPr/>
          <p:nvPr/>
        </p:nvSpPr>
        <p:spPr>
          <a:xfrm>
            <a:off x="548640" y="1554480"/>
            <a:ext cx="640080" cy="640080"/>
          </a:xfrm>
          <a:prstGeom prst="ellipse">
            <a:avLst/>
          </a:prstGeom>
          <a:solidFill>
            <a:schemeClr val="accent6"/>
          </a:solidFill>
          <a:ln/>
        </p:spPr>
      </p:sp>
      <p:pic>
        <p:nvPicPr>
          <p:cNvPr id="4" name="Image 0" descr="preencoded.png">    </p:cNvPr>
          <p:cNvPicPr>
            <a:picLocks noChangeAspect="1"/>
          </p:cNvPicPr>
          <p:nvPr/>
        </p:nvPicPr>
        <p:blipFill>
          <a:blip r:embed="rId1"/>
          <a:stretch>
            <a:fillRect/>
          </a:stretch>
        </p:blipFill>
        <p:spPr>
          <a:xfrm>
            <a:off x="676656" y="1682496"/>
            <a:ext cx="384048" cy="384048"/>
          </a:xfrm>
          <a:prstGeom prst="rect">
            <a:avLst/>
          </a:prstGeom>
        </p:spPr>
      </p:pic>
      <p:sp>
        <p:nvSpPr>
          <p:cNvPr id="5" name="Text 2"/>
          <p:cNvSpPr txBox="1"/>
          <p:nvPr/>
        </p:nvSpPr>
        <p:spPr>
          <a:xfrm>
            <a:off x="1417320" y="1664208"/>
            <a:ext cx="4114800" cy="411480"/>
          </a:xfrm>
          <a:prstGeom prst="rect">
            <a:avLst/>
          </a:prstGeom>
          <a:noFill/>
          <a:ln/>
        </p:spPr>
        <p:txBody>
          <a:bodyPr wrap="square" lIns="0" tIns="0" rIns="0" bIns="0" rtlCol="0" anchor="ctr"/>
          <a:lstStyle/>
          <a:p>
            <a:pPr indent="0" marL="0">
              <a:buNone/>
            </a:pPr>
            <a:r>
              <a:rPr lang="en-US" sz="2000" b="1" dirty="0">
                <a:solidFill>
                  <a:schemeClr val="tx1"/>
                </a:solidFill>
              </a:rPr>
              <a:t>How it earns</a:t>
            </a:r>
            <a:endParaRPr lang="en-US" sz="2000" dirty="0"/>
          </a:p>
        </p:txBody>
      </p:sp>
      <p:sp>
        <p:nvSpPr>
          <p:cNvPr id="6" name="Text 3"/>
          <p:cNvSpPr txBox="1"/>
          <p:nvPr/>
        </p:nvSpPr>
        <p:spPr>
          <a:xfrm>
            <a:off x="548640" y="2468880"/>
            <a:ext cx="5120640" cy="329184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chemeClr val="tx1"/>
                </a:solidFill>
              </a:rPr>
              <a:t>Commission on clinic, rehab and stay bookings</a:t>
            </a:r>
            <a:endParaRPr lang="en-US" sz="1600" dirty="0"/>
          </a:p>
          <a:p>
            <a:pPr marL="342900" indent="-342900">
              <a:spcAft>
                <a:spcPts val="1200"/>
              </a:spcAft>
              <a:buSzPct val="100000"/>
              <a:buChar char="•"/>
            </a:pPr>
            <a:r>
              <a:rPr lang="en-US" sz="1600" dirty="0">
                <a:solidFill>
                  <a:schemeClr val="tx1"/>
                </a:solidFill>
              </a:rPr>
              <a:t>Partner fees from adapted transport and hotels</a:t>
            </a:r>
            <a:endParaRPr lang="en-US" sz="1600" dirty="0"/>
          </a:p>
          <a:p>
            <a:pPr marL="342900" indent="-342900">
              <a:spcAft>
                <a:spcPts val="1200"/>
              </a:spcAft>
              <a:buSzPct val="100000"/>
              <a:buChar char="•"/>
            </a:pPr>
            <a:r>
              <a:rPr lang="en-US" sz="1600" dirty="0">
                <a:solidFill>
                  <a:schemeClr val="tx1"/>
                </a:solidFill>
              </a:rPr>
              <a:t>B2B: insurers and hotels offer the safety net to their guests</a:t>
            </a:r>
            <a:endParaRPr lang="en-US" sz="1600" dirty="0"/>
          </a:p>
          <a:p>
            <a:pPr marL="342900" indent="-342900">
              <a:spcAft>
                <a:spcPts val="1200"/>
              </a:spcAft>
              <a:buSzPct val="100000"/>
              <a:buChar char="•"/>
            </a:pPr>
            <a:r>
              <a:rPr lang="en-US" sz="1600" dirty="0">
                <a:solidFill>
                  <a:schemeClr val="tx1"/>
                </a:solidFill>
              </a:rPr>
              <a:t>Free for travellers in an emergency</a:t>
            </a:r>
            <a:endParaRPr lang="en-US" sz="1600" dirty="0"/>
          </a:p>
        </p:txBody>
      </p:sp>
      <p:sp>
        <p:nvSpPr>
          <p:cNvPr id="7" name="Shape 4"/>
          <p:cNvSpPr/>
          <p:nvPr/>
        </p:nvSpPr>
        <p:spPr>
          <a:xfrm>
            <a:off x="6400800" y="1554480"/>
            <a:ext cx="640080" cy="640080"/>
          </a:xfrm>
          <a:prstGeom prst="ellipse">
            <a:avLst/>
          </a:prstGeom>
          <a:solidFill>
            <a:schemeClr val="accent6"/>
          </a:solidFill>
          <a:ln/>
        </p:spPr>
      </p:sp>
      <p:pic>
        <p:nvPicPr>
          <p:cNvPr id="8" name="Image 1" descr="preencoded.png">    </p:cNvPr>
          <p:cNvPicPr>
            <a:picLocks noChangeAspect="1"/>
          </p:cNvPicPr>
          <p:nvPr/>
        </p:nvPicPr>
        <p:blipFill>
          <a:blip r:embed="rId2"/>
          <a:stretch>
            <a:fillRect/>
          </a:stretch>
        </p:blipFill>
        <p:spPr>
          <a:xfrm>
            <a:off x="6528816" y="1682496"/>
            <a:ext cx="384048" cy="384048"/>
          </a:xfrm>
          <a:prstGeom prst="rect">
            <a:avLst/>
          </a:prstGeom>
        </p:spPr>
      </p:pic>
      <p:sp>
        <p:nvSpPr>
          <p:cNvPr id="9" name="Text 5"/>
          <p:cNvSpPr txBox="1"/>
          <p:nvPr/>
        </p:nvSpPr>
        <p:spPr>
          <a:xfrm>
            <a:off x="7269480" y="1664208"/>
            <a:ext cx="4114800" cy="411480"/>
          </a:xfrm>
          <a:prstGeom prst="rect">
            <a:avLst/>
          </a:prstGeom>
          <a:noFill/>
          <a:ln/>
        </p:spPr>
        <p:txBody>
          <a:bodyPr wrap="square" lIns="0" tIns="0" rIns="0" bIns="0" rtlCol="0" anchor="ctr"/>
          <a:lstStyle/>
          <a:p>
            <a:pPr indent="0" marL="0">
              <a:buNone/>
            </a:pPr>
            <a:r>
              <a:rPr lang="en-US" sz="2000" b="1" dirty="0">
                <a:solidFill>
                  <a:schemeClr val="tx1"/>
                </a:solidFill>
              </a:rPr>
              <a:t>Next steps</a:t>
            </a:r>
            <a:endParaRPr lang="en-US" sz="2000" dirty="0"/>
          </a:p>
        </p:txBody>
      </p:sp>
      <p:sp>
        <p:nvSpPr>
          <p:cNvPr id="10" name="Shape 6"/>
          <p:cNvSpPr/>
          <p:nvPr/>
        </p:nvSpPr>
        <p:spPr>
          <a:xfrm>
            <a:off x="6400800" y="2468880"/>
            <a:ext cx="457200" cy="457200"/>
          </a:xfrm>
          <a:prstGeom prst="ellipse">
            <a:avLst/>
          </a:prstGeom>
          <a:solidFill>
            <a:schemeClr val="tx2"/>
          </a:solidFill>
          <a:ln/>
        </p:spPr>
      </p:sp>
      <p:sp>
        <p:nvSpPr>
          <p:cNvPr id="11" name="Text 7"/>
          <p:cNvSpPr txBox="1"/>
          <p:nvPr/>
        </p:nvSpPr>
        <p:spPr>
          <a:xfrm>
            <a:off x="6400800" y="2468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12" name="Text 8"/>
          <p:cNvSpPr txBox="1"/>
          <p:nvPr/>
        </p:nvSpPr>
        <p:spPr>
          <a:xfrm>
            <a:off x="7040880" y="2423160"/>
            <a:ext cx="4572000" cy="685800"/>
          </a:xfrm>
          <a:prstGeom prst="rect">
            <a:avLst/>
          </a:prstGeom>
          <a:noFill/>
          <a:ln/>
        </p:spPr>
        <p:txBody>
          <a:bodyPr wrap="square" lIns="0" tIns="0" rIns="0" bIns="0" rtlCol="0" anchor="t"/>
          <a:lstStyle/>
          <a:p>
            <a:pPr indent="0" marL="0">
              <a:buNone/>
            </a:pPr>
            <a:r>
              <a:rPr lang="en-US" sz="1600" dirty="0">
                <a:solidFill>
                  <a:schemeClr val="tx1"/>
                </a:solidFill>
              </a:rPr>
              <a:t>Pilot in Dubrovnik with a rehab centre, adapted taxis and local farms</a:t>
            </a:r>
            <a:endParaRPr lang="en-US" sz="1600" dirty="0"/>
          </a:p>
        </p:txBody>
      </p:sp>
      <p:sp>
        <p:nvSpPr>
          <p:cNvPr id="13" name="Shape 9"/>
          <p:cNvSpPr/>
          <p:nvPr/>
        </p:nvSpPr>
        <p:spPr>
          <a:xfrm>
            <a:off x="6400800" y="3337560"/>
            <a:ext cx="457200" cy="457200"/>
          </a:xfrm>
          <a:prstGeom prst="ellipse">
            <a:avLst/>
          </a:prstGeom>
          <a:solidFill>
            <a:schemeClr val="tx2"/>
          </a:solidFill>
          <a:ln/>
        </p:spPr>
      </p:sp>
      <p:sp>
        <p:nvSpPr>
          <p:cNvPr id="14" name="Text 10"/>
          <p:cNvSpPr txBox="1"/>
          <p:nvPr/>
        </p:nvSpPr>
        <p:spPr>
          <a:xfrm>
            <a:off x="6400800" y="33375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5" name="Text 11"/>
          <p:cNvSpPr txBox="1"/>
          <p:nvPr/>
        </p:nvSpPr>
        <p:spPr>
          <a:xfrm>
            <a:off x="7040880" y="3291840"/>
            <a:ext cx="4572000" cy="685800"/>
          </a:xfrm>
          <a:prstGeom prst="rect">
            <a:avLst/>
          </a:prstGeom>
          <a:noFill/>
          <a:ln/>
        </p:spPr>
        <p:txBody>
          <a:bodyPr wrap="square" lIns="0" tIns="0" rIns="0" bIns="0" rtlCol="0" anchor="t"/>
          <a:lstStyle/>
          <a:p>
            <a:pPr indent="0" marL="0">
              <a:buNone/>
            </a:pPr>
            <a:r>
              <a:rPr lang="en-US" sz="1600" dirty="0">
                <a:solidFill>
                  <a:schemeClr val="tx1"/>
                </a:solidFill>
              </a:rPr>
              <a:t>Real AI chatbot in Croatian, English and German</a:t>
            </a:r>
            <a:endParaRPr lang="en-US" sz="1600" dirty="0"/>
          </a:p>
        </p:txBody>
      </p:sp>
      <p:sp>
        <p:nvSpPr>
          <p:cNvPr id="16" name="Shape 12"/>
          <p:cNvSpPr/>
          <p:nvPr/>
        </p:nvSpPr>
        <p:spPr>
          <a:xfrm>
            <a:off x="6400800" y="4206240"/>
            <a:ext cx="457200" cy="457200"/>
          </a:xfrm>
          <a:prstGeom prst="ellipse">
            <a:avLst/>
          </a:prstGeom>
          <a:solidFill>
            <a:schemeClr val="tx2"/>
          </a:solidFill>
          <a:ln/>
        </p:spPr>
      </p:sp>
      <p:sp>
        <p:nvSpPr>
          <p:cNvPr id="17" name="Text 13"/>
          <p:cNvSpPr txBox="1"/>
          <p:nvPr/>
        </p:nvSpPr>
        <p:spPr>
          <a:xfrm>
            <a:off x="6400800" y="42062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8" name="Text 14"/>
          <p:cNvSpPr txBox="1"/>
          <p:nvPr/>
        </p:nvSpPr>
        <p:spPr>
          <a:xfrm>
            <a:off x="7040880" y="4160520"/>
            <a:ext cx="4572000" cy="685800"/>
          </a:xfrm>
          <a:prstGeom prst="rect">
            <a:avLst/>
          </a:prstGeom>
          <a:noFill/>
          <a:ln/>
        </p:spPr>
        <p:txBody>
          <a:bodyPr wrap="square" lIns="0" tIns="0" rIns="0" bIns="0" rtlCol="0" anchor="t"/>
          <a:lstStyle/>
          <a:p>
            <a:pPr indent="0" marL="0">
              <a:buNone/>
            </a:pPr>
            <a:r>
              <a:rPr lang="en-US" sz="1600" dirty="0">
                <a:solidFill>
                  <a:schemeClr val="tx1"/>
                </a:solidFill>
              </a:rPr>
              <a:t>Live flight and transfer booking through official APIs</a:t>
            </a:r>
            <a:endParaRPr lang="en-US" sz="1600" dirty="0"/>
          </a:p>
        </p:txBody>
      </p:sp>
      <p:sp>
        <p:nvSpPr>
          <p:cNvPr id="19" name="Shape 15"/>
          <p:cNvSpPr/>
          <p:nvPr/>
        </p:nvSpPr>
        <p:spPr>
          <a:xfrm>
            <a:off x="6400800" y="5074920"/>
            <a:ext cx="457200" cy="457200"/>
          </a:xfrm>
          <a:prstGeom prst="ellipse">
            <a:avLst/>
          </a:prstGeom>
          <a:solidFill>
            <a:schemeClr val="tx2"/>
          </a:solidFill>
          <a:ln/>
        </p:spPr>
      </p:sp>
      <p:sp>
        <p:nvSpPr>
          <p:cNvPr id="20" name="Text 16"/>
          <p:cNvSpPr txBox="1"/>
          <p:nvPr/>
        </p:nvSpPr>
        <p:spPr>
          <a:xfrm>
            <a:off x="6400800" y="5074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1" name="Text 17"/>
          <p:cNvSpPr txBox="1"/>
          <p:nvPr/>
        </p:nvSpPr>
        <p:spPr>
          <a:xfrm>
            <a:off x="7040880" y="5029200"/>
            <a:ext cx="4572000" cy="685800"/>
          </a:xfrm>
          <a:prstGeom prst="rect">
            <a:avLst/>
          </a:prstGeom>
          <a:noFill/>
          <a:ln/>
        </p:spPr>
        <p:txBody>
          <a:bodyPr wrap="square" lIns="0" tIns="0" rIns="0" bIns="0" rtlCol="0" anchor="t"/>
          <a:lstStyle/>
          <a:p>
            <a:pPr indent="0" marL="0">
              <a:buNone/>
            </a:pPr>
            <a:r>
              <a:rPr lang="en-US" sz="1600" dirty="0">
                <a:solidFill>
                  <a:schemeClr val="tx1"/>
                </a:solidFill>
              </a:rPr>
              <a:t>Dashboard for doctors with the daily recovery summaries</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6746D"/>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Background photo" descr="preencoded.png">    </p:cNvPr>
          <p:cNvPicPr>
            <a:picLocks noChangeAspect="1"/>
          </p:cNvPicPr>
          <p:nvPr/>
        </p:nvPicPr>
        <p:blipFill>
          <a:blip r:embed="rId1"/>
          <a:srcRect l="0" r="0" t="6267" b="6267"/>
          <a:stretch/>
        </p:blipFill>
        <p:spPr>
          <a:xfrm>
            <a:off x="0" y="0"/>
            <a:ext cx="12191695" cy="6858000"/>
          </a:xfrm>
          <a:prstGeom prst="rect">
            <a:avLst/>
          </a:prstGeom>
        </p:spPr>
      </p:pic>
      <p:sp>
        <p:nvSpPr>
          <p:cNvPr id="3" name="Scrim"/>
          <p:cNvSpPr/>
          <p:nvPr/>
        </p:nvSpPr>
        <p:spPr>
          <a:xfrm>
            <a:off x="0" y="0"/>
            <a:ext cx="12191695" cy="6858000"/>
          </a:xfrm>
          <a:prstGeom prst="rect">
            <a:avLst/>
          </a:prstGeom>
          <a:solidFill>
            <a:srgbClr val="15201B">
              <a:alpha val="65000"/>
            </a:srgbClr>
          </a:solidFill>
          <a:ln/>
        </p:spPr>
      </p:sp>
      <p:sp>
        <p:nvSpPr>
          <p:cNvPr id="4" name="Text 1"/>
          <p:cNvSpPr txBox="1"/>
          <p:nvPr/>
        </p:nvSpPr>
        <p:spPr>
          <a:xfrm>
            <a:off x="548640" y="1554480"/>
            <a:ext cx="7315200" cy="2377440"/>
          </a:xfrm>
          <a:prstGeom prst="rect">
            <a:avLst/>
          </a:prstGeom>
          <a:noFill/>
          <a:ln/>
        </p:spPr>
        <p:txBody>
          <a:bodyPr wrap="square" lIns="0" tIns="0" rIns="0" bIns="0" rtlCol="0" anchor="t"/>
          <a:lstStyle/>
          <a:p>
            <a:pPr indent="0" marL="0">
              <a:lnSpc>
                <a:spcPct val="95000"/>
              </a:lnSpc>
              <a:buNone/>
            </a:pPr>
            <a:r>
              <a:rPr lang="en-US" sz="7200" b="1" dirty="0">
                <a:solidFill>
                  <a:srgbClr val="FFFFFF"/>
                </a:solidFill>
              </a:rPr>
              <a:t>You travel.</a:t>
            </a:r>
            <a:endParaRPr lang="en-US" sz="7200" dirty="0"/>
          </a:p>
          <a:p>
            <a:pPr indent="0" marL="0">
              <a:lnSpc>
                <a:spcPct val="95000"/>
              </a:lnSpc>
              <a:buNone/>
            </a:pPr>
            <a:r>
              <a:rPr lang="en-US" sz="7200" b="1" dirty="0">
                <a:solidFill>
                  <a:srgbClr val="FFFFFF"/>
                </a:solidFill>
              </a:rPr>
              <a:t>We care.</a:t>
            </a:r>
            <a:endParaRPr lang="en-US" sz="7200" dirty="0"/>
          </a:p>
        </p:txBody>
      </p:sp>
      <p:sp>
        <p:nvSpPr>
          <p:cNvPr id="5" name="Text 2"/>
          <p:cNvSpPr txBox="1"/>
          <p:nvPr/>
        </p:nvSpPr>
        <p:spPr>
          <a:xfrm>
            <a:off x="548640" y="4023360"/>
            <a:ext cx="6858000" cy="548640"/>
          </a:xfrm>
          <a:prstGeom prst="rect">
            <a:avLst/>
          </a:prstGeom>
          <a:noFill/>
          <a:ln/>
        </p:spPr>
        <p:txBody>
          <a:bodyPr wrap="square" lIns="0" tIns="0" rIns="0" bIns="0" rtlCol="0" anchor="ctr"/>
          <a:lstStyle/>
          <a:p>
            <a:pPr indent="0" marL="0">
              <a:buNone/>
            </a:pPr>
            <a:r>
              <a:rPr lang="en-US" sz="2200" dirty="0">
                <a:solidFill>
                  <a:srgbClr val="E3EEE8"/>
                </a:solidFill>
              </a:rPr>
              <a:t>Health in your pocket, for every traveller in Croatia.</a:t>
            </a:r>
            <a:endParaRPr lang="en-US" sz="2200" dirty="0"/>
          </a:p>
        </p:txBody>
      </p:sp>
      <p:sp>
        <p:nvSpPr>
          <p:cNvPr id="6" name="Text 3"/>
          <p:cNvSpPr txBox="1"/>
          <p:nvPr/>
        </p:nvSpPr>
        <p:spPr>
          <a:xfrm>
            <a:off x="548640" y="4937760"/>
            <a:ext cx="5486400" cy="548640"/>
          </a:xfrm>
          <a:prstGeom prst="rect">
            <a:avLst/>
          </a:prstGeom>
          <a:noFill/>
          <a:ln/>
        </p:spPr>
        <p:txBody>
          <a:bodyPr wrap="square" lIns="0" tIns="0" rIns="0" bIns="0" rtlCol="0" anchor="ctr"/>
          <a:lstStyle/>
          <a:p>
            <a:pPr indent="0" marL="0">
              <a:buNone/>
            </a:pPr>
            <a:r>
              <a:rPr lang="en-US" sz="2400" b="1" dirty="0">
                <a:solidFill>
                  <a:srgbClr val="B8E6CF"/>
                </a:solidFill>
              </a:rPr>
              <a:t>Thank you</a:t>
            </a:r>
            <a:endParaRPr lang="en-US" sz="2400" dirty="0"/>
          </a:p>
        </p:txBody>
      </p:sp>
      <p:sp>
        <p:nvSpPr>
          <p:cNvPr id="7" name="Shape 4"/>
          <p:cNvSpPr/>
          <p:nvPr/>
        </p:nvSpPr>
        <p:spPr>
          <a:xfrm>
            <a:off x="8412480" y="1828800"/>
            <a:ext cx="3017520" cy="3429000"/>
          </a:xfrm>
          <a:prstGeom prst="roundRect">
            <a:avLst>
              <a:gd name="adj" fmla="val 4545"/>
            </a:avLst>
          </a:prstGeom>
          <a:solidFill>
            <a:srgbClr val="FFFFFF"/>
          </a:solidFill>
          <a:ln/>
        </p:spPr>
      </p:sp>
      <p:pic>
        <p:nvPicPr>
          <p:cNvPr id="8" name="Image 1" descr="preencoded.png">    </p:cNvPr>
          <p:cNvPicPr>
            <a:picLocks noChangeAspect="1"/>
          </p:cNvPicPr>
          <p:nvPr/>
        </p:nvPicPr>
        <p:blipFill>
          <a:blip r:embed="rId2"/>
          <a:stretch>
            <a:fillRect/>
          </a:stretch>
        </p:blipFill>
        <p:spPr>
          <a:xfrm>
            <a:off x="8641080" y="2057400"/>
            <a:ext cx="2560320" cy="2560320"/>
          </a:xfrm>
          <a:prstGeom prst="rect">
            <a:avLst/>
          </a:prstGeom>
        </p:spPr>
      </p:pic>
      <p:sp>
        <p:nvSpPr>
          <p:cNvPr id="9" name="Text 5"/>
          <p:cNvSpPr txBox="1"/>
          <p:nvPr/>
        </p:nvSpPr>
        <p:spPr>
          <a:xfrm>
            <a:off x="8412480" y="4681728"/>
            <a:ext cx="3017520" cy="411480"/>
          </a:xfrm>
          <a:prstGeom prst="rect">
            <a:avLst/>
          </a:prstGeom>
          <a:noFill/>
          <a:ln/>
        </p:spPr>
        <p:txBody>
          <a:bodyPr wrap="square" lIns="0" tIns="0" rIns="0" bIns="0" rtlCol="0" anchor="ctr"/>
          <a:lstStyle/>
          <a:p>
            <a:pPr algn="ctr" indent="0" marL="0">
              <a:buNone/>
            </a:pPr>
            <a:r>
              <a:rPr lang="en-US" sz="1300" b="1" dirty="0">
                <a:solidFill>
                  <a:schemeClr val="tx1"/>
                </a:solidFill>
              </a:rPr>
              <a:t>dk129213.github.io/VitaNatura</a:t>
            </a:r>
            <a:endParaRPr lang="en-US" sz="1300" dirty="0"/>
          </a:p>
        </p:txBody>
      </p:sp>
    </p:spTree>
  </p:cSld>
  <p:clrMapOvr>
    <a:masterClrMapping/>
  </p:clrMapOvr>
</p:sld>
</file>

<file path=ppt/theme/theme1.xml><?xml version="1.0" encoding="utf-8"?>
<a:theme xmlns:a="http://schemas.openxmlformats.org/drawingml/2006/main" name="VitaNatura">
  <a:themeElements>
    <a:clrScheme name="VitaNatura">
      <a:dk1>
        <a:srgbClr val="15201B"/>
      </a:dk1>
      <a:lt1>
        <a:srgbClr val="FFFFFF"/>
      </a:lt1>
      <a:dk2>
        <a:srgbClr val="1D6B4F"/>
      </a:dk2>
      <a:lt2>
        <a:srgbClr val="EEF3EF"/>
      </a:lt2>
      <a:accent1>
        <a:srgbClr val="1D6B4F"/>
      </a:accent1>
      <a:accent2>
        <a:srgbClr val="5CC49A"/>
      </a:accent2>
      <a:accent3>
        <a:srgbClr val="9A5B00"/>
      </a:accent3>
      <a:accent4>
        <a:srgbClr val="B3261E"/>
      </a:accent4>
      <a:accent5>
        <a:srgbClr val="66746D"/>
      </a:accent5>
      <a:accent6>
        <a:srgbClr val="DCEFE5"/>
      </a:accent6>
      <a:hlink>
        <a:srgbClr val="1D6B4F"/>
      </a:hlink>
      <a:folHlink>
        <a:srgbClr val="47554E"/>
      </a:folHlink>
    </a:clrScheme>
    <a:fontScheme name="VitaNatura">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VitaNatura 365</dc:title>
  <dc:subject>PptxGenJS Presentation</dc:subject>
  <dc:creator>VitaNatura 365 team</dc:creator>
  <cp:lastModifiedBy>VitaNatura 365 team</cp:lastModifiedBy>
  <cp:revision>1</cp:revision>
  <dcterms:created xsi:type="dcterms:W3CDTF">2026-10-05T08:08:04Z</dcterms:created>
  <dcterms:modified xsi:type="dcterms:W3CDTF">2026-10-05T08:08:04Z</dcterms:modified>
</cp:coreProperties>
</file>