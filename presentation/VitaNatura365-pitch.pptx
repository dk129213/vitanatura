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Intro, about 20 s. Slogan, then one sentence: we are not a travel agency; we change the destination itself so it works all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1, about 45 s. The need for both the destination and the local community. Everything we propose builds on what is already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1, about 45 s. Two examples. The feast and the festival stay as they are; we add days after them, run by local associations, cooks, folklore groups and oyster farmers, who are paid. Visitors stay a week in February instead of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2, about 45 s. The most important point of the brief: concrete enhancements, not marketing. Each activity uses a place that exists today and needs only a small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2, about 45 s. Inclusion of the local community. In 2026 buyers paid about €0.65 a kilo for Neretva mandarins while they sold for about €2 at market, so selling to guests triples the farm's income per kilo. Residents also use the hides, paths and festival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3, about 45 s. Target audience and marketing. Main markets: Austria, Germany, the UK and Scandinavia. Family travel creators and wildlife photographers reach the other groups. First creator week: St. Blaise Week, February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3, about 50 s. Funding and feasibility. Municipalities such as Opuzen, Ston and Metković apply to the 85% infrastructure call; we join an Interreg partnership (80%) for the festival weeks and training; farms apply for CAP 73.14 themselves. Smaller sources: LAG Neretva (€10,000 to €25,000 per project), the Ministry's competitiveness call for hotels and farms (up to 70%), and the tourist boards for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Closing, about 15 s, then questions. Leave this slide up during Q&amp;A so the jury can scan the QR code. Likely questions: who runs the workshops (local associations and families, paid per event), what if it rains (indoor workshops, the oil mill, the salt works).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k129213.github.io/VitaNatura/" TargetMode="External"/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photo" descr="preencoded.png">    </p:cNvPr>
          <p:cNvPicPr>
            <a:picLocks noChangeAspect="1"/>
          </p:cNvPicPr>
          <p:nvPr/>
        </p:nvPicPr>
        <p:blipFill>
          <a:blip r:embed="rId1"/>
          <a:srcRect l="0" r="0" t="7635" b="763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01B">
              <a:alpha val="6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8E6CF"/>
                </a:solidFill>
              </a:rPr>
              <a:t>DUBROVNIK-NERETVA COUNTY · ALL YEAR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9144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400" b="1" dirty="0">
                <a:solidFill>
                  <a:srgbClr val="FFFFFF"/>
                </a:solidFill>
              </a:rPr>
              <a:t>You travel.</a:t>
            </a:r>
            <a:endParaRPr lang="en-US" sz="8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400" b="1" dirty="0">
                <a:solidFill>
                  <a:srgbClr val="FFFFFF"/>
                </a:solidFill>
              </a:rPr>
              <a:t>We care.</a:t>
            </a:r>
            <a:endParaRPr lang="en-US" sz="8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720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3EEE8"/>
                </a:solidFill>
              </a:rPr>
              <a:t>We change the region around Dubrovnik so it works in every season, for visitors and for the people who live there.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region is full for 3 months and empty for 6, though its best moments come in winter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November to March: hotels close, locals lose their income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Yet winter brings St. Blaise, Ston oysters, birds in the delta and the mandarin harvest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The reasons to come exist. The destination isn't set up for them</a:t>
            </a:r>
            <a:endParaRPr lang="en-US" sz="1900" dirty="0"/>
          </a:p>
        </p:txBody>
      </p:sp>
      <p:pic>
        <p:nvPicPr>
          <p:cNvPr id="4" name="Neretva delta" descr="preencoded.png">    </p:cNvPr>
          <p:cNvPicPr>
            <a:picLocks noChangeAspect="1"/>
          </p:cNvPicPr>
          <p:nvPr/>
        </p:nvPicPr>
        <p:blipFill>
          <a:blip r:embed="rId1"/>
          <a:srcRect l="11000" r="11000" t="0" b="0"/>
          <a:stretch/>
        </p:blipFill>
        <p:spPr>
          <a:xfrm>
            <a:off x="6400800" y="1691640"/>
            <a:ext cx="524225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 stretch one-day feasts into weeks that local people run</a:t>
            </a:r>
            <a:endParaRPr lang="en-US" sz="3000" dirty="0"/>
          </a:p>
        </p:txBody>
      </p:sp>
      <p:pic>
        <p:nvPicPr>
          <p:cNvPr id="3" name="St. Blaise" descr="preencoded.png">    </p:cNvPr>
          <p:cNvPicPr>
            <a:picLocks noChangeAspect="1"/>
          </p:cNvPicPr>
          <p:nvPr/>
        </p:nvPicPr>
        <p:blipFill>
          <a:blip r:embed="rId1"/>
          <a:srcRect l="0" r="0" t="15085" b="35198"/>
          <a:stretch/>
        </p:blipFill>
        <p:spPr>
          <a:xfrm>
            <a:off x="548640" y="1691640"/>
            <a:ext cx="5394960" cy="2011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886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ST. BLAISE · TODAY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3 February only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754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WITH US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St. Blaise Week, 3 to 9 Feb: cooking, flag and costume workshops, history walks, village day trips</a:t>
            </a:r>
            <a:endParaRPr lang="en-US" sz="1900" dirty="0"/>
          </a:p>
        </p:txBody>
      </p:sp>
      <p:pic>
        <p:nvPicPr>
          <p:cNvPr id="8" name="Ston oysters" descr="preencoded.png">    </p:cNvPr>
          <p:cNvPicPr>
            <a:picLocks noChangeAspect="1"/>
          </p:cNvPicPr>
          <p:nvPr/>
        </p:nvPicPr>
        <p:blipFill>
          <a:blip r:embed="rId2"/>
          <a:srcRect l="0" r="0" t="22220" b="22220"/>
          <a:stretch/>
        </p:blipFill>
        <p:spPr>
          <a:xfrm>
            <a:off x="6190488" y="1691640"/>
            <a:ext cx="5394960" cy="20116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90488" y="3886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STON OYSTERS · TODAY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190488" y="42062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A few days in March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6190488" y="4754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WITH US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190488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Every weekend, Feb to Apr: oyster farm boats, cooking workshops, the salt works and the walls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New activities in the countryside need only small, concrete changes on the ground</a:t>
            </a:r>
            <a:endParaRPr lang="en-US" sz="3000" dirty="0"/>
          </a:p>
        </p:txBody>
      </p:sp>
      <p:pic>
        <p:nvPicPr>
          <p:cNvPr id="3" name="Photo safari by lađa, Opuzen" descr="preencoded.png">    </p:cNvPr>
          <p:cNvPicPr>
            <a:picLocks noChangeAspect="1"/>
          </p:cNvPicPr>
          <p:nvPr/>
        </p:nvPicPr>
        <p:blipFill>
          <a:blip r:embed="rId1"/>
          <a:srcRect l="12063" r="12064" t="0" b="0"/>
          <a:stretch/>
        </p:blipFill>
        <p:spPr>
          <a:xfrm>
            <a:off x="548640" y="1691640"/>
            <a:ext cx="512064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ACTIVITY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1737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WHAT WE BUILD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035040" y="2039112"/>
            <a:ext cx="5608015" cy="0"/>
          </a:xfrm>
          <a:prstGeom prst="line">
            <a:avLst/>
          </a:prstGeom>
          <a:noFill/>
          <a:ln w="12700">
            <a:solidFill>
              <a:srgbClr val="D5DD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2148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Photo safari by lađa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148840"/>
            <a:ext cx="28648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Wooden photo hides at 3 viewpoints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035040" y="3026664"/>
            <a:ext cx="5608015" cy="0"/>
          </a:xfrm>
          <a:prstGeom prst="line">
            <a:avLst/>
          </a:prstGeom>
          <a:noFill/>
          <a:ln w="12700">
            <a:solidFill>
              <a:srgbClr val="D5DD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313639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Birdwatching, Oct to Apr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3136392"/>
            <a:ext cx="28648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marked route with boards in 4 languages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035040" y="4014216"/>
            <a:ext cx="5608015" cy="0"/>
          </a:xfrm>
          <a:prstGeom prst="line">
            <a:avLst/>
          </a:prstGeom>
          <a:noFill/>
          <a:ln w="12700">
            <a:solidFill>
              <a:srgbClr val="D5DD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412394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Mandarin and olive harvests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0" y="4123944"/>
            <a:ext cx="28648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Shade, seats and paths on the farms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5001768"/>
            <a:ext cx="5608015" cy="0"/>
          </a:xfrm>
          <a:prstGeom prst="line">
            <a:avLst/>
          </a:prstGeom>
          <a:noFill/>
          <a:ln w="12700">
            <a:solidFill>
              <a:srgbClr val="D5DD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35040" y="5111496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Ston walls in winter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778240" y="5111496"/>
            <a:ext cx="28648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Benches, water and winter opening hours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Local people earn from every activity, and harvests help farms directly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394960" cy="4480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PHOTO SAFARI CREATES JOBS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7744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Boatmen become certified guides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Young locals work as photographers and photo editors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Farm families serve breakfast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Local drivers bring guests</a:t>
            </a:r>
            <a:endParaRPr lang="en-US" sz="1900" dirty="0"/>
          </a:p>
        </p:txBody>
      </p:sp>
      <p:pic>
        <p:nvPicPr>
          <p:cNvPr id="6" name="Mandarins" descr="preencoded.png">    </p:cNvPr>
          <p:cNvPicPr>
            <a:picLocks noChangeAspect="1"/>
          </p:cNvPicPr>
          <p:nvPr/>
        </p:nvPicPr>
        <p:blipFill>
          <a:blip r:embed="rId1"/>
          <a:srcRect l="0" r="0" t="21168" b="21168"/>
          <a:stretch/>
        </p:blipFill>
        <p:spPr>
          <a:xfrm>
            <a:off x="6172200" y="1691640"/>
            <a:ext cx="5470855" cy="2103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72200" y="3977640"/>
            <a:ext cx="5470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HARVESTS HELP FARMS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4389120"/>
            <a:ext cx="54708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Visitors help pick when farms lack hands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Families sell fruit and oil straight to guests, for about 3 times the wholesale price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 bring empty nesters first, through influencers who join the events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394960" cy="2514600"/>
          </a:xfrm>
          <a:prstGeom prst="rect">
            <a:avLst/>
          </a:prstGeom>
          <a:solidFill>
            <a:srgbClr val="DCEFE5"/>
          </a:solidFill>
          <a:ln/>
        </p:spPr>
      </p:sp>
      <p:pic>
        <p:nvPicPr>
          <p:cNvPr id="4" name="Olive harvest" descr="preencoded.png">    </p:cNvPr>
          <p:cNvPicPr>
            <a:picLocks noChangeAspect="1"/>
          </p:cNvPicPr>
          <p:nvPr/>
        </p:nvPicPr>
        <p:blipFill>
          <a:blip r:embed="rId1"/>
          <a:srcRect l="0" r="0" t="27401" b="27401"/>
          <a:stretch/>
        </p:blipFill>
        <p:spPr>
          <a:xfrm>
            <a:off x="548640" y="4343400"/>
            <a:ext cx="5394960" cy="1828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WHO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286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Empty nesters, 50 to 65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8346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Free to travel off-season, they stay longer and come back. Families and nature lovers are welcome too.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1920240"/>
            <a:ext cx="5470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HOW: INFLUENCERS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2377440"/>
            <a:ext cx="54708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Slow-travel, food and photo creators, 45+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Invited to St. Blaise Week, oyster season and the photo safari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They film the boatmen, farmers and cooks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Own links show the bookings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EU funds can cover 80 to 85% of what we build, so it is realistic to start 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73352"/>
            <a:ext cx="7315200" cy="0"/>
          </a:xfrm>
          <a:prstGeom prst="line">
            <a:avLst/>
          </a:prstGeom>
          <a:noFill/>
          <a:ln w="12700">
            <a:solidFill>
              <a:srgbClr val="D5DD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830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85%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783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Programme Competitiveness and Cohesion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216712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€40M call for public tourism infrastructure · Hides, routes, benches; the municipality applies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52344"/>
            <a:ext cx="7315200" cy="0"/>
          </a:xfrm>
          <a:prstGeom prst="line">
            <a:avLst/>
          </a:prstGeom>
          <a:noFill/>
          <a:ln w="12700">
            <a:solidFill>
              <a:srgbClr val="D5DD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6207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80%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86207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Interreg Italy-Croatia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3246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€34.5M for culture and tourism · Festival weeks, guide training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831336"/>
            <a:ext cx="7315200" cy="0"/>
          </a:xfrm>
          <a:prstGeom prst="line">
            <a:avLst/>
          </a:prstGeom>
          <a:noFill/>
          <a:ln w="12700">
            <a:solidFill>
              <a:srgbClr val="D5DD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4106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50-85%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9410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EU rural development (CAP)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43251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Up to €200,000 per farm · Farm seating, paths, tasting rooms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0" y="1691640"/>
            <a:ext cx="3413455" cy="4480560"/>
          </a:xfrm>
          <a:prstGeom prst="rect">
            <a:avLst/>
          </a:prstGeom>
          <a:solidFill>
            <a:srgbClr val="DCEFE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0392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FEASIBLE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2377440"/>
            <a:ext cx="31391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Uses events, places and people that exist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Small builds, no new buildings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One partner hotel open in winter to start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Pilot in winter 2026/27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20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Sources: Ministry of Tourism and Sport; Interreg Italy-Croatia 2021-2027; CAP Strategic Plan 2023-2027, intervention 73.14.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photo" descr="preencoded.png">    </p:cNvPr>
          <p:cNvPicPr>
            <a:picLocks noChangeAspect="1"/>
          </p:cNvPicPr>
          <p:nvPr/>
        </p:nvPicPr>
        <p:blipFill>
          <a:blip r:embed="rId1"/>
          <a:srcRect l="0" r="0" t="3426" b="3426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01B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1887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You travel. We care.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7744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Feasts become festival weeks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The countryside gets small, real changes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Locals earn all year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EU funds cover most of it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937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E6CF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8686800" y="1463040"/>
            <a:ext cx="2926080" cy="3429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8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691640"/>
            <a:ext cx="2468880" cy="2468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Scan to explore the website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1264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C9D6CF"/>
                </a:solidFill>
              </a:rPr>
              <a:t>Photos, Wikimedia Commons: Neretva at Opuzen, croatiatipscom (CC0); St. Blaise feast, Mariobonacic (public domain); Mali Ston bay, Eranyo (CC BY 3.0); Fortifications at Ston, Tony Hisgett (CC BY 2.0); Neretva delta, Draceane (CC BY-SA 4.0); Mandarins, SKas (CC BY-SA 4.0); Olives, Anna.Massini (CC BY-SA 4.0).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taNatura">
  <a:themeElements>
    <a:clrScheme name="VitaNatura">
      <a:dk1>
        <a:srgbClr val="15201B"/>
      </a:dk1>
      <a:lt1>
        <a:srgbClr val="FFFFFF"/>
      </a:lt1>
      <a:dk2>
        <a:srgbClr val="1D6B4F"/>
      </a:dk2>
      <a:lt2>
        <a:srgbClr val="EEF3EF"/>
      </a:lt2>
      <a:accent1>
        <a:srgbClr val="1D6B4F"/>
      </a:accent1>
      <a:accent2>
        <a:srgbClr val="5CC49A"/>
      </a:accent2>
      <a:accent3>
        <a:srgbClr val="9A5B00"/>
      </a:accent3>
      <a:accent4>
        <a:srgbClr val="B3261E"/>
      </a:accent4>
      <a:accent5>
        <a:srgbClr val="66746D"/>
      </a:accent5>
      <a:accent6>
        <a:srgbClr val="DCEFE5"/>
      </a:accent6>
      <a:hlink>
        <a:srgbClr val="1D6B4F"/>
      </a:hlink>
      <a:folHlink>
        <a:srgbClr val="47554E"/>
      </a:folHlink>
    </a:clrScheme>
    <a:fontScheme name="VitaNatur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VitaNatura 365: You travel. We care.</dc:title>
  <dc:subject>PptxGenJS Presentation</dc:subject>
  <dc:creator>VitaNatura 365 team</dc:creator>
  <cp:lastModifiedBy>VitaNatura 365 team</cp:lastModifiedBy>
  <cp:revision>1</cp:revision>
  <dcterms:created xsi:type="dcterms:W3CDTF">2026-10-06T12:37:39Z</dcterms:created>
  <dcterms:modified xsi:type="dcterms:W3CDTF">2026-10-06T12:37:39Z</dcterms:modified>
</cp:coreProperties>
</file>