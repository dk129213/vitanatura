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dea" id="{cd2890bf-c0b8-7e99-ea32-a2a1243fde04}">
          <p14:sldIdLst>
            <p14:sldId id="256"/>
            <p14:sldId id="257"/>
            <p14:sldId id="258"/>
          </p14:sldIdLst>
        </p14:section>
        <p14:section name="On the ground" id="{63900b5d-c906-2cc8-82be-35e13e5f0f9f}">
          <p14:sldIdLst>
            <p14:sldId id="259"/>
            <p14:sldId id="260"/>
            <p14:sldId id="261"/>
          </p14:sldIdLst>
        </p14:section>
        <p14:section name="We care" id="{af437a4b-ffd6-ef3c-7d44-7544a33efc0d}">
          <p14:sldIdLst>
            <p14:sldId id="262"/>
          </p14:sldIdLst>
        </p14:section>
        <p14:section name="Feasibility" id="{b38fd0bc-4f1e-504c-96c3-9eda7e8e93d1}">
          <p14:sldIdLst>
            <p14:sldId id="263"/>
            <p14:sldId id="264"/>
          </p14:sldIdLst>
        </p14:section>
        <p14:section name="Close" id="{cbd15e3e-3810-3715-add8-0a9715adcd2c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s. Slogan first, then: we turn the countryside around Dubrovnik into a destination for the months it stands empty. The QR code opens the site, the jury can follow along on their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s. The need, for both sides: seasonality hurts the city and the people around it. And the countryside already has what visitors want in winter.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s. The content: ten tours away from the Old Town, every one open to children, every one with a realistic price checked against similar tours today. Plus a 7-night week with the partner hotel: €790 adult, €350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s. The most important point of the brief: concrete changes, not marketing. Small, cheap, real things in places that exist today. Every one has a local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Diversity and adaptability: nature, harvests, traditions and islands cover every month outside summer. Traditions that last a day become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Audience and experience: a slow, outdoor week with real local people, small groups, children welcome. One package makes it easy to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s. Uniqueness: rural tours far from help are exactly where tourists hesitate. Our guides have first aid and Vita handles the rest, so one accident doesn't end the trip. Health is a safety net, not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s. Sustainability and inclusion: locals earn from every tour, residents use the same paths and shows, and nature is protected by small groups and no new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s. Feasibility: most of the €114,000 comes from grants and partners; we earn a margin on every tour and package. Marketing budget €20,000 in year 1, mostly online and turning summer guests into autumn guests.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One line per jury criterion. Don't read them all: pick innovation, feasibility and uniqueness.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s, then questions. Repeat the slogan and point at the QR code. Likely questions: who pays for the hides (grants, 45%), is the photo safari new (yes, the boats exist, the format is new), what if it rains (indoor swaps: museum, oil mill, silk workshop).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46D"/>
                </a:solidFill>
              </a:rPr>
              <a:t>VitaNatura 365 · You travel. We care.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k129213.github.io/VitaNatura/" TargetMode="External"/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k129213.github.io/VitaNatura/tours/" TargetMode="External"/><Relationship Id="rId2" Type="http://schemas.openxmlformats.org/officeDocument/2006/relationships/image" Target="../media/image-3-1.jpeg"/><Relationship Id="rId3" Type="http://schemas.openxmlformats.org/officeDocument/2006/relationships/image" Target="../media/image-3-2.jpeg"/><Relationship Id="rId4" Type="http://schemas.openxmlformats.org/officeDocument/2006/relationships/image" Target="../media/image-3-3.jpeg"/><Relationship Id="rId5" Type="http://schemas.openxmlformats.org/officeDocument/2006/relationships/image" Target="../media/image-3-4.jpeg"/><Relationship Id="rId6" Type="http://schemas.openxmlformats.org/officeDocument/2006/relationships/image" Target="../media/image-3-5.jpeg"/><Relationship Id="rId7" Type="http://schemas.openxmlformats.org/officeDocument/2006/relationships/image" Target="../media/image-3-6.jpe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k129213.github.io/VitaNatura/calendar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eg"/><Relationship Id="rId5" Type="http://schemas.openxmlformats.org/officeDocument/2006/relationships/image" Target="../media/image-6-5.jpeg"/><Relationship Id="rId6" Type="http://schemas.openxmlformats.org/officeDocument/2006/relationships/image" Target="../media/image-6-6.jpeg"/><Relationship Id="rId7" Type="http://schemas.openxmlformats.org/officeDocument/2006/relationships/image" Target="../media/image-6-7.jpe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dk129213.github.io/VitaNatura/start/" TargetMode="External"/><Relationship Id="rId1" Type="http://schemas.openxmlformats.org/officeDocument/2006/relationships/image" Target="../media/image-7-1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k129213.github.io/VitaNatura/community/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jpeg"/><Relationship Id="rId4" Type="http://schemas.openxmlformats.org/officeDocument/2006/relationships/image" Target="../media/image-8-3.png"/><Relationship Id="rId5" Type="http://schemas.openxmlformats.org/officeDocument/2006/relationships/image" Target="../media/image-8-4.jpeg"/><Relationship Id="rId6" Type="http://schemas.openxmlformats.org/officeDocument/2006/relationships/image" Target="../media/image-8-5.png"/><Relationship Id="rId7" Type="http://schemas.openxmlformats.org/officeDocument/2006/relationships/image" Target="../media/image-8-6.jpe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k129213.github.io/VitaNatura/plan/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k129213.github.io/VitaNatura/" TargetMode="External"/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photo" descr="preencoded.png">    </p:cNvPr>
          <p:cNvPicPr>
            <a:picLocks noChangeAspect="1"/>
          </p:cNvPicPr>
          <p:nvPr/>
        </p:nvPicPr>
        <p:blipFill>
          <a:blip r:embed="rId1"/>
          <a:srcRect l="0" r="0" t="7666" b="7666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01B">
              <a:alpha val="6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8E6CF"/>
                </a:solidFill>
              </a:rPr>
              <a:t>AROUND DUBROVNIK · OCTOBER TO MAY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000" b="1" dirty="0">
                <a:solidFill>
                  <a:srgbClr val="FFFFFF"/>
                </a:solidFill>
              </a:rPr>
              <a:t>You travel.</a:t>
            </a:r>
            <a:endParaRPr lang="en-US" sz="80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000" b="1" dirty="0">
                <a:solidFill>
                  <a:srgbClr val="FFFFFF"/>
                </a:solidFill>
              </a:rPr>
              <a:t>We care.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891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3EEE8"/>
                </a:solidFill>
              </a:rPr>
              <a:t>The Dubrovnik nobody shows you: the Neretva delta, Ston, Konavle and quiet islands, out of season.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CF"/>
                </a:solidFill>
              </a:rPr>
              <a:t>VitaNatura 365 · Tourism 365 hackathon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778240" y="1920240"/>
            <a:ext cx="274320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pic>
        <p:nvPicPr>
          <p:cNvPr id="9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148840"/>
            <a:ext cx="2286000" cy="2286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77824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Scan: see every tour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Full for 3 months. Empty for 6.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76426"/>
            <a:ext cx="340157" cy="3401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For the destination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84708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The Old Town is packed on cruise days in summer. From November to March hotels close and the region goes quiet.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6" y="30394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926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For the local community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33101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Boatmen, farms, guides and hotel staff lose their income for half the year. Young people leave the valley.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3891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4502506"/>
            <a:ext cx="340157" cy="34015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389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What is already there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477316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 bird-filled delta, mandarin and olive harvests, Europe's longest walls, oysters at their best in winter, car-free islands.</a:t>
            </a:r>
            <a:endParaRPr lang="en-US" sz="1500" dirty="0"/>
          </a:p>
        </p:txBody>
      </p:sp>
      <p:pic>
        <p:nvPicPr>
          <p:cNvPr id="15" name="Neretva delta" descr="preencoded.png">    </p:cNvPr>
          <p:cNvPicPr>
            <a:picLocks noChangeAspect="1"/>
          </p:cNvPicPr>
          <p:nvPr/>
        </p:nvPicPr>
        <p:blipFill>
          <a:blip r:embed="rId4"/>
          <a:srcRect l="15803" r="15803" t="0" b="0"/>
          <a:stretch/>
        </p:blipFill>
        <p:spPr>
          <a:xfrm>
            <a:off x="6766560" y="1371600"/>
            <a:ext cx="4876495" cy="475488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995160" y="5120640"/>
            <a:ext cx="4389120" cy="777240"/>
          </a:xfrm>
          <a:prstGeom prst="roundRect">
            <a:avLst>
              <a:gd name="adj" fmla="val 11765"/>
            </a:avLst>
          </a:prstGeom>
          <a:solidFill>
            <a:srgbClr val="15201B">
              <a:alpha val="85000"/>
            </a:srgbClr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178040" y="51663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The reasons to come exist. The destination just isn't set up for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10 tours, October to May. Kids welcome.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75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chemeClr val="tx2"/>
                </a:solidFill>
                <a:hlinkClick r:id="rId1" invalidUrl="" action="" tgtFrame="" tooltip="https://dk129213.github.io/VitaNatura/tours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All tours and prices  →</a:t>
            </a:r>
            <a:endParaRPr lang="en-US" sz="1300" dirty="0"/>
          </a:p>
        </p:txBody>
      </p:sp>
      <p:pic>
        <p:nvPicPr>
          <p:cNvPr id="4" name="Neretva photo safari by lađa" descr="preencoded.png">    </p:cNvPr>
          <p:cNvPicPr>
            <a:picLocks noChangeAspect="1"/>
          </p:cNvPicPr>
          <p:nvPr/>
        </p:nvPicPr>
        <p:blipFill>
          <a:blip r:embed="rId2"/>
          <a:srcRect l="0" r="0" t="11406" b="11406"/>
          <a:stretch/>
        </p:blipFill>
        <p:spPr>
          <a:xfrm>
            <a:off x="548640" y="1371600"/>
            <a:ext cx="356616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27889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260604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€45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73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Neretva photo safari by lađa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5478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€45 · kids €25</a:t>
            </a:r>
            <a:endParaRPr lang="en-US" sz="1200" dirty="0"/>
          </a:p>
        </p:txBody>
      </p:sp>
      <p:pic>
        <p:nvPicPr>
          <p:cNvPr id="9" name="Birdwatching in the delta" descr="preencoded.png">    </p:cNvPr>
          <p:cNvPicPr>
            <a:picLocks noChangeAspect="1"/>
          </p:cNvPicPr>
          <p:nvPr/>
        </p:nvPicPr>
        <p:blipFill>
          <a:blip r:embed="rId3"/>
          <a:srcRect l="0" r="0" t="11550" b="11550"/>
          <a:stretch/>
        </p:blipFill>
        <p:spPr>
          <a:xfrm>
            <a:off x="4297680" y="1371600"/>
            <a:ext cx="3566160" cy="18288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55080" y="27889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5508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€30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3273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Birdwatching in the delta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35478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€30 · kids €15</a:t>
            </a:r>
            <a:endParaRPr lang="en-US" sz="1200" dirty="0"/>
          </a:p>
        </p:txBody>
      </p:sp>
      <p:pic>
        <p:nvPicPr>
          <p:cNvPr id="14" name="Mandarin harvest and lunch" descr="preencoded.png">    </p:cNvPr>
          <p:cNvPicPr>
            <a:picLocks noChangeAspect="1"/>
          </p:cNvPicPr>
          <p:nvPr/>
        </p:nvPicPr>
        <p:blipFill>
          <a:blip r:embed="rId4"/>
          <a:srcRect l="0" r="0" t="11550" b="11550"/>
          <a:stretch/>
        </p:blipFill>
        <p:spPr>
          <a:xfrm>
            <a:off x="8046720" y="1371600"/>
            <a:ext cx="3566160" cy="182880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0104120" y="27889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1010412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€39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8046720" y="32735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Mandarin harvest and lunch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046720" y="35478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€39 · kids €19</a:t>
            </a:r>
            <a:endParaRPr lang="en-US" sz="1200" dirty="0"/>
          </a:p>
        </p:txBody>
      </p:sp>
      <p:pic>
        <p:nvPicPr>
          <p:cNvPr id="19" name="Ston walls, salt and oysters" descr="preencoded.png">    </p:cNvPr>
          <p:cNvPicPr>
            <a:picLocks noChangeAspect="1"/>
          </p:cNvPicPr>
          <p:nvPr/>
        </p:nvPicPr>
        <p:blipFill>
          <a:blip r:embed="rId5"/>
          <a:srcRect l="0" r="0" t="7530" b="7530"/>
          <a:stretch/>
        </p:blipFill>
        <p:spPr>
          <a:xfrm>
            <a:off x="548640" y="3886200"/>
            <a:ext cx="3566160" cy="1828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2606040" y="5303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2606040" y="53035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€65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881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Ston walls, salt and oysters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062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€65 · kids €30</a:t>
            </a:r>
            <a:endParaRPr lang="en-US" sz="1200" dirty="0"/>
          </a:p>
        </p:txBody>
      </p:sp>
      <p:pic>
        <p:nvPicPr>
          <p:cNvPr id="24" name="Konavle mills, folklore, silk" descr="preencoded.png">    </p:cNvPr>
          <p:cNvPicPr>
            <a:picLocks noChangeAspect="1"/>
          </p:cNvPicPr>
          <p:nvPr/>
        </p:nvPicPr>
        <p:blipFill>
          <a:blip r:embed="rId6"/>
          <a:srcRect l="0" r="0" t="15812" b="15812"/>
          <a:stretch/>
        </p:blipFill>
        <p:spPr>
          <a:xfrm>
            <a:off x="4297680" y="3886200"/>
            <a:ext cx="3566160" cy="18288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355080" y="5303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6355080" y="53035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€45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297680" y="57881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Konavle mills, folklore, silk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297680" y="6062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€45 · kids €22</a:t>
            </a:r>
            <a:endParaRPr lang="en-US" sz="1200" dirty="0"/>
          </a:p>
        </p:txBody>
      </p:sp>
      <p:pic>
        <p:nvPicPr>
          <p:cNvPr id="29" name="Mljet National Park by bike" descr="preencoded.png">    </p:cNvPr>
          <p:cNvPicPr>
            <a:picLocks noChangeAspect="1"/>
          </p:cNvPicPr>
          <p:nvPr/>
        </p:nvPicPr>
        <p:blipFill>
          <a:blip r:embed="rId7"/>
          <a:srcRect l="0" r="0" t="11550" b="11550"/>
          <a:stretch/>
        </p:blipFill>
        <p:spPr>
          <a:xfrm>
            <a:off x="8046720" y="3886200"/>
            <a:ext cx="3566160" cy="1828800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10104120" y="53035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10104120" y="53035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€79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046720" y="57881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Mljet National Park by bike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046720" y="6062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€79 · kids €39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Not an ad campaign: what we build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554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733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99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 hides at 3 viewpoints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956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Neretva delta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371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1554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67335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9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 canoe launch points with ramps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956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Opuzen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514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731520" y="2697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81635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2642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Marked birdwatching route, boards in 4 languages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3099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Neretva delta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126480" y="2514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309360" y="2697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81635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642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Benches, water and winter hours on the Ston walls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099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Ston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657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31520" y="3840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395935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85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Shade, seats and step-free paths at partner farms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508760" y="4242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Neretva, Pelješac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126480" y="3657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309360" y="3840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95935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3785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Monthly winter folklore show and silk workshop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242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Čilipi, Konavle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4800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4" name="Shape 26"/>
          <p:cNvSpPr/>
          <p:nvPr/>
        </p:nvSpPr>
        <p:spPr>
          <a:xfrm>
            <a:off x="731520" y="4983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" y="5102352"/>
            <a:ext cx="356616" cy="35661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508760" y="4928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Winter walking loops and a picnic shelter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1508760" y="5385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Koločep, Lopud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6126480" y="4800600"/>
            <a:ext cx="53949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39" name="Shape 30"/>
          <p:cNvSpPr/>
          <p:nvPr/>
        </p:nvSpPr>
        <p:spPr>
          <a:xfrm>
            <a:off x="6309360" y="498348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02352"/>
            <a:ext cx="356616" cy="35661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086600" y="492861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 boatmen and youth certified as guides, with first aid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7086600" y="53858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Whole region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Calendar 365: one-day festivals, stretched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75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chemeClr val="tx2"/>
                </a:solidFill>
                <a:hlinkClick r:id="rId1" invalidUrl="" action="" tgtFrame="" tooltip="https://dk129213.github.io/VitaNatura/calendar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Calendar 365  →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79392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901184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522976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88352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J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010144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31936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253728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497312" y="137160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1691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Nature: photo safari, canoe, birds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7600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79392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19" name="Shape 17"/>
          <p:cNvSpPr/>
          <p:nvPr/>
        </p:nvSpPr>
        <p:spPr>
          <a:xfrm>
            <a:off x="4901184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0" name="Shape 18"/>
          <p:cNvSpPr/>
          <p:nvPr/>
        </p:nvSpPr>
        <p:spPr>
          <a:xfrm>
            <a:off x="5522976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1" name="Shape 19"/>
          <p:cNvSpPr/>
          <p:nvPr/>
        </p:nvSpPr>
        <p:spPr>
          <a:xfrm>
            <a:off x="6144768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2" name="Shape 20"/>
          <p:cNvSpPr/>
          <p:nvPr/>
        </p:nvSpPr>
        <p:spPr>
          <a:xfrm>
            <a:off x="6766560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8352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24" name="Shape 22"/>
          <p:cNvSpPr/>
          <p:nvPr/>
        </p:nvSpPr>
        <p:spPr>
          <a:xfrm>
            <a:off x="8010144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25" name="Shape 23"/>
          <p:cNvSpPr/>
          <p:nvPr/>
        </p:nvSpPr>
        <p:spPr>
          <a:xfrm>
            <a:off x="8631936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26" name="Shape 24"/>
          <p:cNvSpPr/>
          <p:nvPr/>
        </p:nvSpPr>
        <p:spPr>
          <a:xfrm>
            <a:off x="9253728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7" name="Shape 25"/>
          <p:cNvSpPr/>
          <p:nvPr/>
        </p:nvSpPr>
        <p:spPr>
          <a:xfrm>
            <a:off x="9875520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8" name="Shape 26"/>
          <p:cNvSpPr/>
          <p:nvPr/>
        </p:nvSpPr>
        <p:spPr>
          <a:xfrm>
            <a:off x="10497312" y="1691640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207568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Harvests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0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4279392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2" name="Shape 30"/>
          <p:cNvSpPr/>
          <p:nvPr/>
        </p:nvSpPr>
        <p:spPr>
          <a:xfrm>
            <a:off x="4901184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3" name="Shape 31"/>
          <p:cNvSpPr/>
          <p:nvPr/>
        </p:nvSpPr>
        <p:spPr>
          <a:xfrm>
            <a:off x="5522976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4" name="Shape 32"/>
          <p:cNvSpPr/>
          <p:nvPr/>
        </p:nvSpPr>
        <p:spPr>
          <a:xfrm>
            <a:off x="6144768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5" name="Shape 33"/>
          <p:cNvSpPr/>
          <p:nvPr/>
        </p:nvSpPr>
        <p:spPr>
          <a:xfrm>
            <a:off x="6766560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6" name="Shape 34"/>
          <p:cNvSpPr/>
          <p:nvPr/>
        </p:nvSpPr>
        <p:spPr>
          <a:xfrm>
            <a:off x="7388352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7" name="Shape 35"/>
          <p:cNvSpPr/>
          <p:nvPr/>
        </p:nvSpPr>
        <p:spPr>
          <a:xfrm>
            <a:off x="8010144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8" name="Shape 36"/>
          <p:cNvSpPr/>
          <p:nvPr/>
        </p:nvSpPr>
        <p:spPr>
          <a:xfrm>
            <a:off x="8631936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39" name="Shape 37"/>
          <p:cNvSpPr/>
          <p:nvPr/>
        </p:nvSpPr>
        <p:spPr>
          <a:xfrm>
            <a:off x="9253728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0" name="Shape 38"/>
          <p:cNvSpPr/>
          <p:nvPr/>
        </p:nvSpPr>
        <p:spPr>
          <a:xfrm>
            <a:off x="9875520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97312" y="2075688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245973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Traditions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0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4" name="Shape 42"/>
          <p:cNvSpPr/>
          <p:nvPr/>
        </p:nvSpPr>
        <p:spPr>
          <a:xfrm>
            <a:off x="4279392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5" name="Shape 43"/>
          <p:cNvSpPr/>
          <p:nvPr/>
        </p:nvSpPr>
        <p:spPr>
          <a:xfrm>
            <a:off x="4901184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2976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7" name="Shape 45"/>
          <p:cNvSpPr/>
          <p:nvPr/>
        </p:nvSpPr>
        <p:spPr>
          <a:xfrm>
            <a:off x="6144768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8" name="Shape 46"/>
          <p:cNvSpPr/>
          <p:nvPr/>
        </p:nvSpPr>
        <p:spPr>
          <a:xfrm>
            <a:off x="6766560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49" name="Shape 47"/>
          <p:cNvSpPr/>
          <p:nvPr/>
        </p:nvSpPr>
        <p:spPr>
          <a:xfrm>
            <a:off x="7388352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50" name="Shape 48"/>
          <p:cNvSpPr/>
          <p:nvPr/>
        </p:nvSpPr>
        <p:spPr>
          <a:xfrm>
            <a:off x="8010144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51" name="Shape 49"/>
          <p:cNvSpPr/>
          <p:nvPr/>
        </p:nvSpPr>
        <p:spPr>
          <a:xfrm>
            <a:off x="8631936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2" name="Shape 50"/>
          <p:cNvSpPr/>
          <p:nvPr/>
        </p:nvSpPr>
        <p:spPr>
          <a:xfrm>
            <a:off x="9253728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3" name="Shape 51"/>
          <p:cNvSpPr/>
          <p:nvPr/>
        </p:nvSpPr>
        <p:spPr>
          <a:xfrm>
            <a:off x="9875520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97312" y="2459736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284378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Islands and gardens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657600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7" name="Shape 55"/>
          <p:cNvSpPr/>
          <p:nvPr/>
        </p:nvSpPr>
        <p:spPr>
          <a:xfrm>
            <a:off x="4279392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8" name="Shape 56"/>
          <p:cNvSpPr/>
          <p:nvPr/>
        </p:nvSpPr>
        <p:spPr>
          <a:xfrm>
            <a:off x="4901184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59" name="Shape 57"/>
          <p:cNvSpPr/>
          <p:nvPr/>
        </p:nvSpPr>
        <p:spPr>
          <a:xfrm>
            <a:off x="5522976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60" name="Shape 58"/>
          <p:cNvSpPr/>
          <p:nvPr/>
        </p:nvSpPr>
        <p:spPr>
          <a:xfrm>
            <a:off x="6144768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61" name="Shape 59"/>
          <p:cNvSpPr/>
          <p:nvPr/>
        </p:nvSpPr>
        <p:spPr>
          <a:xfrm>
            <a:off x="6766560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62" name="Shape 60"/>
          <p:cNvSpPr/>
          <p:nvPr/>
        </p:nvSpPr>
        <p:spPr>
          <a:xfrm>
            <a:off x="7388352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63" name="Shape 61"/>
          <p:cNvSpPr/>
          <p:nvPr/>
        </p:nvSpPr>
        <p:spPr>
          <a:xfrm>
            <a:off x="8010144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64" name="Shape 62"/>
          <p:cNvSpPr/>
          <p:nvPr/>
        </p:nvSpPr>
        <p:spPr>
          <a:xfrm>
            <a:off x="8631936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65" name="Shape 63"/>
          <p:cNvSpPr/>
          <p:nvPr/>
        </p:nvSpPr>
        <p:spPr>
          <a:xfrm>
            <a:off x="9253728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66" name="Shape 64"/>
          <p:cNvSpPr/>
          <p:nvPr/>
        </p:nvSpPr>
        <p:spPr>
          <a:xfrm>
            <a:off x="9875520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67" name="Shape 65"/>
          <p:cNvSpPr/>
          <p:nvPr/>
        </p:nvSpPr>
        <p:spPr>
          <a:xfrm>
            <a:off x="10497312" y="2843784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1D6B4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48640" y="3227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Summer tourism (already full)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657600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279392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1" name="Shape 69"/>
          <p:cNvSpPr/>
          <p:nvPr/>
        </p:nvSpPr>
        <p:spPr>
          <a:xfrm>
            <a:off x="4901184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2" name="Shape 70"/>
          <p:cNvSpPr/>
          <p:nvPr/>
        </p:nvSpPr>
        <p:spPr>
          <a:xfrm>
            <a:off x="5522976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3" name="Shape 71"/>
          <p:cNvSpPr/>
          <p:nvPr/>
        </p:nvSpPr>
        <p:spPr>
          <a:xfrm>
            <a:off x="6144768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4" name="Shape 72"/>
          <p:cNvSpPr/>
          <p:nvPr/>
        </p:nvSpPr>
        <p:spPr>
          <a:xfrm>
            <a:off x="6766560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B9C2BD"/>
          </a:solidFill>
          <a:ln/>
        </p:spPr>
      </p:sp>
      <p:sp>
        <p:nvSpPr>
          <p:cNvPr id="75" name="Shape 73"/>
          <p:cNvSpPr/>
          <p:nvPr/>
        </p:nvSpPr>
        <p:spPr>
          <a:xfrm>
            <a:off x="7388352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B9C2BD"/>
          </a:solidFill>
          <a:ln/>
        </p:spPr>
      </p:sp>
      <p:sp>
        <p:nvSpPr>
          <p:cNvPr id="76" name="Shape 74"/>
          <p:cNvSpPr/>
          <p:nvPr/>
        </p:nvSpPr>
        <p:spPr>
          <a:xfrm>
            <a:off x="8010144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B9C2BD"/>
          </a:solidFill>
          <a:ln/>
        </p:spPr>
      </p:sp>
      <p:sp>
        <p:nvSpPr>
          <p:cNvPr id="77" name="Shape 75"/>
          <p:cNvSpPr/>
          <p:nvPr/>
        </p:nvSpPr>
        <p:spPr>
          <a:xfrm>
            <a:off x="8631936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B9C2BD"/>
          </a:solidFill>
          <a:ln/>
        </p:spPr>
      </p:sp>
      <p:sp>
        <p:nvSpPr>
          <p:cNvPr id="78" name="Shape 76"/>
          <p:cNvSpPr/>
          <p:nvPr/>
        </p:nvSpPr>
        <p:spPr>
          <a:xfrm>
            <a:off x="9253728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79" name="Shape 77"/>
          <p:cNvSpPr/>
          <p:nvPr/>
        </p:nvSpPr>
        <p:spPr>
          <a:xfrm>
            <a:off x="9875520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80" name="Shape 78"/>
          <p:cNvSpPr/>
          <p:nvPr/>
        </p:nvSpPr>
        <p:spPr>
          <a:xfrm>
            <a:off x="10497312" y="3227832"/>
            <a:ext cx="566928" cy="310896"/>
          </a:xfrm>
          <a:prstGeom prst="roundRect">
            <a:avLst>
              <a:gd name="adj" fmla="val 14706"/>
            </a:avLst>
          </a:prstGeom>
          <a:solidFill>
            <a:srgbClr val="EEF3EF"/>
          </a:solidFill>
          <a:ln/>
        </p:spPr>
      </p:sp>
      <p:sp>
        <p:nvSpPr>
          <p:cNvPr id="81" name="Shape 79"/>
          <p:cNvSpPr/>
          <p:nvPr/>
        </p:nvSpPr>
        <p:spPr>
          <a:xfrm>
            <a:off x="548640" y="3886200"/>
            <a:ext cx="265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731520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Feb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31520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St. Blaise (UNESCO)</a:t>
            </a:r>
            <a:endParaRPr lang="en-US" sz="1700" dirty="0"/>
          </a:p>
        </p:txBody>
      </p:sp>
      <p:sp>
        <p:nvSpPr>
          <p:cNvPr id="84" name="Text 82"/>
          <p:cNvSpPr txBox="1"/>
          <p:nvPr/>
        </p:nvSpPr>
        <p:spPr>
          <a:xfrm>
            <a:off x="731520" y="5029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week, with village day trips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3355848" y="3886200"/>
            <a:ext cx="265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538728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Feb to Apr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3538728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Ston Oyster Days</a:t>
            </a:r>
            <a:endParaRPr lang="en-US" sz="1700" dirty="0"/>
          </a:p>
        </p:txBody>
      </p:sp>
      <p:sp>
        <p:nvSpPr>
          <p:cNvPr id="88" name="Text 86"/>
          <p:cNvSpPr txBox="1"/>
          <p:nvPr/>
        </p:nvSpPr>
        <p:spPr>
          <a:xfrm>
            <a:off x="3538728" y="5029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season-long oyster trail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6163056" y="3886200"/>
            <a:ext cx="265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6345936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Spring, autumn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345936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Moreška sword dance</a:t>
            </a:r>
            <a:endParaRPr lang="en-US" sz="1700" dirty="0"/>
          </a:p>
        </p:txBody>
      </p:sp>
      <p:sp>
        <p:nvSpPr>
          <p:cNvPr id="92" name="Text 90"/>
          <p:cNvSpPr txBox="1"/>
          <p:nvPr/>
        </p:nvSpPr>
        <p:spPr>
          <a:xfrm>
            <a:off x="6345936" y="5029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Shows outside July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8970264" y="3886200"/>
            <a:ext cx="26517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4023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Oct to Nov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9153144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Mandarin harvest</a:t>
            </a:r>
            <a:endParaRPr lang="en-US" sz="1700" dirty="0"/>
          </a:p>
        </p:txBody>
      </p:sp>
      <p:sp>
        <p:nvSpPr>
          <p:cNvPr id="96" name="Text 94"/>
          <p:cNvSpPr txBox="1"/>
          <p:nvPr/>
        </p:nvSpPr>
        <p:spPr>
          <a:xfrm>
            <a:off x="9153144" y="50292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Weeks of picking, not 3 days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For anyone who travels outside the summer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30706"/>
            <a:ext cx="340157" cy="3401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Families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180136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Autumn, February and Easter school holidays. Every tour has a child price.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6" y="271942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606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Couples whose children have left home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9900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Time, savings and no school calendar.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3908146"/>
            <a:ext cx="340157" cy="34015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3794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Grandparents with grandchildren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41788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Like Marta, Thomas and Lena, 9.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5029200"/>
            <a:ext cx="53949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Neretva and Ston week: 7 nights, 4 tours, transfers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486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E6CF"/>
                </a:solidFill>
              </a:rPr>
              <a:t>€790 adult · €350 child</a:t>
            </a:r>
            <a:endParaRPr lang="en-US" sz="2400" dirty="0"/>
          </a:p>
        </p:txBody>
      </p:sp>
      <p:pic>
        <p:nvPicPr>
          <p:cNvPr id="18" name="Mandarins" descr="preencoded.png">    </p:cNvPr>
          <p:cNvPicPr>
            <a:picLocks noChangeAspect="1"/>
          </p:cNvPicPr>
          <p:nvPr/>
        </p:nvPicPr>
        <p:blipFill>
          <a:blip r:embed="rId4"/>
          <a:srcRect l="13322" r="13322" t="0" b="0"/>
          <a:stretch/>
        </p:blipFill>
        <p:spPr>
          <a:xfrm>
            <a:off x="6400800" y="1371600"/>
            <a:ext cx="2514600" cy="2286000"/>
          </a:xfrm>
          <a:prstGeom prst="rect">
            <a:avLst/>
          </a:prstGeom>
        </p:spPr>
      </p:pic>
      <p:pic>
        <p:nvPicPr>
          <p:cNvPr id="19" name="Mali Ston" descr="preencoded.png">    </p:cNvPr>
          <p:cNvPicPr>
            <a:picLocks noChangeAspect="1"/>
          </p:cNvPicPr>
          <p:nvPr/>
        </p:nvPicPr>
        <p:blipFill>
          <a:blip r:embed="rId5"/>
          <a:srcRect l="13494" r="13494" t="0" b="0"/>
          <a:stretch/>
        </p:blipFill>
        <p:spPr>
          <a:xfrm>
            <a:off x="9098280" y="1371600"/>
            <a:ext cx="2514600" cy="2286000"/>
          </a:xfrm>
          <a:prstGeom prst="rect">
            <a:avLst/>
          </a:prstGeom>
        </p:spPr>
      </p:pic>
      <p:pic>
        <p:nvPicPr>
          <p:cNvPr id="20" name="Lopud" descr="preencoded.png">    </p:cNvPr>
          <p:cNvPicPr>
            <a:picLocks noChangeAspect="1"/>
          </p:cNvPicPr>
          <p:nvPr/>
        </p:nvPicPr>
        <p:blipFill>
          <a:blip r:embed="rId6"/>
          <a:srcRect l="12608" r="12608" t="0" b="0"/>
          <a:stretch/>
        </p:blipFill>
        <p:spPr>
          <a:xfrm>
            <a:off x="6400800" y="3840480"/>
            <a:ext cx="2514600" cy="2240280"/>
          </a:xfrm>
          <a:prstGeom prst="rect">
            <a:avLst/>
          </a:prstGeom>
        </p:spPr>
      </p:pic>
      <p:pic>
        <p:nvPicPr>
          <p:cNvPr id="21" name="Trsteno" descr="preencoded.png">    </p:cNvPr>
          <p:cNvPicPr>
            <a:picLocks noChangeAspect="1"/>
          </p:cNvPicPr>
          <p:nvPr/>
        </p:nvPicPr>
        <p:blipFill>
          <a:blip r:embed="rId7"/>
          <a:srcRect l="7908" r="7908" t="0" b="0"/>
          <a:stretch/>
        </p:blipFill>
        <p:spPr>
          <a:xfrm>
            <a:off x="9098280" y="3840480"/>
            <a:ext cx="2514600" cy="2240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photo" descr="preencoded.png">    </p:cNvPr>
          <p:cNvPicPr>
            <a:picLocks noChangeAspect="1"/>
          </p:cNvPicPr>
          <p:nvPr/>
        </p:nvPicPr>
        <p:blipFill>
          <a:blip r:embed="rId1"/>
          <a:srcRect l="0" r="0" t="7825" b="78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01B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8E6CF"/>
                </a:solidFill>
              </a:rPr>
              <a:t>WE CARE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Marta slips on the jetty. The holiday goes on.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15201B">
              <a:alpha val="80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E6CF"/>
                </a:solidFill>
              </a:rPr>
              <a:t>08:40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194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Falls on a wet jetty on the photo safari. Our guide gives first aid.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3182112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15201B">
              <a:alpha val="80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3182112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E6CF"/>
                </a:solidFill>
              </a:rPr>
              <a:t>08:46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318211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No street address, Sunday, clinic closed: Vita finds the right hospital and sends GPS and her health card in Croatian.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4169664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15201B">
              <a:alpha val="80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1696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E6CF"/>
                </a:solidFill>
              </a:rPr>
              <a:t>08:50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194560" y="416966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Guide drives her to Dubrovnik. Granddaughter Lena stays with the group.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5157216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15201B">
              <a:alpha val="80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5157216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E6CF"/>
                </a:solidFill>
              </a:rPr>
              <a:t>Next days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51572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Sprain, not broken. Step-free room, seated tours instead of canoeing, airport assistance home.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7782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u="sng" dirty="0">
                <a:solidFill>
                  <a:srgbClr val="B8E6C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Marta's chat  →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Run by locals, light on nature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75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chemeClr val="tx2"/>
                </a:solidFill>
                <a:hlinkClick r:id="rId1" invalidUrl="" action="" tgtFrame="" tooltip="https://dk129213.github.io/VitaNatura/community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Locals and partners  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46120"/>
          </a:xfrm>
          <a:prstGeom prst="roundRect">
            <a:avLst>
              <a:gd name="adj" fmla="val 422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46" y="1667866"/>
            <a:ext cx="340157" cy="3401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27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Local jobs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Boatmen and youth as guides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Farm hosts and island families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Folklore groups, embroiderers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Drivers, hotel staff in winter</a:t>
            </a:r>
            <a:endParaRPr lang="en-US" sz="1500" dirty="0"/>
          </a:p>
        </p:txBody>
      </p:sp>
      <p:pic>
        <p:nvPicPr>
          <p:cNvPr id="9" name="Local jobs" descr="preencoded.png">    </p:cNvPr>
          <p:cNvPicPr>
            <a:picLocks noChangeAspect="1"/>
          </p:cNvPicPr>
          <p:nvPr/>
        </p:nvPicPr>
        <p:blipFill>
          <a:blip r:embed="rId3"/>
          <a:srcRect l="0" r="0" t="24359" b="24359"/>
          <a:stretch/>
        </p:blipFill>
        <p:spPr>
          <a:xfrm>
            <a:off x="548640" y="4754880"/>
            <a:ext cx="3566160" cy="1371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297680" y="1371600"/>
            <a:ext cx="3566160" cy="3246120"/>
          </a:xfrm>
          <a:prstGeom prst="roundRect">
            <a:avLst>
              <a:gd name="adj" fmla="val 4225"/>
            </a:avLst>
          </a:prstGeom>
          <a:solidFill>
            <a:schemeClr val="bg2"/>
          </a:solidFill>
          <a:ln/>
        </p:spPr>
      </p:sp>
      <p:sp>
        <p:nvSpPr>
          <p:cNvPr id="11" name="Shape 7"/>
          <p:cNvSpPr/>
          <p:nvPr/>
        </p:nvSpPr>
        <p:spPr>
          <a:xfrm>
            <a:off x="4572000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386" y="1667866"/>
            <a:ext cx="340157" cy="34015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03520" y="1627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Stakeholders</a:t>
            </a:r>
            <a:endParaRPr lang="en-US" sz="21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3317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Partner hotel in Lapad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Family farms (OPG), outfitters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Museum Metković, Ston salt works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Tourist boards, Mljet NP, Trsteno</a:t>
            </a:r>
            <a:endParaRPr lang="en-US" sz="1500" dirty="0"/>
          </a:p>
        </p:txBody>
      </p:sp>
      <p:pic>
        <p:nvPicPr>
          <p:cNvPr id="15" name="Stakeholders" descr="preencoded.png">    </p:cNvPr>
          <p:cNvPicPr>
            <a:picLocks noChangeAspect="1"/>
          </p:cNvPicPr>
          <p:nvPr/>
        </p:nvPicPr>
        <p:blipFill>
          <a:blip r:embed="rId5"/>
          <a:srcRect l="0" r="0" t="21027" b="21027"/>
          <a:stretch/>
        </p:blipFill>
        <p:spPr>
          <a:xfrm>
            <a:off x="4297680" y="4754880"/>
            <a:ext cx="3566160" cy="13716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8046720" y="1371600"/>
            <a:ext cx="3566160" cy="3246120"/>
          </a:xfrm>
          <a:prstGeom prst="roundRect">
            <a:avLst>
              <a:gd name="adj" fmla="val 4225"/>
            </a:avLst>
          </a:prstGeom>
          <a:solidFill>
            <a:schemeClr val="bg2"/>
          </a:solidFill>
          <a:ln/>
        </p:spPr>
      </p:sp>
      <p:sp>
        <p:nvSpPr>
          <p:cNvPr id="17" name="Shape 11"/>
          <p:cNvSpPr/>
          <p:nvPr/>
        </p:nvSpPr>
        <p:spPr>
          <a:xfrm>
            <a:off x="8321040" y="155448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1667866"/>
            <a:ext cx="340157" cy="34015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52560" y="1627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Nature</a:t>
            </a:r>
            <a:endParaRPr lang="en-US" sz="2100" dirty="0"/>
          </a:p>
        </p:txBody>
      </p:sp>
      <p:sp>
        <p:nvSpPr>
          <p:cNvPr id="20" name="Text 13"/>
          <p:cNvSpPr txBox="1"/>
          <p:nvPr/>
        </p:nvSpPr>
        <p:spPr>
          <a:xfrm>
            <a:off x="8321040" y="233172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Groups of 8 in the delta, fixed routes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new buildings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shared minibus per group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Island clean-ups with Green Sea Safari</a:t>
            </a:r>
            <a:endParaRPr lang="en-US" sz="1500" dirty="0"/>
          </a:p>
        </p:txBody>
      </p:sp>
      <p:pic>
        <p:nvPicPr>
          <p:cNvPr id="21" name="Nature" descr="preencoded.png">    </p:cNvPr>
          <p:cNvPicPr>
            <a:picLocks noChangeAspect="1"/>
          </p:cNvPicPr>
          <p:nvPr/>
        </p:nvPicPr>
        <p:blipFill>
          <a:blip r:embed="rId7"/>
          <a:srcRect l="0" r="0" t="21163" b="21163"/>
          <a:stretch/>
        </p:blipFill>
        <p:spPr>
          <a:xfrm>
            <a:off x="8046720" y="4754880"/>
            <a:ext cx="3566160" cy="1371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€114,000 to start. Break-even in year 2.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754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u="sng" dirty="0">
                <a:solidFill>
                  <a:schemeClr val="tx2"/>
                </a:solidFill>
                <a:hlinkClick r:id="rId1" invalidUrl="" action="" tgtFrame="" tooltip="https://dk129213.github.io/VitaNatura/plan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plan  →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6" y="1484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Who pays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48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EU and national tourism grants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1488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45%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459736"/>
            <a:ext cx="5212080" cy="128016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459736"/>
            <a:ext cx="2345436" cy="128016"/>
          </a:xfrm>
          <a:prstGeom prst="roundRect">
            <a:avLst>
              <a:gd name="adj" fmla="val 50000"/>
            </a:avLst>
          </a:prstGeom>
          <a:solidFill>
            <a:srgbClr val="1D6B4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807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Founders and partner hotel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029200" y="2807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25%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118104"/>
            <a:ext cx="5212080" cy="128016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3118104"/>
            <a:ext cx="1303020" cy="128016"/>
          </a:xfrm>
          <a:prstGeom prst="roundRect">
            <a:avLst>
              <a:gd name="adj" fmla="val 50000"/>
            </a:avLst>
          </a:prstGeom>
          <a:solidFill>
            <a:srgbClr val="1D6B4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4655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County and tourist boards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346557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3776472"/>
            <a:ext cx="5212080" cy="128016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</p:sp>
      <p:sp>
        <p:nvSpPr>
          <p:cNvPr id="18" name="Shape 15"/>
          <p:cNvSpPr/>
          <p:nvPr/>
        </p:nvSpPr>
        <p:spPr>
          <a:xfrm>
            <a:off x="548640" y="3776472"/>
            <a:ext cx="1042416" cy="128016"/>
          </a:xfrm>
          <a:prstGeom prst="roundRect">
            <a:avLst>
              <a:gd name="adj" fmla="val 50000"/>
            </a:avLst>
          </a:prstGeom>
          <a:solidFill>
            <a:srgbClr val="1D6B4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239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LAG / LEADER rural funds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0" y="41239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10%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434840"/>
            <a:ext cx="5212080" cy="128016"/>
          </a:xfrm>
          <a:prstGeom prst="roundRect">
            <a:avLst>
              <a:gd name="adj" fmla="val 50000"/>
            </a:avLst>
          </a:prstGeom>
          <a:solidFill>
            <a:srgbClr val="EEF3EF"/>
          </a:solidFill>
          <a:ln/>
        </p:spPr>
      </p:sp>
      <p:sp>
        <p:nvSpPr>
          <p:cNvPr id="22" name="Shape 19"/>
          <p:cNvSpPr/>
          <p:nvPr/>
        </p:nvSpPr>
        <p:spPr>
          <a:xfrm>
            <a:off x="548640" y="4434840"/>
            <a:ext cx="521208" cy="128016"/>
          </a:xfrm>
          <a:prstGeom prst="roundRect">
            <a:avLst>
              <a:gd name="adj" fmla="val 50000"/>
            </a:avLst>
          </a:prstGeom>
          <a:solidFill>
            <a:srgbClr val="1D6B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4892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Earns from: 25% margin on tours, 21% on week packages, transfers. 600 guests in the pilot, 1,500 in year 2.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137160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4186" y="1484986"/>
            <a:ext cx="340157" cy="340157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178040" y="1463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How guests find us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6400800" y="2148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Summer guests come back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6400800" y="247802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Flyers and QR codes in Dubrovnik hotels: "Come back in October."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640080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Guests' own photos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6400800" y="339242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10 edited photos per photo safari, shared as #Neretva365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3977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Marketplaces and agencies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430682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GetYourGuide, Viator; family and senior agencies in AT and DE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0" y="4892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Fairs and press trips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6400800" y="522122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Ferien-Messe Wien, ITB Berlin, winter trips for bloggers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it works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" y="157276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86154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2267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Content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6700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10 priced tours, a week package, a calendar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355848" y="137160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557016" y="157276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402" y="1686154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57016" y="2267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Innovation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57016" y="26700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Photo safari by lađa, guides with first aid, help app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163056" y="137160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364224" y="157276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0" y="1686154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4224" y="2267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Feasibility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64224" y="26700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Existing places, real prices, one hotel to start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8970264" y="137160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9171432" y="157276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1686154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71432" y="22677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Sustainability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71432" y="26700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Small groups, no new buildings, local income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548640" y="374904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49808" y="395020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4" y="4063594"/>
            <a:ext cx="340157" cy="34015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49808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Diversity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749808" y="5047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Nature, harvests, heritage, islands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3355848" y="374904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557016" y="395020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0402" y="4063594"/>
            <a:ext cx="340157" cy="340157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557016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Uniqueness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3557016" y="5047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The countryside nobody shows, with a safety net</a:t>
            </a:r>
            <a:endParaRPr lang="en-US" sz="1500" dirty="0"/>
          </a:p>
        </p:txBody>
      </p:sp>
      <p:sp>
        <p:nvSpPr>
          <p:cNvPr id="33" name="Shape 25"/>
          <p:cNvSpPr/>
          <p:nvPr/>
        </p:nvSpPr>
        <p:spPr>
          <a:xfrm>
            <a:off x="6163056" y="374904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34" name="Shape 26"/>
          <p:cNvSpPr/>
          <p:nvPr/>
        </p:nvSpPr>
        <p:spPr>
          <a:xfrm>
            <a:off x="6364224" y="395020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610" y="4063594"/>
            <a:ext cx="340157" cy="340157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364224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Attractivity</a:t>
            </a:r>
            <a:endParaRPr lang="en-US" sz="1800" dirty="0"/>
          </a:p>
        </p:txBody>
      </p:sp>
      <p:sp>
        <p:nvSpPr>
          <p:cNvPr id="37" name="Text 28"/>
          <p:cNvSpPr txBox="1"/>
          <p:nvPr/>
        </p:nvSpPr>
        <p:spPr>
          <a:xfrm>
            <a:off x="6364224" y="5047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Mandarins, oysters, herons, kids welcome</a:t>
            </a:r>
            <a:endParaRPr lang="en-US" sz="1500" dirty="0"/>
          </a:p>
        </p:txBody>
      </p:sp>
      <p:sp>
        <p:nvSpPr>
          <p:cNvPr id="38" name="Shape 29"/>
          <p:cNvSpPr/>
          <p:nvPr/>
        </p:nvSpPr>
        <p:spPr>
          <a:xfrm>
            <a:off x="8970264" y="3749040"/>
            <a:ext cx="2651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39" name="Shape 30"/>
          <p:cNvSpPr/>
          <p:nvPr/>
        </p:nvSpPr>
        <p:spPr>
          <a:xfrm>
            <a:off x="9171432" y="3950208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4818" y="4063594"/>
            <a:ext cx="340157" cy="340157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171432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Adaptability</a:t>
            </a:r>
            <a:endParaRPr lang="en-US" sz="1800" dirty="0"/>
          </a:p>
        </p:txBody>
      </p:sp>
      <p:sp>
        <p:nvSpPr>
          <p:cNvPr id="42" name="Text 32"/>
          <p:cNvSpPr txBox="1"/>
          <p:nvPr/>
        </p:nvSpPr>
        <p:spPr>
          <a:xfrm>
            <a:off x="9171432" y="5047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Tours swap by season, weather or an injury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46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 photo" descr="preencoded.png">    </p:cNvPr>
          <p:cNvPicPr>
            <a:picLocks noChangeAspect="1"/>
          </p:cNvPicPr>
          <p:nvPr/>
        </p:nvPicPr>
        <p:blipFill>
          <a:blip r:embed="rId1"/>
          <a:srcRect l="0" r="0" t="3415" b="341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01B">
              <a:alpha val="6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146304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7600" b="1" dirty="0">
                <a:solidFill>
                  <a:srgbClr val="FFFFFF"/>
                </a:solidFill>
              </a:rPr>
              <a:t>You travel.</a:t>
            </a:r>
            <a:endParaRPr lang="en-US" sz="7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7600" b="1" dirty="0">
                <a:solidFill>
                  <a:srgbClr val="FFFFFF"/>
                </a:solidFill>
              </a:rPr>
              <a:t>We care.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3EEE8"/>
                </a:solidFill>
              </a:rPr>
              <a:t>Around Dubrovnik, October to May. Kids welcome.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8E6CF"/>
                </a:solidFill>
              </a:rPr>
              <a:t>Thank you. Questions?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778240" y="1828800"/>
            <a:ext cx="2743200" cy="3154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pic>
        <p:nvPicPr>
          <p:cNvPr id="8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057400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dk129213.github.io/VitaNatura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taNatura">
  <a:themeElements>
    <a:clrScheme name="VitaNatura">
      <a:dk1>
        <a:srgbClr val="15201B"/>
      </a:dk1>
      <a:lt1>
        <a:srgbClr val="FFFFFF"/>
      </a:lt1>
      <a:dk2>
        <a:srgbClr val="1D6B4F"/>
      </a:dk2>
      <a:lt2>
        <a:srgbClr val="EEF3EF"/>
      </a:lt2>
      <a:accent1>
        <a:srgbClr val="1D6B4F"/>
      </a:accent1>
      <a:accent2>
        <a:srgbClr val="5CC49A"/>
      </a:accent2>
      <a:accent3>
        <a:srgbClr val="9A5B00"/>
      </a:accent3>
      <a:accent4>
        <a:srgbClr val="B3261E"/>
      </a:accent4>
      <a:accent5>
        <a:srgbClr val="66746D"/>
      </a:accent5>
      <a:accent6>
        <a:srgbClr val="DCEFE5"/>
      </a:accent6>
      <a:hlink>
        <a:srgbClr val="1D6B4F"/>
      </a:hlink>
      <a:folHlink>
        <a:srgbClr val="47554E"/>
      </a:folHlink>
    </a:clrScheme>
    <a:fontScheme name="VitaNatu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VitaNatura 365: You travel. We care.</dc:title>
  <dc:subject>PptxGenJS Presentation</dc:subject>
  <dc:creator>VitaNatura 365 team</dc:creator>
  <cp:lastModifiedBy>VitaNatura 365 team</cp:lastModifiedBy>
  <cp:revision>1</cp:revision>
  <dcterms:created xsi:type="dcterms:W3CDTF">2026-10-06T11:57:05Z</dcterms:created>
  <dcterms:modified xsi:type="dcterms:W3CDTF">2026-10-06T11:57:05Z</dcterms:modified>
</cp:coreProperties>
</file>