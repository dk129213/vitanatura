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dea" id="{12fe5dfb-0f10-0d19-c60e-56dfcc6fb008}">
          <p14:sldIdLst>
            <p14:sldId id="256"/>
            <p14:sldId id="257"/>
            <p14:sldId id="258"/>
          </p14:sldIdLst>
        </p14:section>
        <p14:section name="Changes" id="{6bd93fc3-71d9-eb1b-f0bd-047fe39a26bc}">
          <p14:sldIdLst>
            <p14:sldId id="259"/>
            <p14:sldId id="260"/>
            <p14:sldId id="261"/>
          </p14:sldIdLst>
        </p14:section>
        <p14:section name="People" id="{e8817b76-4a62-f07e-f2ae-543e1ddcfc0b}">
          <p14:sldIdLst>
            <p14:sldId id="262"/>
            <p14:sldId id="263"/>
            <p14:sldId id="264"/>
          </p14:sldIdLst>
        </p14:section>
        <p14:section name="Close" id="{8f386022-6879-1d88-346b-18e7a3907288}">
          <p14:sldIdLst>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 Slogan, then the one-sentence idea: we are not a travel agency, we change the destination itself. The QR code opens our site so the jury can follow on their phones.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The need, for both sides: seasonality hurts the city and the people around it, and the region already has what visitors want outside summer.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The core of the brief: concrete changes on the ground, not marketing. Three kinds of change, explained on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Example one of stretching an event. The feast stays as it is; we add days after it, run by local associations, cooks, folklore groups and guides, who are paid. Visitors stay a week instead of a day, in February.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Example two. Same idea: a few festival days become a three-month season. Oyster farmers sell directly, restaurants open in winter, and the walls get benches and winter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New activities in places tourists rarely see. Each one needs a small, concrete change on the ground: hides, a route, seating on the farms.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Inclusion and work. The photo safari is a new local product: boatmen, young photographers, farm breakfasts, drivers. Harvests are the most direct help: in 2026 buyers paid about €0.65 a kilo for mandarins while they sold for about €2 at market, so selling to guests triples the farm's income per kilo.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 Everyone is welcome, but we focus on empty nesters: they are free to travel off-season and they stay longer.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Marketing through influencers, matched to each audience. They come in the off-season, take part in the new events and show the local people behind them. First creator week: St. Blaise Week, February 2027.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 Feasibility: one hotel is enough to start. It learns to work off-season with guests guaranteed, and keeps its staff.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 One line per jury criterion. Don't read them all: highlight innovation, feasibility and uniqueness.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 then questions. Likely questions: who pays for the hides and benches (tourism grants, the county and tourist boards, partners), who runs the workshops (local associations and families, paid per event), what if it rains (indoor workshops, the oil mill, the salt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66746D"/>
                </a:solidFill>
              </a:rPr>
              <a:t>VitaNatura 365 · You travel. We care.</a:t>
            </a:r>
            <a:endParaRPr lang="en-US" sz="1000" dirty="0"/>
          </a:p>
        </p:txBody>
      </p:sp>
      <p:sp>
        <p:nvSpPr>
          <p:cNvPr id="3" name="Text 1"/>
          <p:cNvSpPr/>
          <p:nvPr>
            <p:ph idx="101" type="title" hasCustomPrompt="1"/>
          </p:nvPr>
        </p:nvSpPr>
        <p:spPr>
          <a:xfrm>
            <a:off x="548640" y="411480"/>
            <a:ext cx="11094415" cy="82296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46D"/>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5201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46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dk129213.github.io/VitaNatura/" TargetMode="External"/><Relationship Id="rId1" Type="http://schemas.openxmlformats.org/officeDocument/2006/relationships/image" Target="../media/image-1-1.jpeg"/><Relationship Id="rId2" Type="http://schemas.openxmlformats.org/officeDocument/2006/relationships/image" Target="../media/image-1-2.png"/><Relationship Id="rId4" Type="http://schemas.openxmlformats.org/officeDocument/2006/relationships/slideLayout" Target="../slideLayouts/slideLayout3.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jpe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jpeg"/><Relationship Id="rId4" Type="http://schemas.openxmlformats.org/officeDocument/2006/relationships/image" Target="../media/image-3-4.png"/><Relationship Id="rId5" Type="http://schemas.openxmlformats.org/officeDocument/2006/relationships/image" Target="../media/image-3-5.jpe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jpe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jpeg"/><Relationship Id="rId4" Type="http://schemas.openxmlformats.org/officeDocument/2006/relationships/image" Target="../media/image-6-4.png"/><Relationship Id="rId5" Type="http://schemas.openxmlformats.org/officeDocument/2006/relationships/image" Target="../media/image-6-5.jpe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2.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hyperlink" Target="https://dk129213.github.io/VitaNatura/" TargetMode="External"/><Relationship Id="rId1" Type="http://schemas.openxmlformats.org/officeDocument/2006/relationships/image" Target="../media/image-12-1.jpeg"/><Relationship Id="rId2" Type="http://schemas.openxmlformats.org/officeDocument/2006/relationships/image" Target="../media/image-12-2.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Background photo" descr="preencoded.png">    </p:cNvPr>
          <p:cNvPicPr>
            <a:picLocks noChangeAspect="1"/>
          </p:cNvPicPr>
          <p:nvPr/>
        </p:nvPicPr>
        <p:blipFill>
          <a:blip r:embed="rId1"/>
          <a:srcRect l="0" r="0" t="7666" b="7666"/>
          <a:stretch/>
        </p:blipFill>
        <p:spPr>
          <a:xfrm>
            <a:off x="0" y="0"/>
            <a:ext cx="12191695" cy="6858000"/>
          </a:xfrm>
          <a:prstGeom prst="rect">
            <a:avLst/>
          </a:prstGeom>
        </p:spPr>
      </p:pic>
      <p:sp>
        <p:nvSpPr>
          <p:cNvPr id="3" name="Scrim"/>
          <p:cNvSpPr/>
          <p:nvPr/>
        </p:nvSpPr>
        <p:spPr>
          <a:xfrm>
            <a:off x="0" y="0"/>
            <a:ext cx="12191695" cy="6858000"/>
          </a:xfrm>
          <a:prstGeom prst="rect">
            <a:avLst/>
          </a:prstGeom>
          <a:solidFill>
            <a:srgbClr val="15201B">
              <a:alpha val="60000"/>
            </a:srgbClr>
          </a:solidFill>
          <a:ln/>
        </p:spPr>
      </p:sp>
      <p:sp>
        <p:nvSpPr>
          <p:cNvPr id="4" name="Text 1"/>
          <p:cNvSpPr txBox="1"/>
          <p:nvPr/>
        </p:nvSpPr>
        <p:spPr>
          <a:xfrm>
            <a:off x="548640" y="1371600"/>
            <a:ext cx="7315200" cy="365760"/>
          </a:xfrm>
          <a:prstGeom prst="rect">
            <a:avLst/>
          </a:prstGeom>
          <a:noFill/>
          <a:ln/>
        </p:spPr>
        <p:txBody>
          <a:bodyPr wrap="square" lIns="0" tIns="0" rIns="0" bIns="0" rtlCol="0" anchor="ctr"/>
          <a:lstStyle/>
          <a:p>
            <a:pPr indent="0" marL="0">
              <a:buNone/>
            </a:pPr>
            <a:r>
              <a:rPr lang="en-US" sz="1600" b="1" spc="300" kern="0" dirty="0">
                <a:solidFill>
                  <a:srgbClr val="B8E6CF"/>
                </a:solidFill>
              </a:rPr>
              <a:t>DUBROVNIK-NERETVA COUNTY · ALL YEAR</a:t>
            </a:r>
            <a:endParaRPr lang="en-US" sz="1600" dirty="0"/>
          </a:p>
        </p:txBody>
      </p:sp>
      <p:sp>
        <p:nvSpPr>
          <p:cNvPr id="5" name="Text 2"/>
          <p:cNvSpPr txBox="1"/>
          <p:nvPr/>
        </p:nvSpPr>
        <p:spPr>
          <a:xfrm>
            <a:off x="548640" y="1828800"/>
            <a:ext cx="7680960" cy="2468880"/>
          </a:xfrm>
          <a:prstGeom prst="rect">
            <a:avLst/>
          </a:prstGeom>
          <a:noFill/>
          <a:ln/>
        </p:spPr>
        <p:txBody>
          <a:bodyPr wrap="square" lIns="0" tIns="0" rIns="0" bIns="0" rtlCol="0" anchor="t"/>
          <a:lstStyle/>
          <a:p>
            <a:pPr indent="0" marL="0">
              <a:lnSpc>
                <a:spcPct val="92000"/>
              </a:lnSpc>
              <a:buNone/>
            </a:pPr>
            <a:r>
              <a:rPr lang="en-US" sz="8000" b="1" dirty="0">
                <a:solidFill>
                  <a:srgbClr val="FFFFFF"/>
                </a:solidFill>
              </a:rPr>
              <a:t>You travel.</a:t>
            </a:r>
            <a:endParaRPr lang="en-US" sz="8000" dirty="0"/>
          </a:p>
          <a:p>
            <a:pPr indent="0" marL="0">
              <a:lnSpc>
                <a:spcPct val="92000"/>
              </a:lnSpc>
              <a:buNone/>
            </a:pPr>
            <a:r>
              <a:rPr lang="en-US" sz="8000" b="1" dirty="0">
                <a:solidFill>
                  <a:srgbClr val="FFFFFF"/>
                </a:solidFill>
              </a:rPr>
              <a:t>We care.</a:t>
            </a:r>
            <a:endParaRPr lang="en-US" sz="8000" dirty="0"/>
          </a:p>
        </p:txBody>
      </p:sp>
      <p:sp>
        <p:nvSpPr>
          <p:cNvPr id="6" name="Text 3"/>
          <p:cNvSpPr txBox="1"/>
          <p:nvPr/>
        </p:nvSpPr>
        <p:spPr>
          <a:xfrm>
            <a:off x="548640" y="4389120"/>
            <a:ext cx="7132320" cy="822960"/>
          </a:xfrm>
          <a:prstGeom prst="rect">
            <a:avLst/>
          </a:prstGeom>
          <a:noFill/>
          <a:ln/>
        </p:spPr>
        <p:txBody>
          <a:bodyPr wrap="square" lIns="0" tIns="0" rIns="0" bIns="0" rtlCol="0" anchor="t"/>
          <a:lstStyle/>
          <a:p>
            <a:pPr indent="0" marL="0">
              <a:buNone/>
            </a:pPr>
            <a:r>
              <a:rPr lang="en-US" sz="2000" dirty="0">
                <a:solidFill>
                  <a:srgbClr val="E3EEE8"/>
                </a:solidFill>
              </a:rPr>
              <a:t>We change the region around Dubrovnik so it works for visitors and locals in every season, not only in summer.</a:t>
            </a:r>
            <a:endParaRPr lang="en-US" sz="2000" dirty="0"/>
          </a:p>
        </p:txBody>
      </p:sp>
      <p:sp>
        <p:nvSpPr>
          <p:cNvPr id="7" name="Text 4"/>
          <p:cNvSpPr txBox="1"/>
          <p:nvPr/>
        </p:nvSpPr>
        <p:spPr>
          <a:xfrm>
            <a:off x="548640" y="6035040"/>
            <a:ext cx="5486400" cy="365760"/>
          </a:xfrm>
          <a:prstGeom prst="rect">
            <a:avLst/>
          </a:prstGeom>
          <a:noFill/>
          <a:ln/>
        </p:spPr>
        <p:txBody>
          <a:bodyPr wrap="square" lIns="0" tIns="0" rIns="0" bIns="0" rtlCol="0" anchor="ctr"/>
          <a:lstStyle/>
          <a:p>
            <a:pPr indent="0" marL="0">
              <a:buNone/>
            </a:pPr>
            <a:r>
              <a:rPr lang="en-US" sz="1400" dirty="0">
                <a:solidFill>
                  <a:srgbClr val="C9D6CF"/>
                </a:solidFill>
              </a:rPr>
              <a:t>VitaNatura 365 · Tourism 365 hackathon</a:t>
            </a:r>
            <a:endParaRPr lang="en-US" sz="1400" dirty="0"/>
          </a:p>
        </p:txBody>
      </p:sp>
      <p:sp>
        <p:nvSpPr>
          <p:cNvPr id="8" name="Shape 5"/>
          <p:cNvSpPr/>
          <p:nvPr/>
        </p:nvSpPr>
        <p:spPr>
          <a:xfrm>
            <a:off x="8778240" y="1920240"/>
            <a:ext cx="2743200" cy="3154680"/>
          </a:xfrm>
          <a:prstGeom prst="roundRect">
            <a:avLst>
              <a:gd name="adj" fmla="val 4000"/>
            </a:avLst>
          </a:prstGeom>
          <a:solidFill>
            <a:srgbClr val="FFFFFF"/>
          </a:solidFill>
          <a:ln/>
        </p:spPr>
      </p:sp>
      <p:pic>
        <p:nvPicPr>
          <p:cNvPr id="9" name="Image 1" descr="preencoded.png">
            <a:hlinkClick r:id="rId3" tooltip=""/>
          </p:cNvPr>
          <p:cNvPicPr>
            <a:picLocks noChangeAspect="1"/>
          </p:cNvPicPr>
          <p:nvPr/>
        </p:nvPicPr>
        <p:blipFill>
          <a:blip r:embed="rId2"/>
          <a:stretch>
            <a:fillRect/>
          </a:stretch>
        </p:blipFill>
        <p:spPr>
          <a:xfrm>
            <a:off x="9006840" y="2148840"/>
            <a:ext cx="2286000" cy="2286000"/>
          </a:xfrm>
          <a:prstGeom prst="rect">
            <a:avLst/>
          </a:prstGeom>
        </p:spPr>
      </p:pic>
      <p:sp>
        <p:nvSpPr>
          <p:cNvPr id="10" name="Text 6"/>
          <p:cNvSpPr txBox="1"/>
          <p:nvPr/>
        </p:nvSpPr>
        <p:spPr>
          <a:xfrm>
            <a:off x="8778240" y="4526280"/>
            <a:ext cx="2743200" cy="365760"/>
          </a:xfrm>
          <a:prstGeom prst="rect">
            <a:avLst/>
          </a:prstGeom>
          <a:noFill/>
          <a:ln/>
        </p:spPr>
        <p:txBody>
          <a:bodyPr wrap="square" lIns="0" tIns="0" rIns="0" bIns="0" rtlCol="0" anchor="ctr"/>
          <a:lstStyle/>
          <a:p>
            <a:pPr algn="ctr" indent="0" marL="0">
              <a:buNone/>
            </a:pPr>
            <a:r>
              <a:rPr lang="en-US" sz="1400" b="1" dirty="0">
                <a:solidFill>
                  <a:schemeClr val="tx1"/>
                </a:solidFill>
              </a:rPr>
              <a:t>Scan to follow along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t"/>
          <a:lstStyle/>
          <a:p>
            <a:pPr algn="l" indent="0" marL="0">
              <a:buNone/>
            </a:pPr>
            <a:r>
              <a:rPr lang="en-US" sz="3400" b="1" dirty="0">
                <a:solidFill>
                  <a:schemeClr val="tx1"/>
                </a:solidFill>
              </a:rPr>
              <a:t>Full for 3 months. Empty for 6.</a:t>
            </a:r>
            <a:endParaRPr lang="en-US" sz="3400" dirty="0"/>
          </a:p>
        </p:txBody>
      </p:sp>
      <p:sp>
        <p:nvSpPr>
          <p:cNvPr id="3" name="Shape 1"/>
          <p:cNvSpPr/>
          <p:nvPr/>
        </p:nvSpPr>
        <p:spPr>
          <a:xfrm>
            <a:off x="548640" y="1463040"/>
            <a:ext cx="566928" cy="566928"/>
          </a:xfrm>
          <a:prstGeom prst="ellipse">
            <a:avLst/>
          </a:prstGeom>
          <a:solidFill>
            <a:schemeClr val="accent6"/>
          </a:solidFill>
          <a:ln/>
        </p:spPr>
      </p:sp>
      <p:pic>
        <p:nvPicPr>
          <p:cNvPr id="4" name="Image 0" descr="preencoded.png">    </p:cNvPr>
          <p:cNvPicPr>
            <a:picLocks noChangeAspect="1"/>
          </p:cNvPicPr>
          <p:nvPr/>
        </p:nvPicPr>
        <p:blipFill>
          <a:blip r:embed="rId1"/>
          <a:stretch>
            <a:fillRect/>
          </a:stretch>
        </p:blipFill>
        <p:spPr>
          <a:xfrm>
            <a:off x="662026" y="1576426"/>
            <a:ext cx="340157" cy="340157"/>
          </a:xfrm>
          <a:prstGeom prst="rect">
            <a:avLst/>
          </a:prstGeom>
        </p:spPr>
      </p:pic>
      <p:sp>
        <p:nvSpPr>
          <p:cNvPr id="5" name="Text 2"/>
          <p:cNvSpPr txBox="1"/>
          <p:nvPr/>
        </p:nvSpPr>
        <p:spPr>
          <a:xfrm>
            <a:off x="1371600" y="1463040"/>
            <a:ext cx="5120640" cy="365760"/>
          </a:xfrm>
          <a:prstGeom prst="rect">
            <a:avLst/>
          </a:prstGeom>
          <a:noFill/>
          <a:ln/>
        </p:spPr>
        <p:txBody>
          <a:bodyPr wrap="square" lIns="0" tIns="0" rIns="0" bIns="0" rtlCol="0" anchor="ctr"/>
          <a:lstStyle/>
          <a:p>
            <a:pPr indent="0" marL="0">
              <a:buNone/>
            </a:pPr>
            <a:r>
              <a:rPr lang="en-US" sz="1900" b="1" dirty="0">
                <a:solidFill>
                  <a:schemeClr val="tx1"/>
                </a:solidFill>
              </a:rPr>
              <a:t>The destination</a:t>
            </a:r>
            <a:endParaRPr lang="en-US" sz="1900" dirty="0"/>
          </a:p>
        </p:txBody>
      </p:sp>
      <p:sp>
        <p:nvSpPr>
          <p:cNvPr id="6" name="Text 3"/>
          <p:cNvSpPr txBox="1"/>
          <p:nvPr/>
        </p:nvSpPr>
        <p:spPr>
          <a:xfrm>
            <a:off x="1371600" y="1847088"/>
            <a:ext cx="5120640" cy="914400"/>
          </a:xfrm>
          <a:prstGeom prst="rect">
            <a:avLst/>
          </a:prstGeom>
          <a:noFill/>
          <a:ln/>
        </p:spPr>
        <p:txBody>
          <a:bodyPr wrap="square" lIns="0" tIns="0" rIns="0" bIns="0" rtlCol="0" anchor="t"/>
          <a:lstStyle/>
          <a:p>
            <a:pPr indent="0" marL="0">
              <a:buNone/>
            </a:pPr>
            <a:r>
              <a:rPr lang="en-US" sz="1500" dirty="0">
                <a:solidFill>
                  <a:schemeClr val="accent5"/>
                </a:solidFill>
              </a:rPr>
              <a:t>In summer the Old Town is packed. From November to March hotels close and the region goes quiet.</a:t>
            </a:r>
            <a:endParaRPr lang="en-US" sz="1500" dirty="0"/>
          </a:p>
        </p:txBody>
      </p:sp>
      <p:sp>
        <p:nvSpPr>
          <p:cNvPr id="7" name="Shape 4"/>
          <p:cNvSpPr/>
          <p:nvPr/>
        </p:nvSpPr>
        <p:spPr>
          <a:xfrm>
            <a:off x="548640" y="2926080"/>
            <a:ext cx="566928" cy="566928"/>
          </a:xfrm>
          <a:prstGeom prst="ellipse">
            <a:avLst/>
          </a:prstGeom>
          <a:solidFill>
            <a:schemeClr val="accent6"/>
          </a:solidFill>
          <a:ln/>
        </p:spPr>
      </p:sp>
      <p:pic>
        <p:nvPicPr>
          <p:cNvPr id="8" name="Image 1" descr="preencoded.png">    </p:cNvPr>
          <p:cNvPicPr>
            <a:picLocks noChangeAspect="1"/>
          </p:cNvPicPr>
          <p:nvPr/>
        </p:nvPicPr>
        <p:blipFill>
          <a:blip r:embed="rId2"/>
          <a:stretch>
            <a:fillRect/>
          </a:stretch>
        </p:blipFill>
        <p:spPr>
          <a:xfrm>
            <a:off x="662026" y="3039466"/>
            <a:ext cx="340157" cy="340157"/>
          </a:xfrm>
          <a:prstGeom prst="rect">
            <a:avLst/>
          </a:prstGeom>
        </p:spPr>
      </p:pic>
      <p:sp>
        <p:nvSpPr>
          <p:cNvPr id="9" name="Text 5"/>
          <p:cNvSpPr txBox="1"/>
          <p:nvPr/>
        </p:nvSpPr>
        <p:spPr>
          <a:xfrm>
            <a:off x="1371600" y="2926080"/>
            <a:ext cx="5120640" cy="365760"/>
          </a:xfrm>
          <a:prstGeom prst="rect">
            <a:avLst/>
          </a:prstGeom>
          <a:noFill/>
          <a:ln/>
        </p:spPr>
        <p:txBody>
          <a:bodyPr wrap="square" lIns="0" tIns="0" rIns="0" bIns="0" rtlCol="0" anchor="ctr"/>
          <a:lstStyle/>
          <a:p>
            <a:pPr indent="0" marL="0">
              <a:buNone/>
            </a:pPr>
            <a:r>
              <a:rPr lang="en-US" sz="1900" b="1" dirty="0">
                <a:solidFill>
                  <a:schemeClr val="tx1"/>
                </a:solidFill>
              </a:rPr>
              <a:t>The local community</a:t>
            </a:r>
            <a:endParaRPr lang="en-US" sz="1900" dirty="0"/>
          </a:p>
        </p:txBody>
      </p:sp>
      <p:sp>
        <p:nvSpPr>
          <p:cNvPr id="10" name="Text 6"/>
          <p:cNvSpPr txBox="1"/>
          <p:nvPr/>
        </p:nvSpPr>
        <p:spPr>
          <a:xfrm>
            <a:off x="1371600" y="3310128"/>
            <a:ext cx="5120640" cy="914400"/>
          </a:xfrm>
          <a:prstGeom prst="rect">
            <a:avLst/>
          </a:prstGeom>
          <a:noFill/>
          <a:ln/>
        </p:spPr>
        <p:txBody>
          <a:bodyPr wrap="square" lIns="0" tIns="0" rIns="0" bIns="0" rtlCol="0" anchor="t"/>
          <a:lstStyle/>
          <a:p>
            <a:pPr indent="0" marL="0">
              <a:buNone/>
            </a:pPr>
            <a:r>
              <a:rPr lang="en-US" sz="1500" dirty="0">
                <a:solidFill>
                  <a:schemeClr val="accent5"/>
                </a:solidFill>
              </a:rPr>
              <a:t>Boatmen, farmers, guides and hotel staff lose their income for half the year. Young people leave the valley.</a:t>
            </a:r>
            <a:endParaRPr lang="en-US" sz="1500" dirty="0"/>
          </a:p>
        </p:txBody>
      </p:sp>
      <p:sp>
        <p:nvSpPr>
          <p:cNvPr id="11" name="Shape 7"/>
          <p:cNvSpPr/>
          <p:nvPr/>
        </p:nvSpPr>
        <p:spPr>
          <a:xfrm>
            <a:off x="548640" y="4389120"/>
            <a:ext cx="566928" cy="566928"/>
          </a:xfrm>
          <a:prstGeom prst="ellipse">
            <a:avLst/>
          </a:prstGeom>
          <a:solidFill>
            <a:schemeClr val="accent6"/>
          </a:solidFill>
          <a:ln/>
        </p:spPr>
      </p:sp>
      <p:pic>
        <p:nvPicPr>
          <p:cNvPr id="12" name="Image 2" descr="preencoded.png">    </p:cNvPr>
          <p:cNvPicPr>
            <a:picLocks noChangeAspect="1"/>
          </p:cNvPicPr>
          <p:nvPr/>
        </p:nvPicPr>
        <p:blipFill>
          <a:blip r:embed="rId3"/>
          <a:stretch>
            <a:fillRect/>
          </a:stretch>
        </p:blipFill>
        <p:spPr>
          <a:xfrm>
            <a:off x="662026" y="4502506"/>
            <a:ext cx="340157" cy="340157"/>
          </a:xfrm>
          <a:prstGeom prst="rect">
            <a:avLst/>
          </a:prstGeom>
        </p:spPr>
      </p:pic>
      <p:sp>
        <p:nvSpPr>
          <p:cNvPr id="13" name="Text 8"/>
          <p:cNvSpPr txBox="1"/>
          <p:nvPr/>
        </p:nvSpPr>
        <p:spPr>
          <a:xfrm>
            <a:off x="1371600" y="4389120"/>
            <a:ext cx="5120640" cy="365760"/>
          </a:xfrm>
          <a:prstGeom prst="rect">
            <a:avLst/>
          </a:prstGeom>
          <a:noFill/>
          <a:ln/>
        </p:spPr>
        <p:txBody>
          <a:bodyPr wrap="square" lIns="0" tIns="0" rIns="0" bIns="0" rtlCol="0" anchor="ctr"/>
          <a:lstStyle/>
          <a:p>
            <a:pPr indent="0" marL="0">
              <a:buNone/>
            </a:pPr>
            <a:r>
              <a:rPr lang="en-US" sz="1900" b="1" dirty="0">
                <a:solidFill>
                  <a:schemeClr val="tx1"/>
                </a:solidFill>
              </a:rPr>
              <a:t>What is already there</a:t>
            </a:r>
            <a:endParaRPr lang="en-US" sz="1900" dirty="0"/>
          </a:p>
        </p:txBody>
      </p:sp>
      <p:sp>
        <p:nvSpPr>
          <p:cNvPr id="14" name="Text 9"/>
          <p:cNvSpPr txBox="1"/>
          <p:nvPr/>
        </p:nvSpPr>
        <p:spPr>
          <a:xfrm>
            <a:off x="1371600" y="4773168"/>
            <a:ext cx="5120640" cy="914400"/>
          </a:xfrm>
          <a:prstGeom prst="rect">
            <a:avLst/>
          </a:prstGeom>
          <a:noFill/>
          <a:ln/>
        </p:spPr>
        <p:txBody>
          <a:bodyPr wrap="square" lIns="0" tIns="0" rIns="0" bIns="0" rtlCol="0" anchor="t"/>
          <a:lstStyle/>
          <a:p>
            <a:pPr indent="0" marL="0">
              <a:buNone/>
            </a:pPr>
            <a:r>
              <a:rPr lang="en-US" sz="1500" dirty="0">
                <a:solidFill>
                  <a:schemeClr val="accent5"/>
                </a:solidFill>
              </a:rPr>
              <a:t>A delta full of birds, mandarin and olive harvests, Ston's walls and oysters, feasts like St. Blaise. All at their best outside summer.</a:t>
            </a:r>
            <a:endParaRPr lang="en-US" sz="1500" dirty="0"/>
          </a:p>
        </p:txBody>
      </p:sp>
      <p:pic>
        <p:nvPicPr>
          <p:cNvPr id="15" name="Neretva delta" descr="preencoded.png">    </p:cNvPr>
          <p:cNvPicPr>
            <a:picLocks noChangeAspect="1"/>
          </p:cNvPicPr>
          <p:nvPr/>
        </p:nvPicPr>
        <p:blipFill>
          <a:blip r:embed="rId4"/>
          <a:srcRect l="15803" r="15803" t="0" b="0"/>
          <a:stretch/>
        </p:blipFill>
        <p:spPr>
          <a:xfrm>
            <a:off x="6766560" y="1371600"/>
            <a:ext cx="4876495" cy="4754880"/>
          </a:xfrm>
          <a:prstGeom prst="rect">
            <a:avLst/>
          </a:prstGeom>
        </p:spPr>
      </p:pic>
      <p:sp>
        <p:nvSpPr>
          <p:cNvPr id="16" name="Shape 10"/>
          <p:cNvSpPr/>
          <p:nvPr/>
        </p:nvSpPr>
        <p:spPr>
          <a:xfrm>
            <a:off x="6995160" y="5120640"/>
            <a:ext cx="4389120" cy="777240"/>
          </a:xfrm>
          <a:prstGeom prst="roundRect">
            <a:avLst>
              <a:gd name="adj" fmla="val 14118"/>
            </a:avLst>
          </a:prstGeom>
          <a:solidFill>
            <a:srgbClr val="15201B"/>
          </a:solidFill>
          <a:ln/>
        </p:spPr>
      </p:sp>
      <p:sp>
        <p:nvSpPr>
          <p:cNvPr id="17" name="Text 11"/>
          <p:cNvSpPr txBox="1"/>
          <p:nvPr/>
        </p:nvSpPr>
        <p:spPr>
          <a:xfrm>
            <a:off x="7178040" y="5166360"/>
            <a:ext cx="4023360" cy="685800"/>
          </a:xfrm>
          <a:prstGeom prst="rect">
            <a:avLst/>
          </a:prstGeom>
          <a:noFill/>
          <a:ln/>
        </p:spPr>
        <p:txBody>
          <a:bodyPr wrap="square" lIns="0" tIns="0" rIns="0" bIns="0" rtlCol="0" anchor="ctr"/>
          <a:lstStyle/>
          <a:p>
            <a:pPr indent="0" marL="0">
              <a:buNone/>
            </a:pPr>
            <a:r>
              <a:rPr lang="en-US" sz="1400" dirty="0">
                <a:solidFill>
                  <a:srgbClr val="FFFFFF"/>
                </a:solidFill>
              </a:rPr>
              <a:t>The reasons to come exist. The destination just isn't set up for them.</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46D"/>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t"/>
          <a:lstStyle/>
          <a:p>
            <a:pPr algn="l" indent="0" marL="0">
              <a:buNone/>
            </a:pPr>
            <a:r>
              <a:rPr lang="en-US" sz="3400" b="1" dirty="0">
                <a:solidFill>
                  <a:schemeClr val="tx1"/>
                </a:solidFill>
              </a:rPr>
              <a:t>We change the destination, in three ways</a:t>
            </a:r>
            <a:endParaRPr lang="en-US" sz="3400" dirty="0"/>
          </a:p>
        </p:txBody>
      </p:sp>
      <p:sp>
        <p:nvSpPr>
          <p:cNvPr id="3" name="Shape 1"/>
          <p:cNvSpPr/>
          <p:nvPr/>
        </p:nvSpPr>
        <p:spPr>
          <a:xfrm>
            <a:off x="548640" y="1371600"/>
            <a:ext cx="3566160" cy="4709160"/>
          </a:xfrm>
          <a:prstGeom prst="roundRect">
            <a:avLst>
              <a:gd name="adj" fmla="val 3077"/>
            </a:avLst>
          </a:prstGeom>
          <a:solidFill>
            <a:schemeClr val="bg2"/>
          </a:solidFill>
          <a:ln/>
        </p:spPr>
      </p:sp>
      <p:pic>
        <p:nvPicPr>
          <p:cNvPr id="4" name="1. Stretch the events" descr="preencoded.png">    </p:cNvPr>
          <p:cNvPicPr>
            <a:picLocks noChangeAspect="1"/>
          </p:cNvPicPr>
          <p:nvPr/>
        </p:nvPicPr>
        <p:blipFill>
          <a:blip r:embed="rId1"/>
          <a:srcRect l="0" r="0" t="6410" b="14957"/>
          <a:stretch/>
        </p:blipFill>
        <p:spPr>
          <a:xfrm>
            <a:off x="548640" y="1371600"/>
            <a:ext cx="3566160" cy="2103120"/>
          </a:xfrm>
          <a:prstGeom prst="rect">
            <a:avLst/>
          </a:prstGeom>
        </p:spPr>
      </p:pic>
      <p:sp>
        <p:nvSpPr>
          <p:cNvPr id="5" name="Shape 2"/>
          <p:cNvSpPr/>
          <p:nvPr/>
        </p:nvSpPr>
        <p:spPr>
          <a:xfrm>
            <a:off x="777240" y="3657600"/>
            <a:ext cx="548640" cy="548640"/>
          </a:xfrm>
          <a:prstGeom prst="ellipse">
            <a:avLst/>
          </a:prstGeom>
          <a:solidFill>
            <a:schemeClr val="accent6"/>
          </a:solidFill>
          <a:ln/>
        </p:spPr>
      </p:sp>
      <p:pic>
        <p:nvPicPr>
          <p:cNvPr id="6" name="Image 1" descr="preencoded.png">    </p:cNvPr>
          <p:cNvPicPr>
            <a:picLocks noChangeAspect="1"/>
          </p:cNvPicPr>
          <p:nvPr/>
        </p:nvPicPr>
        <p:blipFill>
          <a:blip r:embed="rId2"/>
          <a:stretch>
            <a:fillRect/>
          </a:stretch>
        </p:blipFill>
        <p:spPr>
          <a:xfrm>
            <a:off x="886968" y="3767328"/>
            <a:ext cx="329184" cy="329184"/>
          </a:xfrm>
          <a:prstGeom prst="rect">
            <a:avLst/>
          </a:prstGeom>
        </p:spPr>
      </p:pic>
      <p:sp>
        <p:nvSpPr>
          <p:cNvPr id="7" name="Text 3"/>
          <p:cNvSpPr txBox="1"/>
          <p:nvPr/>
        </p:nvSpPr>
        <p:spPr>
          <a:xfrm>
            <a:off x="777240" y="4343400"/>
            <a:ext cx="3108960" cy="411480"/>
          </a:xfrm>
          <a:prstGeom prst="rect">
            <a:avLst/>
          </a:prstGeom>
          <a:noFill/>
          <a:ln/>
        </p:spPr>
        <p:txBody>
          <a:bodyPr wrap="square" lIns="0" tIns="0" rIns="0" bIns="0" rtlCol="0" anchor="ctr"/>
          <a:lstStyle/>
          <a:p>
            <a:pPr indent="0" marL="0">
              <a:buNone/>
            </a:pPr>
            <a:r>
              <a:rPr lang="en-US" sz="1800" b="1" dirty="0">
                <a:solidFill>
                  <a:schemeClr val="tx1"/>
                </a:solidFill>
              </a:rPr>
              <a:t>1. Stretch the events</a:t>
            </a:r>
            <a:endParaRPr lang="en-US" sz="1800" dirty="0"/>
          </a:p>
        </p:txBody>
      </p:sp>
      <p:sp>
        <p:nvSpPr>
          <p:cNvPr id="8" name="Text 4"/>
          <p:cNvSpPr txBox="1"/>
          <p:nvPr/>
        </p:nvSpPr>
        <p:spPr>
          <a:xfrm>
            <a:off x="777240" y="4800600"/>
            <a:ext cx="3108960" cy="1188720"/>
          </a:xfrm>
          <a:prstGeom prst="rect">
            <a:avLst/>
          </a:prstGeom>
          <a:noFill/>
          <a:ln/>
        </p:spPr>
        <p:txBody>
          <a:bodyPr wrap="square" lIns="0" tIns="0" rIns="0" bIns="0" rtlCol="0" anchor="t"/>
          <a:lstStyle/>
          <a:p>
            <a:pPr indent="0" marL="0">
              <a:buNone/>
            </a:pPr>
            <a:r>
              <a:rPr lang="en-US" sz="1400" dirty="0">
                <a:solidFill>
                  <a:schemeClr val="accent5"/>
                </a:solidFill>
              </a:rPr>
              <a:t>One-day feasts become weeks of workshops and activities. St. Blaise and the Ston oysters first.</a:t>
            </a:r>
            <a:endParaRPr lang="en-US" sz="1400" dirty="0"/>
          </a:p>
        </p:txBody>
      </p:sp>
      <p:sp>
        <p:nvSpPr>
          <p:cNvPr id="9" name="Shape 5"/>
          <p:cNvSpPr/>
          <p:nvPr/>
        </p:nvSpPr>
        <p:spPr>
          <a:xfrm>
            <a:off x="4297680" y="1371600"/>
            <a:ext cx="3566160" cy="4709160"/>
          </a:xfrm>
          <a:prstGeom prst="roundRect">
            <a:avLst>
              <a:gd name="adj" fmla="val 3077"/>
            </a:avLst>
          </a:prstGeom>
          <a:solidFill>
            <a:schemeClr val="bg2"/>
          </a:solidFill>
          <a:ln/>
        </p:spPr>
      </p:sp>
      <p:pic>
        <p:nvPicPr>
          <p:cNvPr id="10" name="2. New activities in the countryside" descr="preencoded.png">    </p:cNvPr>
          <p:cNvPicPr>
            <a:picLocks noChangeAspect="1"/>
          </p:cNvPicPr>
          <p:nvPr/>
        </p:nvPicPr>
        <p:blipFill>
          <a:blip r:embed="rId3"/>
          <a:srcRect l="0" r="0" t="3370" b="7863"/>
          <a:stretch/>
        </p:blipFill>
        <p:spPr>
          <a:xfrm>
            <a:off x="4297680" y="1371600"/>
            <a:ext cx="3566160" cy="2103120"/>
          </a:xfrm>
          <a:prstGeom prst="rect">
            <a:avLst/>
          </a:prstGeom>
        </p:spPr>
      </p:pic>
      <p:sp>
        <p:nvSpPr>
          <p:cNvPr id="11" name="Shape 6"/>
          <p:cNvSpPr/>
          <p:nvPr/>
        </p:nvSpPr>
        <p:spPr>
          <a:xfrm>
            <a:off x="4526280" y="3657600"/>
            <a:ext cx="548640" cy="548640"/>
          </a:xfrm>
          <a:prstGeom prst="ellipse">
            <a:avLst/>
          </a:prstGeom>
          <a:solidFill>
            <a:schemeClr val="accent6"/>
          </a:solidFill>
          <a:ln/>
        </p:spPr>
      </p:sp>
      <p:pic>
        <p:nvPicPr>
          <p:cNvPr id="12" name="Image 3" descr="preencoded.png">    </p:cNvPr>
          <p:cNvPicPr>
            <a:picLocks noChangeAspect="1"/>
          </p:cNvPicPr>
          <p:nvPr/>
        </p:nvPicPr>
        <p:blipFill>
          <a:blip r:embed="rId4"/>
          <a:stretch>
            <a:fillRect/>
          </a:stretch>
        </p:blipFill>
        <p:spPr>
          <a:xfrm>
            <a:off x="4636008" y="3767328"/>
            <a:ext cx="329184" cy="329184"/>
          </a:xfrm>
          <a:prstGeom prst="rect">
            <a:avLst/>
          </a:prstGeom>
        </p:spPr>
      </p:pic>
      <p:sp>
        <p:nvSpPr>
          <p:cNvPr id="13" name="Text 7"/>
          <p:cNvSpPr txBox="1"/>
          <p:nvPr/>
        </p:nvSpPr>
        <p:spPr>
          <a:xfrm>
            <a:off x="4526280" y="4343400"/>
            <a:ext cx="3108960" cy="411480"/>
          </a:xfrm>
          <a:prstGeom prst="rect">
            <a:avLst/>
          </a:prstGeom>
          <a:noFill/>
          <a:ln/>
        </p:spPr>
        <p:txBody>
          <a:bodyPr wrap="square" lIns="0" tIns="0" rIns="0" bIns="0" rtlCol="0" anchor="ctr"/>
          <a:lstStyle/>
          <a:p>
            <a:pPr indent="0" marL="0">
              <a:buNone/>
            </a:pPr>
            <a:r>
              <a:rPr lang="en-US" sz="1800" b="1" dirty="0">
                <a:solidFill>
                  <a:schemeClr val="tx1"/>
                </a:solidFill>
              </a:rPr>
              <a:t>2. New activities in the countryside</a:t>
            </a:r>
            <a:endParaRPr lang="en-US" sz="1800" dirty="0"/>
          </a:p>
        </p:txBody>
      </p:sp>
      <p:sp>
        <p:nvSpPr>
          <p:cNvPr id="14" name="Text 8"/>
          <p:cNvSpPr txBox="1"/>
          <p:nvPr/>
        </p:nvSpPr>
        <p:spPr>
          <a:xfrm>
            <a:off x="4526280" y="4800600"/>
            <a:ext cx="3108960" cy="1188720"/>
          </a:xfrm>
          <a:prstGeom prst="rect">
            <a:avLst/>
          </a:prstGeom>
          <a:noFill/>
          <a:ln/>
        </p:spPr>
        <p:txBody>
          <a:bodyPr wrap="square" lIns="0" tIns="0" rIns="0" bIns="0" rtlCol="0" anchor="t"/>
          <a:lstStyle/>
          <a:p>
            <a:pPr indent="0" marL="0">
              <a:buNone/>
            </a:pPr>
            <a:r>
              <a:rPr lang="en-US" sz="1400" dirty="0">
                <a:solidFill>
                  <a:schemeClr val="accent5"/>
                </a:solidFill>
              </a:rPr>
              <a:t>Photo safari by lađa, birdwatching and harvests in the Neretva valley, Pelješac and Konavle.</a:t>
            </a:r>
            <a:endParaRPr lang="en-US" sz="1400" dirty="0"/>
          </a:p>
        </p:txBody>
      </p:sp>
      <p:sp>
        <p:nvSpPr>
          <p:cNvPr id="15" name="Shape 9"/>
          <p:cNvSpPr/>
          <p:nvPr/>
        </p:nvSpPr>
        <p:spPr>
          <a:xfrm>
            <a:off x="8046720" y="1371600"/>
            <a:ext cx="3566160" cy="4709160"/>
          </a:xfrm>
          <a:prstGeom prst="roundRect">
            <a:avLst>
              <a:gd name="adj" fmla="val 3077"/>
            </a:avLst>
          </a:prstGeom>
          <a:solidFill>
            <a:schemeClr val="bg2"/>
          </a:solidFill>
          <a:ln/>
        </p:spPr>
      </p:sp>
      <p:pic>
        <p:nvPicPr>
          <p:cNvPr id="16" name="3. Small things we build" descr="preencoded.png">    </p:cNvPr>
          <p:cNvPicPr>
            <a:picLocks noChangeAspect="1"/>
          </p:cNvPicPr>
          <p:nvPr/>
        </p:nvPicPr>
        <p:blipFill>
          <a:blip r:embed="rId5"/>
          <a:srcRect l="0" r="0" t="696" b="1624"/>
          <a:stretch/>
        </p:blipFill>
        <p:spPr>
          <a:xfrm>
            <a:off x="8046720" y="1371600"/>
            <a:ext cx="3566160" cy="2103120"/>
          </a:xfrm>
          <a:prstGeom prst="rect">
            <a:avLst/>
          </a:prstGeom>
        </p:spPr>
      </p:pic>
      <p:sp>
        <p:nvSpPr>
          <p:cNvPr id="17" name="Shape 10"/>
          <p:cNvSpPr/>
          <p:nvPr/>
        </p:nvSpPr>
        <p:spPr>
          <a:xfrm>
            <a:off x="8275320" y="3657600"/>
            <a:ext cx="548640" cy="548640"/>
          </a:xfrm>
          <a:prstGeom prst="ellipse">
            <a:avLst/>
          </a:prstGeom>
          <a:solidFill>
            <a:schemeClr val="accent6"/>
          </a:solidFill>
          <a:ln/>
        </p:spPr>
      </p:sp>
      <p:pic>
        <p:nvPicPr>
          <p:cNvPr id="18" name="Image 5" descr="preencoded.png">    </p:cNvPr>
          <p:cNvPicPr>
            <a:picLocks noChangeAspect="1"/>
          </p:cNvPicPr>
          <p:nvPr/>
        </p:nvPicPr>
        <p:blipFill>
          <a:blip r:embed="rId6"/>
          <a:stretch>
            <a:fillRect/>
          </a:stretch>
        </p:blipFill>
        <p:spPr>
          <a:xfrm>
            <a:off x="8385048" y="3767328"/>
            <a:ext cx="329184" cy="329184"/>
          </a:xfrm>
          <a:prstGeom prst="rect">
            <a:avLst/>
          </a:prstGeom>
        </p:spPr>
      </p:pic>
      <p:sp>
        <p:nvSpPr>
          <p:cNvPr id="19" name="Text 11"/>
          <p:cNvSpPr txBox="1"/>
          <p:nvPr/>
        </p:nvSpPr>
        <p:spPr>
          <a:xfrm>
            <a:off x="8275320" y="4343400"/>
            <a:ext cx="3108960" cy="411480"/>
          </a:xfrm>
          <a:prstGeom prst="rect">
            <a:avLst/>
          </a:prstGeom>
          <a:noFill/>
          <a:ln/>
        </p:spPr>
        <p:txBody>
          <a:bodyPr wrap="square" lIns="0" tIns="0" rIns="0" bIns="0" rtlCol="0" anchor="ctr"/>
          <a:lstStyle/>
          <a:p>
            <a:pPr indent="0" marL="0">
              <a:buNone/>
            </a:pPr>
            <a:r>
              <a:rPr lang="en-US" sz="1800" b="1" dirty="0">
                <a:solidFill>
                  <a:schemeClr val="tx1"/>
                </a:solidFill>
              </a:rPr>
              <a:t>3. Small things we build</a:t>
            </a:r>
            <a:endParaRPr lang="en-US" sz="1800" dirty="0"/>
          </a:p>
        </p:txBody>
      </p:sp>
      <p:sp>
        <p:nvSpPr>
          <p:cNvPr id="20" name="Text 12"/>
          <p:cNvSpPr txBox="1"/>
          <p:nvPr/>
        </p:nvSpPr>
        <p:spPr>
          <a:xfrm>
            <a:off x="8275320" y="4800600"/>
            <a:ext cx="3108960" cy="1188720"/>
          </a:xfrm>
          <a:prstGeom prst="rect">
            <a:avLst/>
          </a:prstGeom>
          <a:noFill/>
          <a:ln/>
        </p:spPr>
        <p:txBody>
          <a:bodyPr wrap="square" lIns="0" tIns="0" rIns="0" bIns="0" rtlCol="0" anchor="t"/>
          <a:lstStyle/>
          <a:p>
            <a:pPr indent="0" marL="0">
              <a:buNone/>
            </a:pPr>
            <a:r>
              <a:rPr lang="en-US" sz="1400" dirty="0">
                <a:solidFill>
                  <a:schemeClr val="accent5"/>
                </a:solidFill>
              </a:rPr>
              <a:t>Photo hides, canoe launch points, a birdwatching route, benches and winter hours on the Ston walls.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46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t"/>
          <a:lstStyle/>
          <a:p>
            <a:pPr algn="l" indent="0" marL="0">
              <a:buNone/>
            </a:pPr>
            <a:r>
              <a:rPr lang="en-US" sz="3400" b="1" dirty="0">
                <a:solidFill>
                  <a:schemeClr val="tx1"/>
                </a:solidFill>
              </a:rPr>
              <a:t>St. Blaise: from one feast day to a festival week</a:t>
            </a:r>
            <a:endParaRPr lang="en-US" sz="3400" dirty="0"/>
          </a:p>
        </p:txBody>
      </p:sp>
      <p:pic>
        <p:nvPicPr>
          <p:cNvPr id="3" name="St. Blaise feast, Dubrovnik" descr="preencoded.png">    </p:cNvPr>
          <p:cNvPicPr>
            <a:picLocks noChangeAspect="1"/>
          </p:cNvPicPr>
          <p:nvPr/>
        </p:nvPicPr>
        <p:blipFill>
          <a:blip r:embed="rId1"/>
          <a:srcRect l="20874" r="20874" t="0" b="0"/>
          <a:stretch/>
        </p:blipFill>
        <p:spPr>
          <a:xfrm>
            <a:off x="548640" y="1371600"/>
            <a:ext cx="3657600" cy="4709160"/>
          </a:xfrm>
          <a:prstGeom prst="rect">
            <a:avLst/>
          </a:prstGeom>
        </p:spPr>
      </p:pic>
      <p:sp>
        <p:nvSpPr>
          <p:cNvPr id="4" name="Shape 1"/>
          <p:cNvSpPr/>
          <p:nvPr/>
        </p:nvSpPr>
        <p:spPr>
          <a:xfrm>
            <a:off x="4434840" y="1371600"/>
            <a:ext cx="3291840" cy="4709160"/>
          </a:xfrm>
          <a:prstGeom prst="roundRect">
            <a:avLst>
              <a:gd name="adj" fmla="val 3333"/>
            </a:avLst>
          </a:prstGeom>
          <a:solidFill>
            <a:schemeClr val="bg2"/>
          </a:solidFill>
          <a:ln/>
        </p:spPr>
      </p:sp>
      <p:sp>
        <p:nvSpPr>
          <p:cNvPr id="5" name="Text 2"/>
          <p:cNvSpPr txBox="1"/>
          <p:nvPr/>
        </p:nvSpPr>
        <p:spPr>
          <a:xfrm>
            <a:off x="4663440" y="1554480"/>
            <a:ext cx="3200400" cy="274320"/>
          </a:xfrm>
          <a:prstGeom prst="rect">
            <a:avLst/>
          </a:prstGeom>
          <a:noFill/>
          <a:ln/>
        </p:spPr>
        <p:txBody>
          <a:bodyPr wrap="square" lIns="0" tIns="0" rIns="0" bIns="0" rtlCol="0" anchor="ctr"/>
          <a:lstStyle/>
          <a:p>
            <a:pPr indent="0" marL="0">
              <a:buNone/>
            </a:pPr>
            <a:r>
              <a:rPr lang="en-US" sz="1200" b="1" spc="200" kern="0" dirty="0">
                <a:solidFill>
                  <a:schemeClr val="accent5"/>
                </a:solidFill>
              </a:rPr>
              <a:t>TODAY</a:t>
            </a:r>
            <a:endParaRPr lang="en-US" sz="1200" dirty="0"/>
          </a:p>
        </p:txBody>
      </p:sp>
      <p:sp>
        <p:nvSpPr>
          <p:cNvPr id="6" name="Text 3"/>
          <p:cNvSpPr txBox="1"/>
          <p:nvPr/>
        </p:nvSpPr>
        <p:spPr>
          <a:xfrm>
            <a:off x="4663440" y="1874520"/>
            <a:ext cx="2834640" cy="457200"/>
          </a:xfrm>
          <a:prstGeom prst="rect">
            <a:avLst/>
          </a:prstGeom>
          <a:noFill/>
          <a:ln/>
        </p:spPr>
        <p:txBody>
          <a:bodyPr wrap="square" lIns="0" tIns="0" rIns="0" bIns="0" rtlCol="0" anchor="ctr"/>
          <a:lstStyle/>
          <a:p>
            <a:pPr indent="0" marL="0">
              <a:buNone/>
            </a:pPr>
            <a:r>
              <a:rPr lang="en-US" sz="2400" b="1" dirty="0">
                <a:solidFill>
                  <a:schemeClr val="tx1"/>
                </a:solidFill>
              </a:rPr>
              <a:t>3 February</a:t>
            </a:r>
            <a:endParaRPr lang="en-US" sz="2400" dirty="0"/>
          </a:p>
        </p:txBody>
      </p:sp>
      <p:sp>
        <p:nvSpPr>
          <p:cNvPr id="7" name="Text 4"/>
          <p:cNvSpPr txBox="1"/>
          <p:nvPr/>
        </p:nvSpPr>
        <p:spPr>
          <a:xfrm>
            <a:off x="4663440" y="2468880"/>
            <a:ext cx="2834640" cy="2194560"/>
          </a:xfrm>
          <a:prstGeom prst="rect">
            <a:avLst/>
          </a:prstGeom>
          <a:noFill/>
          <a:ln/>
        </p:spPr>
        <p:txBody>
          <a:bodyPr wrap="square" lIns="0" tIns="0" rIns="0" bIns="0" rtlCol="0" anchor="t"/>
          <a:lstStyle/>
          <a:p>
            <a:pPr indent="0" marL="0">
              <a:buNone/>
            </a:pPr>
            <a:r>
              <a:rPr lang="en-US" sz="1500" dirty="0">
                <a:solidFill>
                  <a:schemeClr val="accent5"/>
                </a:solidFill>
              </a:rPr>
              <a:t>Dubrovnik's patron saint feast, on the UNESCO intangible heritage list: processions, flags, the blessing of throats. Then everyone goes home.</a:t>
            </a:r>
            <a:endParaRPr lang="en-US" sz="1500" dirty="0"/>
          </a:p>
        </p:txBody>
      </p:sp>
      <p:sp>
        <p:nvSpPr>
          <p:cNvPr id="8" name="Shape 5"/>
          <p:cNvSpPr/>
          <p:nvPr/>
        </p:nvSpPr>
        <p:spPr>
          <a:xfrm>
            <a:off x="7909560" y="1371600"/>
            <a:ext cx="3733495" cy="4709160"/>
          </a:xfrm>
          <a:prstGeom prst="roundRect">
            <a:avLst>
              <a:gd name="adj" fmla="val 2939"/>
            </a:avLst>
          </a:prstGeom>
          <a:solidFill>
            <a:srgbClr val="DCEFE5"/>
          </a:solidFill>
          <a:ln/>
        </p:spPr>
      </p:sp>
      <p:sp>
        <p:nvSpPr>
          <p:cNvPr id="9" name="Text 6"/>
          <p:cNvSpPr txBox="1"/>
          <p:nvPr/>
        </p:nvSpPr>
        <p:spPr>
          <a:xfrm>
            <a:off x="8138160" y="1554480"/>
            <a:ext cx="3200400" cy="274320"/>
          </a:xfrm>
          <a:prstGeom prst="rect">
            <a:avLst/>
          </a:prstGeom>
          <a:noFill/>
          <a:ln/>
        </p:spPr>
        <p:txBody>
          <a:bodyPr wrap="square" lIns="0" tIns="0" rIns="0" bIns="0" rtlCol="0" anchor="ctr"/>
          <a:lstStyle/>
          <a:p>
            <a:pPr indent="0" marL="0">
              <a:buNone/>
            </a:pPr>
            <a:r>
              <a:rPr lang="en-US" sz="1200" b="1" spc="200" kern="0" dirty="0">
                <a:solidFill>
                  <a:schemeClr val="tx2"/>
                </a:solidFill>
              </a:rPr>
              <a:t>WITH US</a:t>
            </a:r>
            <a:endParaRPr lang="en-US" sz="1200" dirty="0"/>
          </a:p>
        </p:txBody>
      </p:sp>
      <p:sp>
        <p:nvSpPr>
          <p:cNvPr id="10" name="Text 7"/>
          <p:cNvSpPr txBox="1"/>
          <p:nvPr/>
        </p:nvSpPr>
        <p:spPr>
          <a:xfrm>
            <a:off x="8138160" y="1874520"/>
            <a:ext cx="3383280" cy="457200"/>
          </a:xfrm>
          <a:prstGeom prst="rect">
            <a:avLst/>
          </a:prstGeom>
          <a:noFill/>
          <a:ln/>
        </p:spPr>
        <p:txBody>
          <a:bodyPr wrap="square" lIns="0" tIns="0" rIns="0" bIns="0" rtlCol="0" anchor="ctr"/>
          <a:lstStyle/>
          <a:p>
            <a:pPr indent="0" marL="0">
              <a:buNone/>
            </a:pPr>
            <a:r>
              <a:rPr lang="en-US" sz="2200" b="1" dirty="0">
                <a:solidFill>
                  <a:schemeClr val="tx1"/>
                </a:solidFill>
              </a:rPr>
              <a:t>St. Blaise Week, 3 to 9 Feb</a:t>
            </a:r>
            <a:endParaRPr lang="en-US" sz="2200" dirty="0"/>
          </a:p>
        </p:txBody>
      </p:sp>
      <p:sp>
        <p:nvSpPr>
          <p:cNvPr id="11" name="Text 8"/>
          <p:cNvSpPr txBox="1"/>
          <p:nvPr/>
        </p:nvSpPr>
        <p:spPr>
          <a:xfrm>
            <a:off x="8138160" y="2468880"/>
            <a:ext cx="3429000" cy="34747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3 Feb: the feast as it is today</a:t>
            </a:r>
            <a:endParaRPr lang="en-US" sz="1400" dirty="0"/>
          </a:p>
          <a:p>
            <a:pPr marL="342900" indent="-342900">
              <a:spcAft>
                <a:spcPts val="800"/>
              </a:spcAft>
              <a:buSzPct val="100000"/>
              <a:buChar char="•"/>
            </a:pPr>
            <a:r>
              <a:rPr lang="en-US" sz="1400" dirty="0">
                <a:solidFill>
                  <a:schemeClr val="tx1"/>
                </a:solidFill>
              </a:rPr>
              <a:t>4 to 5 Feb: workshops in festive cooking, flag and costume making, and a children's day</a:t>
            </a:r>
            <a:endParaRPr lang="en-US" sz="1400" dirty="0"/>
          </a:p>
          <a:p>
            <a:pPr marL="342900" indent="-342900">
              <a:spcAft>
                <a:spcPts val="800"/>
              </a:spcAft>
              <a:buSzPct val="100000"/>
              <a:buChar char="•"/>
            </a:pPr>
            <a:r>
              <a:rPr lang="en-US" sz="1400" dirty="0">
                <a:solidFill>
                  <a:schemeClr val="tx1"/>
                </a:solidFill>
              </a:rPr>
              <a:t>6 to 7 Feb: guided history walks and an exhibition of costumes and relics</a:t>
            </a:r>
            <a:endParaRPr lang="en-US" sz="1400" dirty="0"/>
          </a:p>
          <a:p>
            <a:pPr marL="342900" indent="-342900">
              <a:spcAft>
                <a:spcPts val="800"/>
              </a:spcAft>
              <a:buSzPct val="100000"/>
              <a:buChar char="•"/>
            </a:pPr>
            <a:r>
              <a:rPr lang="en-US" sz="1400" dirty="0">
                <a:solidFill>
                  <a:schemeClr val="tx1"/>
                </a:solidFill>
              </a:rPr>
              <a:t>8 to 9 Feb: day trips to Konavle and Ston, where the villages host lunch</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46D"/>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t"/>
          <a:lstStyle/>
          <a:p>
            <a:pPr algn="l" indent="0" marL="0">
              <a:buNone/>
            </a:pPr>
            <a:r>
              <a:rPr lang="en-US" sz="3400" b="1" dirty="0">
                <a:solidFill>
                  <a:schemeClr val="tx1"/>
                </a:solidFill>
              </a:rPr>
              <a:t>Ston: from Oyster Days to an oyster season</a:t>
            </a:r>
            <a:endParaRPr lang="en-US" sz="3400" dirty="0"/>
          </a:p>
        </p:txBody>
      </p:sp>
      <p:sp>
        <p:nvSpPr>
          <p:cNvPr id="3" name="Shape 1"/>
          <p:cNvSpPr/>
          <p:nvPr/>
        </p:nvSpPr>
        <p:spPr>
          <a:xfrm>
            <a:off x="548640" y="1371600"/>
            <a:ext cx="3291840" cy="4709160"/>
          </a:xfrm>
          <a:prstGeom prst="roundRect">
            <a:avLst>
              <a:gd name="adj" fmla="val 3333"/>
            </a:avLst>
          </a:prstGeom>
          <a:solidFill>
            <a:schemeClr val="bg2"/>
          </a:solidFill>
          <a:ln/>
        </p:spPr>
      </p:sp>
      <p:sp>
        <p:nvSpPr>
          <p:cNvPr id="4" name="Text 2"/>
          <p:cNvSpPr txBox="1"/>
          <p:nvPr/>
        </p:nvSpPr>
        <p:spPr>
          <a:xfrm>
            <a:off x="777240" y="1554480"/>
            <a:ext cx="3200400" cy="274320"/>
          </a:xfrm>
          <a:prstGeom prst="rect">
            <a:avLst/>
          </a:prstGeom>
          <a:noFill/>
          <a:ln/>
        </p:spPr>
        <p:txBody>
          <a:bodyPr wrap="square" lIns="0" tIns="0" rIns="0" bIns="0" rtlCol="0" anchor="ctr"/>
          <a:lstStyle/>
          <a:p>
            <a:pPr indent="0" marL="0">
              <a:buNone/>
            </a:pPr>
            <a:r>
              <a:rPr lang="en-US" sz="1200" b="1" spc="200" kern="0" dirty="0">
                <a:solidFill>
                  <a:schemeClr val="accent5"/>
                </a:solidFill>
              </a:rPr>
              <a:t>TODAY</a:t>
            </a:r>
            <a:endParaRPr lang="en-US" sz="1200" dirty="0"/>
          </a:p>
        </p:txBody>
      </p:sp>
      <p:sp>
        <p:nvSpPr>
          <p:cNvPr id="5" name="Text 3"/>
          <p:cNvSpPr txBox="1"/>
          <p:nvPr/>
        </p:nvSpPr>
        <p:spPr>
          <a:xfrm>
            <a:off x="777240" y="1874520"/>
            <a:ext cx="2834640" cy="457200"/>
          </a:xfrm>
          <a:prstGeom prst="rect">
            <a:avLst/>
          </a:prstGeom>
          <a:noFill/>
          <a:ln/>
        </p:spPr>
        <p:txBody>
          <a:bodyPr wrap="square" lIns="0" tIns="0" rIns="0" bIns="0" rtlCol="0" anchor="ctr"/>
          <a:lstStyle/>
          <a:p>
            <a:pPr indent="0" marL="0">
              <a:buNone/>
            </a:pPr>
            <a:r>
              <a:rPr lang="en-US" sz="2200" b="1" dirty="0">
                <a:solidFill>
                  <a:schemeClr val="tx1"/>
                </a:solidFill>
              </a:rPr>
              <a:t>A few days in March</a:t>
            </a:r>
            <a:endParaRPr lang="en-US" sz="2200" dirty="0"/>
          </a:p>
        </p:txBody>
      </p:sp>
      <p:sp>
        <p:nvSpPr>
          <p:cNvPr id="6" name="Text 4"/>
          <p:cNvSpPr txBox="1"/>
          <p:nvPr/>
        </p:nvSpPr>
        <p:spPr>
          <a:xfrm>
            <a:off x="777240" y="2468880"/>
            <a:ext cx="2834640" cy="2194560"/>
          </a:xfrm>
          <a:prstGeom prst="rect">
            <a:avLst/>
          </a:prstGeom>
          <a:noFill/>
          <a:ln/>
        </p:spPr>
        <p:txBody>
          <a:bodyPr wrap="square" lIns="0" tIns="0" rIns="0" bIns="0" rtlCol="0" anchor="t"/>
          <a:lstStyle/>
          <a:p>
            <a:pPr indent="0" marL="0">
              <a:buNone/>
            </a:pPr>
            <a:r>
              <a:rPr lang="en-US" sz="1500" dirty="0">
                <a:solidFill>
                  <a:schemeClr val="accent5"/>
                </a:solidFill>
              </a:rPr>
              <a:t>Ston Oyster Days happen around St. Joseph's Day (19 March). Yet Mali Ston oysters are at their best through the whole cool season.</a:t>
            </a:r>
            <a:endParaRPr lang="en-US" sz="1500" dirty="0"/>
          </a:p>
        </p:txBody>
      </p:sp>
      <p:sp>
        <p:nvSpPr>
          <p:cNvPr id="7" name="Shape 5"/>
          <p:cNvSpPr/>
          <p:nvPr/>
        </p:nvSpPr>
        <p:spPr>
          <a:xfrm>
            <a:off x="4023360" y="1371600"/>
            <a:ext cx="3840480" cy="4709160"/>
          </a:xfrm>
          <a:prstGeom prst="roundRect">
            <a:avLst>
              <a:gd name="adj" fmla="val 2857"/>
            </a:avLst>
          </a:prstGeom>
          <a:solidFill>
            <a:srgbClr val="DCEFE5"/>
          </a:solidFill>
          <a:ln/>
        </p:spPr>
      </p:sp>
      <p:sp>
        <p:nvSpPr>
          <p:cNvPr id="8" name="Text 6"/>
          <p:cNvSpPr txBox="1"/>
          <p:nvPr/>
        </p:nvSpPr>
        <p:spPr>
          <a:xfrm>
            <a:off x="4251960" y="1554480"/>
            <a:ext cx="3200400" cy="274320"/>
          </a:xfrm>
          <a:prstGeom prst="rect">
            <a:avLst/>
          </a:prstGeom>
          <a:noFill/>
          <a:ln/>
        </p:spPr>
        <p:txBody>
          <a:bodyPr wrap="square" lIns="0" tIns="0" rIns="0" bIns="0" rtlCol="0" anchor="ctr"/>
          <a:lstStyle/>
          <a:p>
            <a:pPr indent="0" marL="0">
              <a:buNone/>
            </a:pPr>
            <a:r>
              <a:rPr lang="en-US" sz="1200" b="1" spc="200" kern="0" dirty="0">
                <a:solidFill>
                  <a:schemeClr val="tx2"/>
                </a:solidFill>
              </a:rPr>
              <a:t>WITH US</a:t>
            </a:r>
            <a:endParaRPr lang="en-US" sz="1200" dirty="0"/>
          </a:p>
        </p:txBody>
      </p:sp>
      <p:sp>
        <p:nvSpPr>
          <p:cNvPr id="9" name="Text 7"/>
          <p:cNvSpPr txBox="1"/>
          <p:nvPr/>
        </p:nvSpPr>
        <p:spPr>
          <a:xfrm>
            <a:off x="4251960" y="1874520"/>
            <a:ext cx="3474720" cy="457200"/>
          </a:xfrm>
          <a:prstGeom prst="rect">
            <a:avLst/>
          </a:prstGeom>
          <a:noFill/>
          <a:ln/>
        </p:spPr>
        <p:txBody>
          <a:bodyPr wrap="square" lIns="0" tIns="0" rIns="0" bIns="0" rtlCol="0" anchor="ctr"/>
          <a:lstStyle/>
          <a:p>
            <a:pPr indent="0" marL="0">
              <a:buNone/>
            </a:pPr>
            <a:r>
              <a:rPr lang="en-US" sz="2200" b="1" dirty="0">
                <a:solidFill>
                  <a:schemeClr val="tx1"/>
                </a:solidFill>
              </a:rPr>
              <a:t>Every weekend, Feb to Apr</a:t>
            </a:r>
            <a:endParaRPr lang="en-US" sz="2200" dirty="0"/>
          </a:p>
        </p:txBody>
      </p:sp>
      <p:sp>
        <p:nvSpPr>
          <p:cNvPr id="10" name="Text 8"/>
          <p:cNvSpPr txBox="1"/>
          <p:nvPr/>
        </p:nvSpPr>
        <p:spPr>
          <a:xfrm>
            <a:off x="4251960" y="2468880"/>
            <a:ext cx="3429000" cy="34747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Boat visits to the oyster farms in Mali Ston bay</a:t>
            </a:r>
            <a:endParaRPr lang="en-US" sz="1400" dirty="0"/>
          </a:p>
          <a:p>
            <a:pPr marL="342900" indent="-342900">
              <a:spcAft>
                <a:spcPts val="800"/>
              </a:spcAft>
              <a:buSzPct val="100000"/>
              <a:buChar char="•"/>
            </a:pPr>
            <a:r>
              <a:rPr lang="en-US" sz="1400" dirty="0">
                <a:solidFill>
                  <a:schemeClr val="tx1"/>
                </a:solidFill>
              </a:rPr>
              <a:t>Shucking and cooking workshops with the farmers</a:t>
            </a:r>
            <a:endParaRPr lang="en-US" sz="1400" dirty="0"/>
          </a:p>
          <a:p>
            <a:pPr marL="342900" indent="-342900">
              <a:spcAft>
                <a:spcPts val="800"/>
              </a:spcAft>
              <a:buSzPct val="100000"/>
              <a:buChar char="•"/>
            </a:pPr>
            <a:r>
              <a:rPr lang="en-US" sz="1400" dirty="0">
                <a:solidFill>
                  <a:schemeClr val="tx1"/>
                </a:solidFill>
              </a:rPr>
              <a:t>The salt works: how sea salt is made by hand</a:t>
            </a:r>
            <a:endParaRPr lang="en-US" sz="1400" dirty="0"/>
          </a:p>
          <a:p>
            <a:pPr marL="342900" indent="-342900">
              <a:spcAft>
                <a:spcPts val="800"/>
              </a:spcAft>
              <a:buSzPct val="100000"/>
              <a:buChar char="•"/>
            </a:pPr>
            <a:r>
              <a:rPr lang="en-US" sz="1400" dirty="0">
                <a:solidFill>
                  <a:schemeClr val="tx1"/>
                </a:solidFill>
              </a:rPr>
              <a:t>A walk on the Ston walls, with new benches, water and winter opening hours</a:t>
            </a:r>
            <a:endParaRPr lang="en-US" sz="1400" dirty="0"/>
          </a:p>
          <a:p>
            <a:pPr marL="342900" indent="-342900">
              <a:spcAft>
                <a:spcPts val="800"/>
              </a:spcAft>
              <a:buSzPct val="100000"/>
              <a:buChar char="•"/>
            </a:pPr>
            <a:r>
              <a:rPr lang="en-US" sz="1400" dirty="0">
                <a:solidFill>
                  <a:schemeClr val="tx1"/>
                </a:solidFill>
              </a:rPr>
              <a:t>Mussels and a bag of salt for the kids</a:t>
            </a:r>
            <a:endParaRPr lang="en-US" sz="1400" dirty="0"/>
          </a:p>
        </p:txBody>
      </p:sp>
      <p:pic>
        <p:nvPicPr>
          <p:cNvPr id="11" name="Mali Ston bay" descr="preencoded.png">    </p:cNvPr>
          <p:cNvPicPr>
            <a:picLocks noChangeAspect="1"/>
          </p:cNvPicPr>
          <p:nvPr/>
        </p:nvPicPr>
        <p:blipFill>
          <a:blip r:embed="rId1"/>
          <a:srcRect l="0" r="0" t="2644" b="2644"/>
          <a:stretch/>
        </p:blipFill>
        <p:spPr>
          <a:xfrm>
            <a:off x="8046720" y="1371600"/>
            <a:ext cx="3596335" cy="2286000"/>
          </a:xfrm>
          <a:prstGeom prst="rect">
            <a:avLst/>
          </a:prstGeom>
        </p:spPr>
      </p:pic>
      <p:pic>
        <p:nvPicPr>
          <p:cNvPr id="12" name="Ston walls" descr="preencoded.png">    </p:cNvPr>
          <p:cNvPicPr>
            <a:picLocks noChangeAspect="1"/>
          </p:cNvPicPr>
          <p:nvPr/>
        </p:nvPicPr>
        <p:blipFill>
          <a:blip r:embed="rId2"/>
          <a:srcRect l="2509" r="2509" t="0" b="0"/>
          <a:stretch/>
        </p:blipFill>
        <p:spPr>
          <a:xfrm>
            <a:off x="8046720" y="3794760"/>
            <a:ext cx="3596335" cy="228600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46D"/>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t"/>
          <a:lstStyle/>
          <a:p>
            <a:pPr algn="l" indent="0" marL="0">
              <a:buNone/>
            </a:pPr>
            <a:r>
              <a:rPr lang="en-US" sz="3400" b="1" dirty="0">
                <a:solidFill>
                  <a:schemeClr val="tx1"/>
                </a:solidFill>
              </a:rPr>
              <a:t>New in the Neretva valley, and what we build for it</a:t>
            </a:r>
            <a:endParaRPr lang="en-US" sz="3400" dirty="0"/>
          </a:p>
        </p:txBody>
      </p:sp>
      <p:sp>
        <p:nvSpPr>
          <p:cNvPr id="3" name="Shape 1"/>
          <p:cNvSpPr/>
          <p:nvPr/>
        </p:nvSpPr>
        <p:spPr>
          <a:xfrm>
            <a:off x="548640" y="1371600"/>
            <a:ext cx="3566160" cy="4709160"/>
          </a:xfrm>
          <a:prstGeom prst="roundRect">
            <a:avLst>
              <a:gd name="adj" fmla="val 3077"/>
            </a:avLst>
          </a:prstGeom>
          <a:solidFill>
            <a:schemeClr val="bg2"/>
          </a:solidFill>
          <a:ln/>
        </p:spPr>
      </p:sp>
      <p:pic>
        <p:nvPicPr>
          <p:cNvPr id="4" name="Photo safari by lađa" descr="preencoded.png">    </p:cNvPr>
          <p:cNvPicPr>
            <a:picLocks noChangeAspect="1"/>
          </p:cNvPicPr>
          <p:nvPr/>
        </p:nvPicPr>
        <p:blipFill>
          <a:blip r:embed="rId1"/>
          <a:srcRect l="0" r="0" t="7546" b="7546"/>
          <a:stretch/>
        </p:blipFill>
        <p:spPr>
          <a:xfrm>
            <a:off x="548640" y="1371600"/>
            <a:ext cx="3566160" cy="2011680"/>
          </a:xfrm>
          <a:prstGeom prst="rect">
            <a:avLst/>
          </a:prstGeom>
        </p:spPr>
      </p:pic>
      <p:sp>
        <p:nvSpPr>
          <p:cNvPr id="5" name="Shape 2"/>
          <p:cNvSpPr/>
          <p:nvPr/>
        </p:nvSpPr>
        <p:spPr>
          <a:xfrm>
            <a:off x="777240" y="3566160"/>
            <a:ext cx="530352" cy="530352"/>
          </a:xfrm>
          <a:prstGeom prst="ellipse">
            <a:avLst/>
          </a:prstGeom>
          <a:solidFill>
            <a:schemeClr val="accent6"/>
          </a:solidFill>
          <a:ln/>
        </p:spPr>
      </p:sp>
      <p:pic>
        <p:nvPicPr>
          <p:cNvPr id="6" name="Image 1" descr="preencoded.png">    </p:cNvPr>
          <p:cNvPicPr>
            <a:picLocks noChangeAspect="1"/>
          </p:cNvPicPr>
          <p:nvPr/>
        </p:nvPicPr>
        <p:blipFill>
          <a:blip r:embed="rId2"/>
          <a:stretch>
            <a:fillRect/>
          </a:stretch>
        </p:blipFill>
        <p:spPr>
          <a:xfrm>
            <a:off x="883310" y="3672230"/>
            <a:ext cx="318211" cy="318211"/>
          </a:xfrm>
          <a:prstGeom prst="rect">
            <a:avLst/>
          </a:prstGeom>
        </p:spPr>
      </p:pic>
      <p:sp>
        <p:nvSpPr>
          <p:cNvPr id="7" name="Text 3"/>
          <p:cNvSpPr txBox="1"/>
          <p:nvPr/>
        </p:nvSpPr>
        <p:spPr>
          <a:xfrm>
            <a:off x="1463040" y="3639312"/>
            <a:ext cx="2560320" cy="411480"/>
          </a:xfrm>
          <a:prstGeom prst="rect">
            <a:avLst/>
          </a:prstGeom>
          <a:noFill/>
          <a:ln/>
        </p:spPr>
        <p:txBody>
          <a:bodyPr wrap="square" lIns="0" tIns="0" rIns="0" bIns="0" rtlCol="0" anchor="ctr"/>
          <a:lstStyle/>
          <a:p>
            <a:pPr indent="0" marL="0">
              <a:buNone/>
            </a:pPr>
            <a:r>
              <a:rPr lang="en-US" sz="1800" b="1" dirty="0">
                <a:solidFill>
                  <a:schemeClr val="tx1"/>
                </a:solidFill>
              </a:rPr>
              <a:t>Photo safari by lađa</a:t>
            </a:r>
            <a:endParaRPr lang="en-US" sz="1800" dirty="0"/>
          </a:p>
        </p:txBody>
      </p:sp>
      <p:sp>
        <p:nvSpPr>
          <p:cNvPr id="8" name="Text 4"/>
          <p:cNvSpPr txBox="1"/>
          <p:nvPr/>
        </p:nvSpPr>
        <p:spPr>
          <a:xfrm>
            <a:off x="777240" y="4251960"/>
            <a:ext cx="3108960" cy="822960"/>
          </a:xfrm>
          <a:prstGeom prst="rect">
            <a:avLst/>
          </a:prstGeom>
          <a:noFill/>
          <a:ln/>
        </p:spPr>
        <p:txBody>
          <a:bodyPr wrap="square" lIns="0" tIns="0" rIns="0" bIns="0" rtlCol="0" anchor="t"/>
          <a:lstStyle/>
          <a:p>
            <a:pPr indent="0" marL="0">
              <a:buNone/>
            </a:pPr>
            <a:r>
              <a:rPr lang="en-US" sz="1400" dirty="0">
                <a:solidFill>
                  <a:schemeClr val="accent5"/>
                </a:solidFill>
              </a:rPr>
              <a:t>Sunrise trips through the channels with a local boatman and a photographer.</a:t>
            </a:r>
            <a:endParaRPr lang="en-US" sz="1400" dirty="0"/>
          </a:p>
        </p:txBody>
      </p:sp>
      <p:sp>
        <p:nvSpPr>
          <p:cNvPr id="9" name="Shape 5"/>
          <p:cNvSpPr/>
          <p:nvPr/>
        </p:nvSpPr>
        <p:spPr>
          <a:xfrm>
            <a:off x="777240" y="5120640"/>
            <a:ext cx="3108960" cy="777240"/>
          </a:xfrm>
          <a:prstGeom prst="roundRect">
            <a:avLst>
              <a:gd name="adj" fmla="val 14118"/>
            </a:avLst>
          </a:prstGeom>
          <a:solidFill>
            <a:srgbClr val="FFFFFF"/>
          </a:solidFill>
          <a:ln/>
        </p:spPr>
      </p:sp>
      <p:sp>
        <p:nvSpPr>
          <p:cNvPr id="10" name="Text 6"/>
          <p:cNvSpPr txBox="1"/>
          <p:nvPr/>
        </p:nvSpPr>
        <p:spPr>
          <a:xfrm>
            <a:off x="914400" y="5120640"/>
            <a:ext cx="2834640" cy="777240"/>
          </a:xfrm>
          <a:prstGeom prst="rect">
            <a:avLst/>
          </a:prstGeom>
          <a:noFill/>
          <a:ln/>
        </p:spPr>
        <p:txBody>
          <a:bodyPr wrap="square" lIns="0" tIns="0" rIns="0" bIns="0" rtlCol="0" anchor="ctr"/>
          <a:lstStyle/>
          <a:p>
            <a:pPr indent="0" marL="0">
              <a:buNone/>
            </a:pPr>
            <a:r>
              <a:rPr lang="en-US" sz="1300" b="1" dirty="0">
                <a:solidFill>
                  <a:schemeClr val="tx2"/>
                </a:solidFill>
              </a:rPr>
              <a:t>We build: wooden photo hides at 3 viewpoints</a:t>
            </a:r>
            <a:endParaRPr lang="en-US" sz="1300" dirty="0"/>
          </a:p>
        </p:txBody>
      </p:sp>
      <p:sp>
        <p:nvSpPr>
          <p:cNvPr id="11" name="Shape 7"/>
          <p:cNvSpPr/>
          <p:nvPr/>
        </p:nvSpPr>
        <p:spPr>
          <a:xfrm>
            <a:off x="4297680" y="1371600"/>
            <a:ext cx="3566160" cy="4709160"/>
          </a:xfrm>
          <a:prstGeom prst="roundRect">
            <a:avLst>
              <a:gd name="adj" fmla="val 3077"/>
            </a:avLst>
          </a:prstGeom>
          <a:solidFill>
            <a:schemeClr val="bg2"/>
          </a:solidFill>
          <a:ln/>
        </p:spPr>
      </p:sp>
      <p:pic>
        <p:nvPicPr>
          <p:cNvPr id="12" name="Birdwatching" descr="preencoded.png">    </p:cNvPr>
          <p:cNvPicPr>
            <a:picLocks noChangeAspect="1"/>
          </p:cNvPicPr>
          <p:nvPr/>
        </p:nvPicPr>
        <p:blipFill>
          <a:blip r:embed="rId3"/>
          <a:srcRect l="0" r="0" t="7706" b="7706"/>
          <a:stretch/>
        </p:blipFill>
        <p:spPr>
          <a:xfrm>
            <a:off x="4297680" y="1371600"/>
            <a:ext cx="3566160" cy="2011680"/>
          </a:xfrm>
          <a:prstGeom prst="rect">
            <a:avLst/>
          </a:prstGeom>
        </p:spPr>
      </p:pic>
      <p:sp>
        <p:nvSpPr>
          <p:cNvPr id="13" name="Shape 8"/>
          <p:cNvSpPr/>
          <p:nvPr/>
        </p:nvSpPr>
        <p:spPr>
          <a:xfrm>
            <a:off x="4526280" y="3566160"/>
            <a:ext cx="530352" cy="530352"/>
          </a:xfrm>
          <a:prstGeom prst="ellipse">
            <a:avLst/>
          </a:prstGeom>
          <a:solidFill>
            <a:schemeClr val="accent6"/>
          </a:solidFill>
          <a:ln/>
        </p:spPr>
      </p:sp>
      <p:pic>
        <p:nvPicPr>
          <p:cNvPr id="14" name="Image 3" descr="preencoded.png">    </p:cNvPr>
          <p:cNvPicPr>
            <a:picLocks noChangeAspect="1"/>
          </p:cNvPicPr>
          <p:nvPr/>
        </p:nvPicPr>
        <p:blipFill>
          <a:blip r:embed="rId4"/>
          <a:stretch>
            <a:fillRect/>
          </a:stretch>
        </p:blipFill>
        <p:spPr>
          <a:xfrm>
            <a:off x="4632350" y="3672230"/>
            <a:ext cx="318211" cy="318211"/>
          </a:xfrm>
          <a:prstGeom prst="rect">
            <a:avLst/>
          </a:prstGeom>
        </p:spPr>
      </p:pic>
      <p:sp>
        <p:nvSpPr>
          <p:cNvPr id="15" name="Text 9"/>
          <p:cNvSpPr txBox="1"/>
          <p:nvPr/>
        </p:nvSpPr>
        <p:spPr>
          <a:xfrm>
            <a:off x="5212080" y="3639312"/>
            <a:ext cx="2560320" cy="411480"/>
          </a:xfrm>
          <a:prstGeom prst="rect">
            <a:avLst/>
          </a:prstGeom>
          <a:noFill/>
          <a:ln/>
        </p:spPr>
        <p:txBody>
          <a:bodyPr wrap="square" lIns="0" tIns="0" rIns="0" bIns="0" rtlCol="0" anchor="ctr"/>
          <a:lstStyle/>
          <a:p>
            <a:pPr indent="0" marL="0">
              <a:buNone/>
            </a:pPr>
            <a:r>
              <a:rPr lang="en-US" sz="1800" b="1" dirty="0">
                <a:solidFill>
                  <a:schemeClr val="tx1"/>
                </a:solidFill>
              </a:rPr>
              <a:t>Birdwatching</a:t>
            </a:r>
            <a:endParaRPr lang="en-US" sz="1800" dirty="0"/>
          </a:p>
        </p:txBody>
      </p:sp>
      <p:sp>
        <p:nvSpPr>
          <p:cNvPr id="16" name="Text 10"/>
          <p:cNvSpPr txBox="1"/>
          <p:nvPr/>
        </p:nvSpPr>
        <p:spPr>
          <a:xfrm>
            <a:off x="4526280" y="4251960"/>
            <a:ext cx="3108960" cy="822960"/>
          </a:xfrm>
          <a:prstGeom prst="rect">
            <a:avLst/>
          </a:prstGeom>
          <a:noFill/>
          <a:ln/>
        </p:spPr>
        <p:txBody>
          <a:bodyPr wrap="square" lIns="0" tIns="0" rIns="0" bIns="0" rtlCol="0" anchor="t"/>
          <a:lstStyle/>
          <a:p>
            <a:pPr indent="0" marL="0">
              <a:buNone/>
            </a:pPr>
            <a:r>
              <a:rPr lang="en-US" sz="1400" dirty="0">
                <a:solidFill>
                  <a:schemeClr val="accent5"/>
                </a:solidFill>
              </a:rPr>
              <a:t>Herons, cormorants and ducks winter in the delta, October to April.</a:t>
            </a:r>
            <a:endParaRPr lang="en-US" sz="1400" dirty="0"/>
          </a:p>
        </p:txBody>
      </p:sp>
      <p:sp>
        <p:nvSpPr>
          <p:cNvPr id="17" name="Shape 11"/>
          <p:cNvSpPr/>
          <p:nvPr/>
        </p:nvSpPr>
        <p:spPr>
          <a:xfrm>
            <a:off x="4526280" y="5120640"/>
            <a:ext cx="3108960" cy="777240"/>
          </a:xfrm>
          <a:prstGeom prst="roundRect">
            <a:avLst>
              <a:gd name="adj" fmla="val 14118"/>
            </a:avLst>
          </a:prstGeom>
          <a:solidFill>
            <a:srgbClr val="FFFFFF"/>
          </a:solidFill>
          <a:ln/>
        </p:spPr>
      </p:sp>
      <p:sp>
        <p:nvSpPr>
          <p:cNvPr id="18" name="Text 12"/>
          <p:cNvSpPr txBox="1"/>
          <p:nvPr/>
        </p:nvSpPr>
        <p:spPr>
          <a:xfrm>
            <a:off x="4663440" y="5120640"/>
            <a:ext cx="2834640" cy="777240"/>
          </a:xfrm>
          <a:prstGeom prst="rect">
            <a:avLst/>
          </a:prstGeom>
          <a:noFill/>
          <a:ln/>
        </p:spPr>
        <p:txBody>
          <a:bodyPr wrap="square" lIns="0" tIns="0" rIns="0" bIns="0" rtlCol="0" anchor="ctr"/>
          <a:lstStyle/>
          <a:p>
            <a:pPr indent="0" marL="0">
              <a:buNone/>
            </a:pPr>
            <a:r>
              <a:rPr lang="en-US" sz="1300" b="1" dirty="0">
                <a:solidFill>
                  <a:schemeClr val="tx2"/>
                </a:solidFill>
              </a:rPr>
              <a:t>We build: a marked route with boards in 4 languages</a:t>
            </a:r>
            <a:endParaRPr lang="en-US" sz="1300" dirty="0"/>
          </a:p>
        </p:txBody>
      </p:sp>
      <p:sp>
        <p:nvSpPr>
          <p:cNvPr id="19" name="Shape 13"/>
          <p:cNvSpPr/>
          <p:nvPr/>
        </p:nvSpPr>
        <p:spPr>
          <a:xfrm>
            <a:off x="8046720" y="1371600"/>
            <a:ext cx="3566160" cy="4709160"/>
          </a:xfrm>
          <a:prstGeom prst="roundRect">
            <a:avLst>
              <a:gd name="adj" fmla="val 3077"/>
            </a:avLst>
          </a:prstGeom>
          <a:solidFill>
            <a:schemeClr val="bg2"/>
          </a:solidFill>
          <a:ln/>
        </p:spPr>
      </p:sp>
      <p:pic>
        <p:nvPicPr>
          <p:cNvPr id="20" name="Harvests" descr="preencoded.png">    </p:cNvPr>
          <p:cNvPicPr>
            <a:picLocks noChangeAspect="1"/>
          </p:cNvPicPr>
          <p:nvPr/>
        </p:nvPicPr>
        <p:blipFill>
          <a:blip r:embed="rId5"/>
          <a:srcRect l="0" r="0" t="7706" b="7706"/>
          <a:stretch/>
        </p:blipFill>
        <p:spPr>
          <a:xfrm>
            <a:off x="8046720" y="1371600"/>
            <a:ext cx="3566160" cy="2011680"/>
          </a:xfrm>
          <a:prstGeom prst="rect">
            <a:avLst/>
          </a:prstGeom>
        </p:spPr>
      </p:pic>
      <p:sp>
        <p:nvSpPr>
          <p:cNvPr id="21" name="Shape 14"/>
          <p:cNvSpPr/>
          <p:nvPr/>
        </p:nvSpPr>
        <p:spPr>
          <a:xfrm>
            <a:off x="8275320" y="3566160"/>
            <a:ext cx="530352" cy="530352"/>
          </a:xfrm>
          <a:prstGeom prst="ellipse">
            <a:avLst/>
          </a:prstGeom>
          <a:solidFill>
            <a:schemeClr val="accent6"/>
          </a:solidFill>
          <a:ln/>
        </p:spPr>
      </p:sp>
      <p:pic>
        <p:nvPicPr>
          <p:cNvPr id="22" name="Image 5" descr="preencoded.png">    </p:cNvPr>
          <p:cNvPicPr>
            <a:picLocks noChangeAspect="1"/>
          </p:cNvPicPr>
          <p:nvPr/>
        </p:nvPicPr>
        <p:blipFill>
          <a:blip r:embed="rId6"/>
          <a:stretch>
            <a:fillRect/>
          </a:stretch>
        </p:blipFill>
        <p:spPr>
          <a:xfrm>
            <a:off x="8381390" y="3672230"/>
            <a:ext cx="318211" cy="318211"/>
          </a:xfrm>
          <a:prstGeom prst="rect">
            <a:avLst/>
          </a:prstGeom>
        </p:spPr>
      </p:pic>
      <p:sp>
        <p:nvSpPr>
          <p:cNvPr id="23" name="Text 15"/>
          <p:cNvSpPr txBox="1"/>
          <p:nvPr/>
        </p:nvSpPr>
        <p:spPr>
          <a:xfrm>
            <a:off x="8961120" y="3639312"/>
            <a:ext cx="2560320" cy="411480"/>
          </a:xfrm>
          <a:prstGeom prst="rect">
            <a:avLst/>
          </a:prstGeom>
          <a:noFill/>
          <a:ln/>
        </p:spPr>
        <p:txBody>
          <a:bodyPr wrap="square" lIns="0" tIns="0" rIns="0" bIns="0" rtlCol="0" anchor="ctr"/>
          <a:lstStyle/>
          <a:p>
            <a:pPr indent="0" marL="0">
              <a:buNone/>
            </a:pPr>
            <a:r>
              <a:rPr lang="en-US" sz="1800" b="1" dirty="0">
                <a:solidFill>
                  <a:schemeClr val="tx1"/>
                </a:solidFill>
              </a:rPr>
              <a:t>Harvests</a:t>
            </a:r>
            <a:endParaRPr lang="en-US" sz="1800" dirty="0"/>
          </a:p>
        </p:txBody>
      </p:sp>
      <p:sp>
        <p:nvSpPr>
          <p:cNvPr id="24" name="Text 16"/>
          <p:cNvSpPr txBox="1"/>
          <p:nvPr/>
        </p:nvSpPr>
        <p:spPr>
          <a:xfrm>
            <a:off x="8275320" y="4251960"/>
            <a:ext cx="3108960" cy="822960"/>
          </a:xfrm>
          <a:prstGeom prst="rect">
            <a:avLst/>
          </a:prstGeom>
          <a:noFill/>
          <a:ln/>
        </p:spPr>
        <p:txBody>
          <a:bodyPr wrap="square" lIns="0" tIns="0" rIns="0" bIns="0" rtlCol="0" anchor="t"/>
          <a:lstStyle/>
          <a:p>
            <a:pPr indent="0" marL="0">
              <a:buNone/>
            </a:pPr>
            <a:r>
              <a:rPr lang="en-US" sz="1400" dirty="0">
                <a:solidFill>
                  <a:schemeClr val="accent5"/>
                </a:solidFill>
              </a:rPr>
              <a:t>Mandarins and olives, October to December, picked with the families.</a:t>
            </a:r>
            <a:endParaRPr lang="en-US" sz="1400" dirty="0"/>
          </a:p>
        </p:txBody>
      </p:sp>
      <p:sp>
        <p:nvSpPr>
          <p:cNvPr id="25" name="Shape 17"/>
          <p:cNvSpPr/>
          <p:nvPr/>
        </p:nvSpPr>
        <p:spPr>
          <a:xfrm>
            <a:off x="8275320" y="5120640"/>
            <a:ext cx="3108960" cy="777240"/>
          </a:xfrm>
          <a:prstGeom prst="roundRect">
            <a:avLst>
              <a:gd name="adj" fmla="val 14118"/>
            </a:avLst>
          </a:prstGeom>
          <a:solidFill>
            <a:srgbClr val="FFFFFF"/>
          </a:solidFill>
          <a:ln/>
        </p:spPr>
      </p:sp>
      <p:sp>
        <p:nvSpPr>
          <p:cNvPr id="26" name="Text 18"/>
          <p:cNvSpPr txBox="1"/>
          <p:nvPr/>
        </p:nvSpPr>
        <p:spPr>
          <a:xfrm>
            <a:off x="8412480" y="5120640"/>
            <a:ext cx="2834640" cy="777240"/>
          </a:xfrm>
          <a:prstGeom prst="rect">
            <a:avLst/>
          </a:prstGeom>
          <a:noFill/>
          <a:ln/>
        </p:spPr>
        <p:txBody>
          <a:bodyPr wrap="square" lIns="0" tIns="0" rIns="0" bIns="0" rtlCol="0" anchor="ctr"/>
          <a:lstStyle/>
          <a:p>
            <a:pPr indent="0" marL="0">
              <a:buNone/>
            </a:pPr>
            <a:r>
              <a:rPr lang="en-US" sz="1300" b="1" dirty="0">
                <a:solidFill>
                  <a:schemeClr val="tx2"/>
                </a:solidFill>
              </a:rPr>
              <a:t>We build: shade, seats and step-free paths on the farms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46D"/>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t"/>
          <a:lstStyle/>
          <a:p>
            <a:pPr algn="l" indent="0" marL="0">
              <a:buNone/>
            </a:pPr>
            <a:r>
              <a:rPr lang="en-US" sz="3400" b="1" dirty="0">
                <a:solidFill>
                  <a:schemeClr val="tx1"/>
                </a:solidFill>
              </a:rPr>
              <a:t>Locals earn from it, and use it too</a:t>
            </a:r>
            <a:endParaRPr lang="en-US" sz="3400" dirty="0"/>
          </a:p>
        </p:txBody>
      </p:sp>
      <p:sp>
        <p:nvSpPr>
          <p:cNvPr id="3" name="Shape 1"/>
          <p:cNvSpPr/>
          <p:nvPr/>
        </p:nvSpPr>
        <p:spPr>
          <a:xfrm>
            <a:off x="548640" y="1371600"/>
            <a:ext cx="5486400" cy="4709160"/>
          </a:xfrm>
          <a:prstGeom prst="roundRect">
            <a:avLst>
              <a:gd name="adj" fmla="val 2330"/>
            </a:avLst>
          </a:prstGeom>
          <a:solidFill>
            <a:schemeClr val="bg2"/>
          </a:solidFill>
          <a:ln/>
        </p:spPr>
      </p:sp>
      <p:sp>
        <p:nvSpPr>
          <p:cNvPr id="4" name="Shape 2"/>
          <p:cNvSpPr/>
          <p:nvPr/>
        </p:nvSpPr>
        <p:spPr>
          <a:xfrm>
            <a:off x="822960" y="1600200"/>
            <a:ext cx="594360" cy="594360"/>
          </a:xfrm>
          <a:prstGeom prst="ellipse">
            <a:avLst/>
          </a:prstGeom>
          <a:solidFill>
            <a:schemeClr val="accent6"/>
          </a:solidFill>
          <a:ln/>
        </p:spPr>
      </p:sp>
      <p:pic>
        <p:nvPicPr>
          <p:cNvPr id="5" name="Image 0" descr="preencoded.png">    </p:cNvPr>
          <p:cNvPicPr>
            <a:picLocks noChangeAspect="1"/>
          </p:cNvPicPr>
          <p:nvPr/>
        </p:nvPicPr>
        <p:blipFill>
          <a:blip r:embed="rId1"/>
          <a:stretch>
            <a:fillRect/>
          </a:stretch>
        </p:blipFill>
        <p:spPr>
          <a:xfrm>
            <a:off x="941832" y="1719072"/>
            <a:ext cx="356616" cy="356616"/>
          </a:xfrm>
          <a:prstGeom prst="rect">
            <a:avLst/>
          </a:prstGeom>
        </p:spPr>
      </p:pic>
      <p:sp>
        <p:nvSpPr>
          <p:cNvPr id="6" name="Text 3"/>
          <p:cNvSpPr txBox="1"/>
          <p:nvPr/>
        </p:nvSpPr>
        <p:spPr>
          <a:xfrm>
            <a:off x="1554480" y="1691640"/>
            <a:ext cx="4297680" cy="411480"/>
          </a:xfrm>
          <a:prstGeom prst="rect">
            <a:avLst/>
          </a:prstGeom>
          <a:noFill/>
          <a:ln/>
        </p:spPr>
        <p:txBody>
          <a:bodyPr wrap="square" lIns="0" tIns="0" rIns="0" bIns="0" rtlCol="0" anchor="ctr"/>
          <a:lstStyle/>
          <a:p>
            <a:pPr indent="0" marL="0">
              <a:buNone/>
            </a:pPr>
            <a:r>
              <a:rPr lang="en-US" sz="1900" b="1" dirty="0">
                <a:solidFill>
                  <a:schemeClr val="tx1"/>
                </a:solidFill>
              </a:rPr>
              <a:t>The photo safari creates jobs</a:t>
            </a:r>
            <a:endParaRPr lang="en-US" sz="1900" dirty="0"/>
          </a:p>
        </p:txBody>
      </p:sp>
      <p:sp>
        <p:nvSpPr>
          <p:cNvPr id="7" name="Text 4"/>
          <p:cNvSpPr txBox="1"/>
          <p:nvPr/>
        </p:nvSpPr>
        <p:spPr>
          <a:xfrm>
            <a:off x="822960" y="2423160"/>
            <a:ext cx="4937760" cy="35661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Boatmen become certified photo-safari guides, with a first-aid course</a:t>
            </a:r>
            <a:endParaRPr lang="en-US" sz="1500" dirty="0"/>
          </a:p>
          <a:p>
            <a:pPr marL="342900" indent="-342900">
              <a:spcAft>
                <a:spcPts val="800"/>
              </a:spcAft>
              <a:buSzPct val="100000"/>
              <a:buChar char="•"/>
            </a:pPr>
            <a:r>
              <a:rPr lang="en-US" sz="1500" dirty="0">
                <a:solidFill>
                  <a:schemeClr val="tx1"/>
                </a:solidFill>
              </a:rPr>
              <a:t>Young people from the valley work as photographers and photo editors: every guest takes home edited photos</a:t>
            </a:r>
            <a:endParaRPr lang="en-US" sz="1500" dirty="0"/>
          </a:p>
          <a:p>
            <a:pPr marL="342900" indent="-342900">
              <a:spcAft>
                <a:spcPts val="800"/>
              </a:spcAft>
              <a:buSzPct val="100000"/>
              <a:buChar char="•"/>
            </a:pPr>
            <a:r>
              <a:rPr lang="en-US" sz="1500" dirty="0">
                <a:solidFill>
                  <a:schemeClr val="tx1"/>
                </a:solidFill>
              </a:rPr>
              <a:t>Farm families serve breakfast after the sunrise trip</a:t>
            </a:r>
            <a:endParaRPr lang="en-US" sz="1500" dirty="0"/>
          </a:p>
          <a:p>
            <a:pPr marL="342900" indent="-342900">
              <a:spcAft>
                <a:spcPts val="800"/>
              </a:spcAft>
              <a:buSzPct val="100000"/>
              <a:buChar char="•"/>
            </a:pPr>
            <a:r>
              <a:rPr lang="en-US" sz="1500" dirty="0">
                <a:solidFill>
                  <a:schemeClr val="tx1"/>
                </a:solidFill>
              </a:rPr>
              <a:t>Local drivers bring guests from Dubrovnik</a:t>
            </a:r>
            <a:endParaRPr lang="en-US" sz="1500" dirty="0"/>
          </a:p>
        </p:txBody>
      </p:sp>
      <p:sp>
        <p:nvSpPr>
          <p:cNvPr id="8" name="Shape 5"/>
          <p:cNvSpPr/>
          <p:nvPr/>
        </p:nvSpPr>
        <p:spPr>
          <a:xfrm>
            <a:off x="6172200" y="1371600"/>
            <a:ext cx="5470855" cy="2834640"/>
          </a:xfrm>
          <a:prstGeom prst="roundRect">
            <a:avLst>
              <a:gd name="adj" fmla="val 3871"/>
            </a:avLst>
          </a:prstGeom>
          <a:solidFill>
            <a:srgbClr val="DCEFE5"/>
          </a:solidFill>
          <a:ln/>
        </p:spPr>
      </p:sp>
      <p:sp>
        <p:nvSpPr>
          <p:cNvPr id="9" name="Shape 6"/>
          <p:cNvSpPr/>
          <p:nvPr/>
        </p:nvSpPr>
        <p:spPr>
          <a:xfrm>
            <a:off x="6446520" y="1600200"/>
            <a:ext cx="594360" cy="594360"/>
          </a:xfrm>
          <a:prstGeom prst="ellipse">
            <a:avLst/>
          </a:prstGeom>
          <a:solidFill>
            <a:schemeClr val="accent6"/>
          </a:solidFill>
          <a:ln/>
        </p:spPr>
      </p:sp>
      <p:pic>
        <p:nvPicPr>
          <p:cNvPr id="10" name="Image 1" descr="preencoded.png">    </p:cNvPr>
          <p:cNvPicPr>
            <a:picLocks noChangeAspect="1"/>
          </p:cNvPicPr>
          <p:nvPr/>
        </p:nvPicPr>
        <p:blipFill>
          <a:blip r:embed="rId2"/>
          <a:stretch>
            <a:fillRect/>
          </a:stretch>
        </p:blipFill>
        <p:spPr>
          <a:xfrm>
            <a:off x="6565392" y="1719072"/>
            <a:ext cx="356616" cy="356616"/>
          </a:xfrm>
          <a:prstGeom prst="rect">
            <a:avLst/>
          </a:prstGeom>
        </p:spPr>
      </p:pic>
      <p:sp>
        <p:nvSpPr>
          <p:cNvPr id="11" name="Text 7"/>
          <p:cNvSpPr txBox="1"/>
          <p:nvPr/>
        </p:nvSpPr>
        <p:spPr>
          <a:xfrm>
            <a:off x="7178040" y="1691640"/>
            <a:ext cx="4023360" cy="411480"/>
          </a:xfrm>
          <a:prstGeom prst="rect">
            <a:avLst/>
          </a:prstGeom>
          <a:noFill/>
          <a:ln/>
        </p:spPr>
        <p:txBody>
          <a:bodyPr wrap="square" lIns="0" tIns="0" rIns="0" bIns="0" rtlCol="0" anchor="ctr"/>
          <a:lstStyle/>
          <a:p>
            <a:pPr indent="0" marL="0">
              <a:buNone/>
            </a:pPr>
            <a:r>
              <a:rPr lang="en-US" sz="1900" b="1" dirty="0">
                <a:solidFill>
                  <a:schemeClr val="tx1"/>
                </a:solidFill>
              </a:rPr>
              <a:t>Harvests help the farms directly</a:t>
            </a:r>
            <a:endParaRPr lang="en-US" sz="1900" dirty="0"/>
          </a:p>
        </p:txBody>
      </p:sp>
      <p:sp>
        <p:nvSpPr>
          <p:cNvPr id="12" name="Text 8"/>
          <p:cNvSpPr txBox="1"/>
          <p:nvPr/>
        </p:nvSpPr>
        <p:spPr>
          <a:xfrm>
            <a:off x="6446520" y="2377440"/>
            <a:ext cx="4754880" cy="17373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Visitors help pick when farms are short of hands</a:t>
            </a:r>
            <a:endParaRPr lang="en-US" sz="1500" dirty="0"/>
          </a:p>
          <a:p>
            <a:pPr marL="342900" indent="-342900">
              <a:spcAft>
                <a:spcPts val="800"/>
              </a:spcAft>
              <a:buSzPct val="100000"/>
              <a:buChar char="•"/>
            </a:pPr>
            <a:r>
              <a:rPr lang="en-US" sz="1500" dirty="0">
                <a:solidFill>
                  <a:schemeClr val="tx1"/>
                </a:solidFill>
              </a:rPr>
              <a:t>Families sell mandarins and oil straight to the guests, for about 3 times what wholesale buyers pay</a:t>
            </a:r>
            <a:endParaRPr lang="en-US" sz="1500" dirty="0"/>
          </a:p>
        </p:txBody>
      </p:sp>
      <p:sp>
        <p:nvSpPr>
          <p:cNvPr id="13" name="Shape 9"/>
          <p:cNvSpPr/>
          <p:nvPr/>
        </p:nvSpPr>
        <p:spPr>
          <a:xfrm>
            <a:off x="6172200" y="4389120"/>
            <a:ext cx="5470855" cy="1691640"/>
          </a:xfrm>
          <a:prstGeom prst="roundRect">
            <a:avLst>
              <a:gd name="adj" fmla="val 6486"/>
            </a:avLst>
          </a:prstGeom>
          <a:solidFill>
            <a:schemeClr val="bg2"/>
          </a:solidFill>
          <a:ln/>
        </p:spPr>
      </p:sp>
      <p:sp>
        <p:nvSpPr>
          <p:cNvPr id="14" name="Shape 10"/>
          <p:cNvSpPr/>
          <p:nvPr/>
        </p:nvSpPr>
        <p:spPr>
          <a:xfrm>
            <a:off x="6446520" y="4617720"/>
            <a:ext cx="548640" cy="548640"/>
          </a:xfrm>
          <a:prstGeom prst="ellipse">
            <a:avLst/>
          </a:prstGeom>
          <a:solidFill>
            <a:schemeClr val="accent6"/>
          </a:solidFill>
          <a:ln/>
        </p:spPr>
      </p:sp>
      <p:pic>
        <p:nvPicPr>
          <p:cNvPr id="15" name="Image 2" descr="preencoded.png">    </p:cNvPr>
          <p:cNvPicPr>
            <a:picLocks noChangeAspect="1"/>
          </p:cNvPicPr>
          <p:nvPr/>
        </p:nvPicPr>
        <p:blipFill>
          <a:blip r:embed="rId3"/>
          <a:stretch>
            <a:fillRect/>
          </a:stretch>
        </p:blipFill>
        <p:spPr>
          <a:xfrm>
            <a:off x="6556248" y="4727448"/>
            <a:ext cx="329184" cy="329184"/>
          </a:xfrm>
          <a:prstGeom prst="rect">
            <a:avLst/>
          </a:prstGeom>
        </p:spPr>
      </p:pic>
      <p:sp>
        <p:nvSpPr>
          <p:cNvPr id="16" name="Text 11"/>
          <p:cNvSpPr txBox="1"/>
          <p:nvPr/>
        </p:nvSpPr>
        <p:spPr>
          <a:xfrm>
            <a:off x="7132320" y="4681728"/>
            <a:ext cx="4023360" cy="365760"/>
          </a:xfrm>
          <a:prstGeom prst="rect">
            <a:avLst/>
          </a:prstGeom>
          <a:noFill/>
          <a:ln/>
        </p:spPr>
        <p:txBody>
          <a:bodyPr wrap="square" lIns="0" tIns="0" rIns="0" bIns="0" rtlCol="0" anchor="ctr"/>
          <a:lstStyle/>
          <a:p>
            <a:pPr indent="0" marL="0">
              <a:buNone/>
            </a:pPr>
            <a:r>
              <a:rPr lang="en-US" sz="1700" b="1" dirty="0">
                <a:solidFill>
                  <a:schemeClr val="tx1"/>
                </a:solidFill>
              </a:rPr>
              <a:t>For residents too</a:t>
            </a:r>
            <a:endParaRPr lang="en-US" sz="1700" dirty="0"/>
          </a:p>
        </p:txBody>
      </p:sp>
      <p:sp>
        <p:nvSpPr>
          <p:cNvPr id="17" name="Text 12"/>
          <p:cNvSpPr txBox="1"/>
          <p:nvPr/>
        </p:nvSpPr>
        <p:spPr>
          <a:xfrm>
            <a:off x="7132320" y="5074920"/>
            <a:ext cx="4206240" cy="822960"/>
          </a:xfrm>
          <a:prstGeom prst="rect">
            <a:avLst/>
          </a:prstGeom>
          <a:noFill/>
          <a:ln/>
        </p:spPr>
        <p:txBody>
          <a:bodyPr wrap="square" lIns="0" tIns="0" rIns="0" bIns="0" rtlCol="0" anchor="t"/>
          <a:lstStyle/>
          <a:p>
            <a:pPr indent="0" marL="0">
              <a:buNone/>
            </a:pPr>
            <a:r>
              <a:rPr lang="en-US" sz="1400" dirty="0">
                <a:solidFill>
                  <a:schemeClr val="accent5"/>
                </a:solidFill>
              </a:rPr>
              <a:t>The hides, paths and benches are public, and the festival weeks are for locals as much as for guests.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46D"/>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t"/>
          <a:lstStyle/>
          <a:p>
            <a:pPr algn="l" indent="0" marL="0">
              <a:buNone/>
            </a:pPr>
            <a:r>
              <a:rPr lang="en-US" sz="3400" b="1" dirty="0">
                <a:solidFill>
                  <a:schemeClr val="tx1"/>
                </a:solidFill>
              </a:rPr>
              <a:t>Who we bring: empty nesters first</a:t>
            </a:r>
            <a:endParaRPr lang="en-US" sz="3400" dirty="0"/>
          </a:p>
        </p:txBody>
      </p:sp>
      <p:sp>
        <p:nvSpPr>
          <p:cNvPr id="3" name="Shape 1"/>
          <p:cNvSpPr/>
          <p:nvPr/>
        </p:nvSpPr>
        <p:spPr>
          <a:xfrm>
            <a:off x="548640" y="1371600"/>
            <a:ext cx="6035040" cy="4709160"/>
          </a:xfrm>
          <a:prstGeom prst="roundRect">
            <a:avLst>
              <a:gd name="adj" fmla="val 2330"/>
            </a:avLst>
          </a:prstGeom>
          <a:solidFill>
            <a:srgbClr val="DCEFE5"/>
          </a:solidFill>
          <a:ln/>
        </p:spPr>
      </p:sp>
      <p:sp>
        <p:nvSpPr>
          <p:cNvPr id="4" name="Shape 2"/>
          <p:cNvSpPr/>
          <p:nvPr/>
        </p:nvSpPr>
        <p:spPr>
          <a:xfrm>
            <a:off x="822960" y="1645920"/>
            <a:ext cx="640080" cy="640080"/>
          </a:xfrm>
          <a:prstGeom prst="ellipse">
            <a:avLst/>
          </a:prstGeom>
          <a:solidFill>
            <a:schemeClr val="accent6"/>
          </a:solidFill>
          <a:ln/>
        </p:spPr>
      </p:sp>
      <p:pic>
        <p:nvPicPr>
          <p:cNvPr id="5" name="Image 0" descr="preencoded.png">    </p:cNvPr>
          <p:cNvPicPr>
            <a:picLocks noChangeAspect="1"/>
          </p:cNvPicPr>
          <p:nvPr/>
        </p:nvPicPr>
        <p:blipFill>
          <a:blip r:embed="rId1"/>
          <a:stretch>
            <a:fillRect/>
          </a:stretch>
        </p:blipFill>
        <p:spPr>
          <a:xfrm>
            <a:off x="950976" y="1773936"/>
            <a:ext cx="384048" cy="384048"/>
          </a:xfrm>
          <a:prstGeom prst="rect">
            <a:avLst/>
          </a:prstGeom>
        </p:spPr>
      </p:pic>
      <p:sp>
        <p:nvSpPr>
          <p:cNvPr id="6" name="Text 3"/>
          <p:cNvSpPr txBox="1"/>
          <p:nvPr/>
        </p:nvSpPr>
        <p:spPr>
          <a:xfrm>
            <a:off x="1645920" y="1691640"/>
            <a:ext cx="4754880" cy="457200"/>
          </a:xfrm>
          <a:prstGeom prst="rect">
            <a:avLst/>
          </a:prstGeom>
          <a:noFill/>
          <a:ln/>
        </p:spPr>
        <p:txBody>
          <a:bodyPr wrap="square" lIns="0" tIns="0" rIns="0" bIns="0" rtlCol="0" anchor="ctr"/>
          <a:lstStyle/>
          <a:p>
            <a:pPr indent="0" marL="0">
              <a:buNone/>
            </a:pPr>
            <a:r>
              <a:rPr lang="en-US" sz="2400" b="1" dirty="0">
                <a:solidFill>
                  <a:schemeClr val="tx1"/>
                </a:solidFill>
              </a:rPr>
              <a:t>Empty nesters, 50 to 65</a:t>
            </a:r>
            <a:endParaRPr lang="en-US" sz="2400" dirty="0"/>
          </a:p>
        </p:txBody>
      </p:sp>
      <p:sp>
        <p:nvSpPr>
          <p:cNvPr id="7" name="Text 4"/>
          <p:cNvSpPr txBox="1"/>
          <p:nvPr/>
        </p:nvSpPr>
        <p:spPr>
          <a:xfrm>
            <a:off x="822960" y="2468880"/>
            <a:ext cx="5486400" cy="365760"/>
          </a:xfrm>
          <a:prstGeom prst="rect">
            <a:avLst/>
          </a:prstGeom>
          <a:noFill/>
          <a:ln/>
        </p:spPr>
        <p:txBody>
          <a:bodyPr wrap="square" lIns="0" tIns="0" rIns="0" bIns="0" rtlCol="0" anchor="ctr"/>
          <a:lstStyle/>
          <a:p>
            <a:pPr indent="0" marL="0">
              <a:buNone/>
            </a:pPr>
            <a:r>
              <a:rPr lang="en-US" sz="1500" dirty="0">
                <a:solidFill>
                  <a:schemeClr val="accent5"/>
                </a:solidFill>
              </a:rPr>
              <a:t>Their children have left home. Our main focus, because they:</a:t>
            </a:r>
            <a:endParaRPr lang="en-US" sz="1500" dirty="0"/>
          </a:p>
        </p:txBody>
      </p:sp>
      <p:sp>
        <p:nvSpPr>
          <p:cNvPr id="8" name="Text 5"/>
          <p:cNvSpPr txBox="1"/>
          <p:nvPr/>
        </p:nvSpPr>
        <p:spPr>
          <a:xfrm>
            <a:off x="822960" y="2926080"/>
            <a:ext cx="5486400" cy="29260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Travel outside school holidays, so the off-season suits them</a:t>
            </a:r>
            <a:endParaRPr lang="en-US" sz="1600" dirty="0"/>
          </a:p>
          <a:p>
            <a:pPr marL="342900" indent="-342900">
              <a:spcAft>
                <a:spcPts val="800"/>
              </a:spcAft>
              <a:buSzPct val="100000"/>
              <a:buChar char="•"/>
            </a:pPr>
            <a:r>
              <a:rPr lang="en-US" sz="1600" dirty="0">
                <a:solidFill>
                  <a:schemeClr val="tx1"/>
                </a:solidFill>
              </a:rPr>
              <a:t>Have time and savings, and stay longer</a:t>
            </a:r>
            <a:endParaRPr lang="en-US" sz="1600" dirty="0"/>
          </a:p>
          <a:p>
            <a:pPr marL="342900" indent="-342900">
              <a:spcAft>
                <a:spcPts val="800"/>
              </a:spcAft>
              <a:buSzPct val="100000"/>
              <a:buChar char="•"/>
            </a:pPr>
            <a:r>
              <a:rPr lang="en-US" sz="1600" dirty="0">
                <a:solidFill>
                  <a:schemeClr val="tx1"/>
                </a:solidFill>
              </a:rPr>
              <a:t>Want culture, food and nature, at a slow pace</a:t>
            </a:r>
            <a:endParaRPr lang="en-US" sz="1600" dirty="0"/>
          </a:p>
          <a:p>
            <a:pPr marL="342900" indent="-342900">
              <a:spcAft>
                <a:spcPts val="800"/>
              </a:spcAft>
              <a:buSzPct val="100000"/>
              <a:buChar char="•"/>
            </a:pPr>
            <a:r>
              <a:rPr lang="en-US" sz="1600" dirty="0">
                <a:solidFill>
                  <a:schemeClr val="tx1"/>
                </a:solidFill>
              </a:rPr>
              <a:t>Come back, and tell their friends</a:t>
            </a:r>
            <a:endParaRPr lang="en-US" sz="1600" dirty="0"/>
          </a:p>
        </p:txBody>
      </p:sp>
      <p:sp>
        <p:nvSpPr>
          <p:cNvPr id="9" name="Shape 6"/>
          <p:cNvSpPr/>
          <p:nvPr/>
        </p:nvSpPr>
        <p:spPr>
          <a:xfrm>
            <a:off x="6812280" y="1371600"/>
            <a:ext cx="4830775" cy="2286000"/>
          </a:xfrm>
          <a:prstGeom prst="roundRect">
            <a:avLst>
              <a:gd name="adj" fmla="val 4800"/>
            </a:avLst>
          </a:prstGeom>
          <a:solidFill>
            <a:schemeClr val="bg2"/>
          </a:solidFill>
          <a:ln/>
        </p:spPr>
      </p:sp>
      <p:sp>
        <p:nvSpPr>
          <p:cNvPr id="10" name="Shape 7"/>
          <p:cNvSpPr/>
          <p:nvPr/>
        </p:nvSpPr>
        <p:spPr>
          <a:xfrm>
            <a:off x="7040880" y="1645920"/>
            <a:ext cx="548640" cy="548640"/>
          </a:xfrm>
          <a:prstGeom prst="ellipse">
            <a:avLst/>
          </a:prstGeom>
          <a:solidFill>
            <a:schemeClr val="accent6"/>
          </a:solidFill>
          <a:ln/>
        </p:spPr>
      </p:sp>
      <p:pic>
        <p:nvPicPr>
          <p:cNvPr id="11" name="Image 1" descr="preencoded.png">    </p:cNvPr>
          <p:cNvPicPr>
            <a:picLocks noChangeAspect="1"/>
          </p:cNvPicPr>
          <p:nvPr/>
        </p:nvPicPr>
        <p:blipFill>
          <a:blip r:embed="rId2"/>
          <a:stretch>
            <a:fillRect/>
          </a:stretch>
        </p:blipFill>
        <p:spPr>
          <a:xfrm>
            <a:off x="7150608" y="1755648"/>
            <a:ext cx="329184" cy="329184"/>
          </a:xfrm>
          <a:prstGeom prst="rect">
            <a:avLst/>
          </a:prstGeom>
        </p:spPr>
      </p:pic>
      <p:sp>
        <p:nvSpPr>
          <p:cNvPr id="12" name="Text 8"/>
          <p:cNvSpPr txBox="1"/>
          <p:nvPr/>
        </p:nvSpPr>
        <p:spPr>
          <a:xfrm>
            <a:off x="7726680" y="1664208"/>
            <a:ext cx="3200400" cy="228600"/>
          </a:xfrm>
          <a:prstGeom prst="rect">
            <a:avLst/>
          </a:prstGeom>
          <a:noFill/>
          <a:ln/>
        </p:spPr>
        <p:txBody>
          <a:bodyPr wrap="square" lIns="0" tIns="0" rIns="0" bIns="0" rtlCol="0" anchor="ctr"/>
          <a:lstStyle/>
          <a:p>
            <a:pPr indent="0" marL="0">
              <a:buNone/>
            </a:pPr>
            <a:r>
              <a:rPr lang="en-US" sz="1100" b="1" spc="200" kern="0" dirty="0">
                <a:solidFill>
                  <a:schemeClr val="accent5"/>
                </a:solidFill>
              </a:rPr>
              <a:t>ALSO WELCOME</a:t>
            </a:r>
            <a:endParaRPr lang="en-US" sz="1100" dirty="0"/>
          </a:p>
        </p:txBody>
      </p:sp>
      <p:sp>
        <p:nvSpPr>
          <p:cNvPr id="13" name="Text 9"/>
          <p:cNvSpPr txBox="1"/>
          <p:nvPr/>
        </p:nvSpPr>
        <p:spPr>
          <a:xfrm>
            <a:off x="7726680" y="1901952"/>
            <a:ext cx="3474720" cy="365760"/>
          </a:xfrm>
          <a:prstGeom prst="rect">
            <a:avLst/>
          </a:prstGeom>
          <a:noFill/>
          <a:ln/>
        </p:spPr>
        <p:txBody>
          <a:bodyPr wrap="square" lIns="0" tIns="0" rIns="0" bIns="0" rtlCol="0" anchor="ctr"/>
          <a:lstStyle/>
          <a:p>
            <a:pPr indent="0" marL="0">
              <a:buNone/>
            </a:pPr>
            <a:r>
              <a:rPr lang="en-US" sz="1900" b="1" dirty="0">
                <a:solidFill>
                  <a:schemeClr val="tx1"/>
                </a:solidFill>
              </a:rPr>
              <a:t>Families</a:t>
            </a:r>
            <a:endParaRPr lang="en-US" sz="1900" dirty="0"/>
          </a:p>
        </p:txBody>
      </p:sp>
      <p:sp>
        <p:nvSpPr>
          <p:cNvPr id="14" name="Text 10"/>
          <p:cNvSpPr txBox="1"/>
          <p:nvPr/>
        </p:nvSpPr>
        <p:spPr>
          <a:xfrm>
            <a:off x="7040880" y="2468880"/>
            <a:ext cx="4297680" cy="1005840"/>
          </a:xfrm>
          <a:prstGeom prst="rect">
            <a:avLst/>
          </a:prstGeom>
          <a:noFill/>
          <a:ln/>
        </p:spPr>
        <p:txBody>
          <a:bodyPr wrap="square" lIns="0" tIns="0" rIns="0" bIns="0" rtlCol="0" anchor="t"/>
          <a:lstStyle/>
          <a:p>
            <a:pPr indent="0" marL="0">
              <a:buNone/>
            </a:pPr>
            <a:r>
              <a:rPr lang="en-US" sz="1500" dirty="0">
                <a:solidFill>
                  <a:schemeClr val="accent5"/>
                </a:solidFill>
              </a:rPr>
              <a:t>Autumn, February and Easter school holidays. Every activity is open to children.</a:t>
            </a:r>
            <a:endParaRPr lang="en-US" sz="1500" dirty="0"/>
          </a:p>
        </p:txBody>
      </p:sp>
      <p:sp>
        <p:nvSpPr>
          <p:cNvPr id="15" name="Shape 11"/>
          <p:cNvSpPr/>
          <p:nvPr/>
        </p:nvSpPr>
        <p:spPr>
          <a:xfrm>
            <a:off x="6812280" y="3794760"/>
            <a:ext cx="4830775" cy="2286000"/>
          </a:xfrm>
          <a:prstGeom prst="roundRect">
            <a:avLst>
              <a:gd name="adj" fmla="val 4800"/>
            </a:avLst>
          </a:prstGeom>
          <a:solidFill>
            <a:schemeClr val="bg2"/>
          </a:solidFill>
          <a:ln/>
        </p:spPr>
      </p:sp>
      <p:sp>
        <p:nvSpPr>
          <p:cNvPr id="16" name="Shape 12"/>
          <p:cNvSpPr/>
          <p:nvPr/>
        </p:nvSpPr>
        <p:spPr>
          <a:xfrm>
            <a:off x="7040880" y="4069080"/>
            <a:ext cx="548640" cy="548640"/>
          </a:xfrm>
          <a:prstGeom prst="ellipse">
            <a:avLst/>
          </a:prstGeom>
          <a:solidFill>
            <a:schemeClr val="accent6"/>
          </a:solidFill>
          <a:ln/>
        </p:spPr>
      </p:sp>
      <p:pic>
        <p:nvPicPr>
          <p:cNvPr id="17" name="Image 2" descr="preencoded.png">    </p:cNvPr>
          <p:cNvPicPr>
            <a:picLocks noChangeAspect="1"/>
          </p:cNvPicPr>
          <p:nvPr/>
        </p:nvPicPr>
        <p:blipFill>
          <a:blip r:embed="rId3"/>
          <a:stretch>
            <a:fillRect/>
          </a:stretch>
        </p:blipFill>
        <p:spPr>
          <a:xfrm>
            <a:off x="7150608" y="4178808"/>
            <a:ext cx="329184" cy="329184"/>
          </a:xfrm>
          <a:prstGeom prst="rect">
            <a:avLst/>
          </a:prstGeom>
        </p:spPr>
      </p:pic>
      <p:sp>
        <p:nvSpPr>
          <p:cNvPr id="18" name="Text 13"/>
          <p:cNvSpPr txBox="1"/>
          <p:nvPr/>
        </p:nvSpPr>
        <p:spPr>
          <a:xfrm>
            <a:off x="7726680" y="4087368"/>
            <a:ext cx="3200400" cy="228600"/>
          </a:xfrm>
          <a:prstGeom prst="rect">
            <a:avLst/>
          </a:prstGeom>
          <a:noFill/>
          <a:ln/>
        </p:spPr>
        <p:txBody>
          <a:bodyPr wrap="square" lIns="0" tIns="0" rIns="0" bIns="0" rtlCol="0" anchor="ctr"/>
          <a:lstStyle/>
          <a:p>
            <a:pPr indent="0" marL="0">
              <a:buNone/>
            </a:pPr>
            <a:r>
              <a:rPr lang="en-US" sz="1100" b="1" spc="200" kern="0" dirty="0">
                <a:solidFill>
                  <a:schemeClr val="accent5"/>
                </a:solidFill>
              </a:rPr>
              <a:t>ALSO WELCOME</a:t>
            </a:r>
            <a:endParaRPr lang="en-US" sz="1100" dirty="0"/>
          </a:p>
        </p:txBody>
      </p:sp>
      <p:sp>
        <p:nvSpPr>
          <p:cNvPr id="19" name="Text 14"/>
          <p:cNvSpPr txBox="1"/>
          <p:nvPr/>
        </p:nvSpPr>
        <p:spPr>
          <a:xfrm>
            <a:off x="7726680" y="4325112"/>
            <a:ext cx="3474720" cy="365760"/>
          </a:xfrm>
          <a:prstGeom prst="rect">
            <a:avLst/>
          </a:prstGeom>
          <a:noFill/>
          <a:ln/>
        </p:spPr>
        <p:txBody>
          <a:bodyPr wrap="square" lIns="0" tIns="0" rIns="0" bIns="0" rtlCol="0" anchor="ctr"/>
          <a:lstStyle/>
          <a:p>
            <a:pPr indent="0" marL="0">
              <a:buNone/>
            </a:pPr>
            <a:r>
              <a:rPr lang="en-US" sz="1900" b="1" dirty="0">
                <a:solidFill>
                  <a:schemeClr val="tx1"/>
                </a:solidFill>
              </a:rPr>
              <a:t>Nature lovers</a:t>
            </a:r>
            <a:endParaRPr lang="en-US" sz="1900" dirty="0"/>
          </a:p>
        </p:txBody>
      </p:sp>
      <p:sp>
        <p:nvSpPr>
          <p:cNvPr id="20" name="Text 15"/>
          <p:cNvSpPr txBox="1"/>
          <p:nvPr/>
        </p:nvSpPr>
        <p:spPr>
          <a:xfrm>
            <a:off x="7040880" y="4892040"/>
            <a:ext cx="4297680" cy="1005840"/>
          </a:xfrm>
          <a:prstGeom prst="rect">
            <a:avLst/>
          </a:prstGeom>
          <a:noFill/>
          <a:ln/>
        </p:spPr>
        <p:txBody>
          <a:bodyPr wrap="square" lIns="0" tIns="0" rIns="0" bIns="0" rtlCol="0" anchor="t"/>
          <a:lstStyle/>
          <a:p>
            <a:pPr indent="0" marL="0">
              <a:buNone/>
            </a:pPr>
            <a:r>
              <a:rPr lang="en-US" sz="1500" dirty="0">
                <a:solidFill>
                  <a:schemeClr val="accent5"/>
                </a:solidFill>
              </a:rPr>
              <a:t>Photographers and birdwatchers, October to April.</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46D"/>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t"/>
          <a:lstStyle/>
          <a:p>
            <a:pPr algn="l" indent="0" marL="0">
              <a:buNone/>
            </a:pPr>
            <a:r>
              <a:rPr lang="en-US" sz="3400" b="1" dirty="0">
                <a:solidFill>
                  <a:schemeClr val="tx1"/>
                </a:solidFill>
              </a:rPr>
              <a:t>Marketing: influencers who come and take part</a:t>
            </a:r>
            <a:endParaRPr lang="en-US" sz="3400" dirty="0"/>
          </a:p>
        </p:txBody>
      </p:sp>
      <p:sp>
        <p:nvSpPr>
          <p:cNvPr id="3" name="Text 1"/>
          <p:cNvSpPr txBox="1"/>
          <p:nvPr/>
        </p:nvSpPr>
        <p:spPr>
          <a:xfrm>
            <a:off x="548640" y="1371600"/>
            <a:ext cx="3200400" cy="274320"/>
          </a:xfrm>
          <a:prstGeom prst="rect">
            <a:avLst/>
          </a:prstGeom>
          <a:noFill/>
          <a:ln/>
        </p:spPr>
        <p:txBody>
          <a:bodyPr wrap="square" lIns="0" tIns="0" rIns="0" bIns="0" rtlCol="0" anchor="ctr"/>
          <a:lstStyle/>
          <a:p>
            <a:pPr indent="0" marL="0">
              <a:buNone/>
            </a:pPr>
            <a:r>
              <a:rPr lang="en-US" sz="1200" b="1" spc="200" kern="0" dirty="0">
                <a:solidFill>
                  <a:schemeClr val="accent5"/>
                </a:solidFill>
              </a:rPr>
              <a:t>WHO</a:t>
            </a:r>
            <a:endParaRPr lang="en-US" sz="1200" dirty="0"/>
          </a:p>
        </p:txBody>
      </p:sp>
      <p:sp>
        <p:nvSpPr>
          <p:cNvPr id="4" name="Shape 2"/>
          <p:cNvSpPr/>
          <p:nvPr/>
        </p:nvSpPr>
        <p:spPr>
          <a:xfrm>
            <a:off x="548640" y="1737360"/>
            <a:ext cx="4937760" cy="1188720"/>
          </a:xfrm>
          <a:prstGeom prst="roundRect">
            <a:avLst>
              <a:gd name="adj" fmla="val 9231"/>
            </a:avLst>
          </a:prstGeom>
          <a:solidFill>
            <a:schemeClr val="bg2"/>
          </a:solidFill>
          <a:ln/>
        </p:spPr>
      </p:sp>
      <p:sp>
        <p:nvSpPr>
          <p:cNvPr id="5" name="Shape 3"/>
          <p:cNvSpPr/>
          <p:nvPr/>
        </p:nvSpPr>
        <p:spPr>
          <a:xfrm>
            <a:off x="777240" y="2039112"/>
            <a:ext cx="566928" cy="566928"/>
          </a:xfrm>
          <a:prstGeom prst="ellipse">
            <a:avLst/>
          </a:prstGeom>
          <a:solidFill>
            <a:schemeClr val="accent6"/>
          </a:solidFill>
          <a:ln/>
        </p:spPr>
      </p:sp>
      <p:pic>
        <p:nvPicPr>
          <p:cNvPr id="6" name="Image 0" descr="preencoded.png">    </p:cNvPr>
          <p:cNvPicPr>
            <a:picLocks noChangeAspect="1"/>
          </p:cNvPicPr>
          <p:nvPr/>
        </p:nvPicPr>
        <p:blipFill>
          <a:blip r:embed="rId1"/>
          <a:stretch>
            <a:fillRect/>
          </a:stretch>
        </p:blipFill>
        <p:spPr>
          <a:xfrm>
            <a:off x="890626" y="2152498"/>
            <a:ext cx="340157" cy="340157"/>
          </a:xfrm>
          <a:prstGeom prst="rect">
            <a:avLst/>
          </a:prstGeom>
        </p:spPr>
      </p:pic>
      <p:sp>
        <p:nvSpPr>
          <p:cNvPr id="7" name="Text 4"/>
          <p:cNvSpPr txBox="1"/>
          <p:nvPr/>
        </p:nvSpPr>
        <p:spPr>
          <a:xfrm>
            <a:off x="1508760" y="1938528"/>
            <a:ext cx="3840480" cy="548640"/>
          </a:xfrm>
          <a:prstGeom prst="rect">
            <a:avLst/>
          </a:prstGeom>
          <a:noFill/>
          <a:ln/>
        </p:spPr>
        <p:txBody>
          <a:bodyPr wrap="square" lIns="0" tIns="0" rIns="0" bIns="0" rtlCol="0" anchor="t"/>
          <a:lstStyle/>
          <a:p>
            <a:pPr indent="0" marL="0">
              <a:buNone/>
            </a:pPr>
            <a:r>
              <a:rPr lang="en-US" sz="1600" b="1" dirty="0">
                <a:solidFill>
                  <a:schemeClr val="tx1"/>
                </a:solidFill>
              </a:rPr>
              <a:t>Slow travel, food and culture creators, 45+</a:t>
            </a:r>
            <a:endParaRPr lang="en-US" sz="1600" dirty="0"/>
          </a:p>
        </p:txBody>
      </p:sp>
      <p:sp>
        <p:nvSpPr>
          <p:cNvPr id="8" name="Text 5"/>
          <p:cNvSpPr txBox="1"/>
          <p:nvPr/>
        </p:nvSpPr>
        <p:spPr>
          <a:xfrm>
            <a:off x="1508760" y="2514600"/>
            <a:ext cx="3840480" cy="274320"/>
          </a:xfrm>
          <a:prstGeom prst="rect">
            <a:avLst/>
          </a:prstGeom>
          <a:noFill/>
          <a:ln/>
        </p:spPr>
        <p:txBody>
          <a:bodyPr wrap="square" lIns="0" tIns="0" rIns="0" bIns="0" rtlCol="0" anchor="ctr"/>
          <a:lstStyle/>
          <a:p>
            <a:pPr indent="0" marL="0">
              <a:buNone/>
            </a:pPr>
            <a:r>
              <a:rPr lang="en-US" sz="1300" dirty="0">
                <a:solidFill>
                  <a:schemeClr val="accent5"/>
                </a:solidFill>
              </a:rPr>
              <a:t>For empty nesters</a:t>
            </a:r>
            <a:endParaRPr lang="en-US" sz="1300" dirty="0"/>
          </a:p>
        </p:txBody>
      </p:sp>
      <p:sp>
        <p:nvSpPr>
          <p:cNvPr id="9" name="Shape 6"/>
          <p:cNvSpPr/>
          <p:nvPr/>
        </p:nvSpPr>
        <p:spPr>
          <a:xfrm>
            <a:off x="548640" y="3108960"/>
            <a:ext cx="4937760" cy="1188720"/>
          </a:xfrm>
          <a:prstGeom prst="roundRect">
            <a:avLst>
              <a:gd name="adj" fmla="val 9231"/>
            </a:avLst>
          </a:prstGeom>
          <a:solidFill>
            <a:schemeClr val="bg2"/>
          </a:solidFill>
          <a:ln/>
        </p:spPr>
      </p:sp>
      <p:sp>
        <p:nvSpPr>
          <p:cNvPr id="10" name="Shape 7"/>
          <p:cNvSpPr/>
          <p:nvPr/>
        </p:nvSpPr>
        <p:spPr>
          <a:xfrm>
            <a:off x="777240" y="3410712"/>
            <a:ext cx="566928" cy="566928"/>
          </a:xfrm>
          <a:prstGeom prst="ellipse">
            <a:avLst/>
          </a:prstGeom>
          <a:solidFill>
            <a:schemeClr val="accent6"/>
          </a:solidFill>
          <a:ln/>
        </p:spPr>
      </p:sp>
      <p:pic>
        <p:nvPicPr>
          <p:cNvPr id="11" name="Image 1" descr="preencoded.png">    </p:cNvPr>
          <p:cNvPicPr>
            <a:picLocks noChangeAspect="1"/>
          </p:cNvPicPr>
          <p:nvPr/>
        </p:nvPicPr>
        <p:blipFill>
          <a:blip r:embed="rId2"/>
          <a:stretch>
            <a:fillRect/>
          </a:stretch>
        </p:blipFill>
        <p:spPr>
          <a:xfrm>
            <a:off x="890626" y="3524098"/>
            <a:ext cx="340157" cy="340157"/>
          </a:xfrm>
          <a:prstGeom prst="rect">
            <a:avLst/>
          </a:prstGeom>
        </p:spPr>
      </p:pic>
      <p:sp>
        <p:nvSpPr>
          <p:cNvPr id="12" name="Text 8"/>
          <p:cNvSpPr txBox="1"/>
          <p:nvPr/>
        </p:nvSpPr>
        <p:spPr>
          <a:xfrm>
            <a:off x="1508760" y="3310128"/>
            <a:ext cx="3840480" cy="548640"/>
          </a:xfrm>
          <a:prstGeom prst="rect">
            <a:avLst/>
          </a:prstGeom>
          <a:noFill/>
          <a:ln/>
        </p:spPr>
        <p:txBody>
          <a:bodyPr wrap="square" lIns="0" tIns="0" rIns="0" bIns="0" rtlCol="0" anchor="t"/>
          <a:lstStyle/>
          <a:p>
            <a:pPr indent="0" marL="0">
              <a:buNone/>
            </a:pPr>
            <a:r>
              <a:rPr lang="en-US" sz="1600" b="1" dirty="0">
                <a:solidFill>
                  <a:schemeClr val="tx1"/>
                </a:solidFill>
              </a:rPr>
              <a:t>Family travel creators</a:t>
            </a:r>
            <a:endParaRPr lang="en-US" sz="1600" dirty="0"/>
          </a:p>
        </p:txBody>
      </p:sp>
      <p:sp>
        <p:nvSpPr>
          <p:cNvPr id="13" name="Text 9"/>
          <p:cNvSpPr txBox="1"/>
          <p:nvPr/>
        </p:nvSpPr>
        <p:spPr>
          <a:xfrm>
            <a:off x="1508760" y="3886200"/>
            <a:ext cx="3840480" cy="274320"/>
          </a:xfrm>
          <a:prstGeom prst="rect">
            <a:avLst/>
          </a:prstGeom>
          <a:noFill/>
          <a:ln/>
        </p:spPr>
        <p:txBody>
          <a:bodyPr wrap="square" lIns="0" tIns="0" rIns="0" bIns="0" rtlCol="0" anchor="ctr"/>
          <a:lstStyle/>
          <a:p>
            <a:pPr indent="0" marL="0">
              <a:buNone/>
            </a:pPr>
            <a:r>
              <a:rPr lang="en-US" sz="1300" dirty="0">
                <a:solidFill>
                  <a:schemeClr val="accent5"/>
                </a:solidFill>
              </a:rPr>
              <a:t>For families</a:t>
            </a:r>
            <a:endParaRPr lang="en-US" sz="1300" dirty="0"/>
          </a:p>
        </p:txBody>
      </p:sp>
      <p:sp>
        <p:nvSpPr>
          <p:cNvPr id="14" name="Shape 10"/>
          <p:cNvSpPr/>
          <p:nvPr/>
        </p:nvSpPr>
        <p:spPr>
          <a:xfrm>
            <a:off x="548640" y="4480560"/>
            <a:ext cx="4937760" cy="1188720"/>
          </a:xfrm>
          <a:prstGeom prst="roundRect">
            <a:avLst>
              <a:gd name="adj" fmla="val 9231"/>
            </a:avLst>
          </a:prstGeom>
          <a:solidFill>
            <a:schemeClr val="bg2"/>
          </a:solidFill>
          <a:ln/>
        </p:spPr>
      </p:sp>
      <p:sp>
        <p:nvSpPr>
          <p:cNvPr id="15" name="Shape 11"/>
          <p:cNvSpPr/>
          <p:nvPr/>
        </p:nvSpPr>
        <p:spPr>
          <a:xfrm>
            <a:off x="777240" y="4782312"/>
            <a:ext cx="566928" cy="566928"/>
          </a:xfrm>
          <a:prstGeom prst="ellipse">
            <a:avLst/>
          </a:prstGeom>
          <a:solidFill>
            <a:schemeClr val="accent6"/>
          </a:solidFill>
          <a:ln/>
        </p:spPr>
      </p:sp>
      <p:pic>
        <p:nvPicPr>
          <p:cNvPr id="16" name="Image 2" descr="preencoded.png">    </p:cNvPr>
          <p:cNvPicPr>
            <a:picLocks noChangeAspect="1"/>
          </p:cNvPicPr>
          <p:nvPr/>
        </p:nvPicPr>
        <p:blipFill>
          <a:blip r:embed="rId3"/>
          <a:stretch>
            <a:fillRect/>
          </a:stretch>
        </p:blipFill>
        <p:spPr>
          <a:xfrm>
            <a:off x="890626" y="4895698"/>
            <a:ext cx="340157" cy="340157"/>
          </a:xfrm>
          <a:prstGeom prst="rect">
            <a:avLst/>
          </a:prstGeom>
        </p:spPr>
      </p:pic>
      <p:sp>
        <p:nvSpPr>
          <p:cNvPr id="17" name="Text 12"/>
          <p:cNvSpPr txBox="1"/>
          <p:nvPr/>
        </p:nvSpPr>
        <p:spPr>
          <a:xfrm>
            <a:off x="1508760" y="4681728"/>
            <a:ext cx="3840480" cy="548640"/>
          </a:xfrm>
          <a:prstGeom prst="rect">
            <a:avLst/>
          </a:prstGeom>
          <a:noFill/>
          <a:ln/>
        </p:spPr>
        <p:txBody>
          <a:bodyPr wrap="square" lIns="0" tIns="0" rIns="0" bIns="0" rtlCol="0" anchor="t"/>
          <a:lstStyle/>
          <a:p>
            <a:pPr indent="0" marL="0">
              <a:buNone/>
            </a:pPr>
            <a:r>
              <a:rPr lang="en-US" sz="1600" b="1" dirty="0">
                <a:solidFill>
                  <a:schemeClr val="tx1"/>
                </a:solidFill>
              </a:rPr>
              <a:t>Wildlife and landscape photographers</a:t>
            </a:r>
            <a:endParaRPr lang="en-US" sz="1600" dirty="0"/>
          </a:p>
        </p:txBody>
      </p:sp>
      <p:sp>
        <p:nvSpPr>
          <p:cNvPr id="18" name="Text 13"/>
          <p:cNvSpPr txBox="1"/>
          <p:nvPr/>
        </p:nvSpPr>
        <p:spPr>
          <a:xfrm>
            <a:off x="1508760" y="5257800"/>
            <a:ext cx="3840480" cy="274320"/>
          </a:xfrm>
          <a:prstGeom prst="rect">
            <a:avLst/>
          </a:prstGeom>
          <a:noFill/>
          <a:ln/>
        </p:spPr>
        <p:txBody>
          <a:bodyPr wrap="square" lIns="0" tIns="0" rIns="0" bIns="0" rtlCol="0" anchor="ctr"/>
          <a:lstStyle/>
          <a:p>
            <a:pPr indent="0" marL="0">
              <a:buNone/>
            </a:pPr>
            <a:r>
              <a:rPr lang="en-US" sz="1300" dirty="0">
                <a:solidFill>
                  <a:schemeClr val="accent5"/>
                </a:solidFill>
              </a:rPr>
              <a:t>For nature lovers</a:t>
            </a:r>
            <a:endParaRPr lang="en-US" sz="1300" dirty="0"/>
          </a:p>
        </p:txBody>
      </p:sp>
      <p:sp>
        <p:nvSpPr>
          <p:cNvPr id="19" name="Text 14"/>
          <p:cNvSpPr txBox="1"/>
          <p:nvPr/>
        </p:nvSpPr>
        <p:spPr>
          <a:xfrm>
            <a:off x="5852160" y="1371600"/>
            <a:ext cx="3200400" cy="274320"/>
          </a:xfrm>
          <a:prstGeom prst="rect">
            <a:avLst/>
          </a:prstGeom>
          <a:noFill/>
          <a:ln/>
        </p:spPr>
        <p:txBody>
          <a:bodyPr wrap="square" lIns="0" tIns="0" rIns="0" bIns="0" rtlCol="0" anchor="ctr"/>
          <a:lstStyle/>
          <a:p>
            <a:pPr indent="0" marL="0">
              <a:buNone/>
            </a:pPr>
            <a:r>
              <a:rPr lang="en-US" sz="1200" b="1" spc="200" kern="0" dirty="0">
                <a:solidFill>
                  <a:schemeClr val="accent5"/>
                </a:solidFill>
              </a:rPr>
              <a:t>HOW</a:t>
            </a:r>
            <a:endParaRPr lang="en-US" sz="1200" dirty="0"/>
          </a:p>
        </p:txBody>
      </p:sp>
      <p:sp>
        <p:nvSpPr>
          <p:cNvPr id="20" name="Shape 15"/>
          <p:cNvSpPr/>
          <p:nvPr/>
        </p:nvSpPr>
        <p:spPr>
          <a:xfrm>
            <a:off x="5852160" y="1783080"/>
            <a:ext cx="384048" cy="384048"/>
          </a:xfrm>
          <a:prstGeom prst="ellipse">
            <a:avLst/>
          </a:prstGeom>
          <a:solidFill>
            <a:schemeClr val="tx2"/>
          </a:solidFill>
          <a:ln/>
        </p:spPr>
      </p:sp>
      <p:sp>
        <p:nvSpPr>
          <p:cNvPr id="21" name="Text 16"/>
          <p:cNvSpPr txBox="1"/>
          <p:nvPr/>
        </p:nvSpPr>
        <p:spPr>
          <a:xfrm>
            <a:off x="5852160" y="17830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22" name="Text 17"/>
          <p:cNvSpPr txBox="1"/>
          <p:nvPr/>
        </p:nvSpPr>
        <p:spPr>
          <a:xfrm>
            <a:off x="6400800" y="1737360"/>
            <a:ext cx="5212080" cy="320040"/>
          </a:xfrm>
          <a:prstGeom prst="rect">
            <a:avLst/>
          </a:prstGeom>
          <a:noFill/>
          <a:ln/>
        </p:spPr>
        <p:txBody>
          <a:bodyPr wrap="square" lIns="0" tIns="0" rIns="0" bIns="0" rtlCol="0" anchor="ctr"/>
          <a:lstStyle/>
          <a:p>
            <a:pPr indent="0" marL="0">
              <a:buNone/>
            </a:pPr>
            <a:r>
              <a:rPr lang="en-US" sz="1600" b="1" dirty="0">
                <a:solidFill>
                  <a:schemeClr val="tx1"/>
                </a:solidFill>
              </a:rPr>
              <a:t>Creator weeks</a:t>
            </a:r>
            <a:endParaRPr lang="en-US" sz="1600" dirty="0"/>
          </a:p>
        </p:txBody>
      </p:sp>
      <p:sp>
        <p:nvSpPr>
          <p:cNvPr id="23" name="Text 18"/>
          <p:cNvSpPr txBox="1"/>
          <p:nvPr/>
        </p:nvSpPr>
        <p:spPr>
          <a:xfrm>
            <a:off x="6400800" y="2066544"/>
            <a:ext cx="5212080" cy="685800"/>
          </a:xfrm>
          <a:prstGeom prst="rect">
            <a:avLst/>
          </a:prstGeom>
          <a:noFill/>
          <a:ln/>
        </p:spPr>
        <p:txBody>
          <a:bodyPr wrap="square" lIns="0" tIns="0" rIns="0" bIns="0" rtlCol="0" anchor="t"/>
          <a:lstStyle/>
          <a:p>
            <a:pPr indent="0" marL="0">
              <a:buNone/>
            </a:pPr>
            <a:r>
              <a:rPr lang="en-US" sz="1300" dirty="0">
                <a:solidFill>
                  <a:schemeClr val="accent5"/>
                </a:solidFill>
              </a:rPr>
              <a:t>We invite 6 to 8 creators to St. Blaise Week, the oyster season and the photo safari. They join the workshops, not a press tour.</a:t>
            </a:r>
            <a:endParaRPr lang="en-US" sz="1300" dirty="0"/>
          </a:p>
        </p:txBody>
      </p:sp>
      <p:sp>
        <p:nvSpPr>
          <p:cNvPr id="24" name="Shape 19"/>
          <p:cNvSpPr/>
          <p:nvPr/>
        </p:nvSpPr>
        <p:spPr>
          <a:xfrm>
            <a:off x="5852160" y="2834640"/>
            <a:ext cx="384048" cy="384048"/>
          </a:xfrm>
          <a:prstGeom prst="ellipse">
            <a:avLst/>
          </a:prstGeom>
          <a:solidFill>
            <a:schemeClr val="tx2"/>
          </a:solidFill>
          <a:ln/>
        </p:spPr>
      </p:sp>
      <p:sp>
        <p:nvSpPr>
          <p:cNvPr id="25" name="Text 20"/>
          <p:cNvSpPr txBox="1"/>
          <p:nvPr/>
        </p:nvSpPr>
        <p:spPr>
          <a:xfrm>
            <a:off x="5852160" y="28346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26" name="Text 21"/>
          <p:cNvSpPr txBox="1"/>
          <p:nvPr/>
        </p:nvSpPr>
        <p:spPr>
          <a:xfrm>
            <a:off x="6400800" y="2788920"/>
            <a:ext cx="5212080" cy="320040"/>
          </a:xfrm>
          <a:prstGeom prst="rect">
            <a:avLst/>
          </a:prstGeom>
          <a:noFill/>
          <a:ln/>
        </p:spPr>
        <p:txBody>
          <a:bodyPr wrap="square" lIns="0" tIns="0" rIns="0" bIns="0" rtlCol="0" anchor="ctr"/>
          <a:lstStyle/>
          <a:p>
            <a:pPr indent="0" marL="0">
              <a:buNone/>
            </a:pPr>
            <a:r>
              <a:rPr lang="en-US" sz="1600" b="1" dirty="0">
                <a:solidFill>
                  <a:schemeClr val="tx1"/>
                </a:solidFill>
              </a:rPr>
              <a:t>Local faces</a:t>
            </a:r>
            <a:endParaRPr lang="en-US" sz="1600" dirty="0"/>
          </a:p>
        </p:txBody>
      </p:sp>
      <p:sp>
        <p:nvSpPr>
          <p:cNvPr id="27" name="Text 22"/>
          <p:cNvSpPr txBox="1"/>
          <p:nvPr/>
        </p:nvSpPr>
        <p:spPr>
          <a:xfrm>
            <a:off x="6400800" y="3118104"/>
            <a:ext cx="5212080" cy="685800"/>
          </a:xfrm>
          <a:prstGeom prst="rect">
            <a:avLst/>
          </a:prstGeom>
          <a:noFill/>
          <a:ln/>
        </p:spPr>
        <p:txBody>
          <a:bodyPr wrap="square" lIns="0" tIns="0" rIns="0" bIns="0" rtlCol="0" anchor="t"/>
          <a:lstStyle/>
          <a:p>
            <a:pPr indent="0" marL="0">
              <a:buNone/>
            </a:pPr>
            <a:r>
              <a:rPr lang="en-US" sz="1300" dirty="0">
                <a:solidFill>
                  <a:schemeClr val="accent5"/>
                </a:solidFill>
              </a:rPr>
              <a:t>They film the boatmen, oyster farmers and harvest families, so the story is about people, not ads.</a:t>
            </a:r>
            <a:endParaRPr lang="en-US" sz="1300" dirty="0"/>
          </a:p>
        </p:txBody>
      </p:sp>
      <p:sp>
        <p:nvSpPr>
          <p:cNvPr id="28" name="Shape 23"/>
          <p:cNvSpPr/>
          <p:nvPr/>
        </p:nvSpPr>
        <p:spPr>
          <a:xfrm>
            <a:off x="5852160" y="3886200"/>
            <a:ext cx="384048" cy="384048"/>
          </a:xfrm>
          <a:prstGeom prst="ellipse">
            <a:avLst/>
          </a:prstGeom>
          <a:solidFill>
            <a:schemeClr val="tx2"/>
          </a:solidFill>
          <a:ln/>
        </p:spPr>
      </p:sp>
      <p:sp>
        <p:nvSpPr>
          <p:cNvPr id="29" name="Text 24"/>
          <p:cNvSpPr txBox="1"/>
          <p:nvPr/>
        </p:nvSpPr>
        <p:spPr>
          <a:xfrm>
            <a:off x="5852160" y="38862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30" name="Text 25"/>
          <p:cNvSpPr txBox="1"/>
          <p:nvPr/>
        </p:nvSpPr>
        <p:spPr>
          <a:xfrm>
            <a:off x="6400800" y="3840480"/>
            <a:ext cx="5212080" cy="320040"/>
          </a:xfrm>
          <a:prstGeom prst="rect">
            <a:avLst/>
          </a:prstGeom>
          <a:noFill/>
          <a:ln/>
        </p:spPr>
        <p:txBody>
          <a:bodyPr wrap="square" lIns="0" tIns="0" rIns="0" bIns="0" rtlCol="0" anchor="ctr"/>
          <a:lstStyle/>
          <a:p>
            <a:pPr indent="0" marL="0">
              <a:buNone/>
            </a:pPr>
            <a:r>
              <a:rPr lang="en-US" sz="1600" b="1" dirty="0">
                <a:solidFill>
                  <a:schemeClr val="tx1"/>
                </a:solidFill>
              </a:rPr>
              <a:t>Our markets</a:t>
            </a:r>
            <a:endParaRPr lang="en-US" sz="1600" dirty="0"/>
          </a:p>
        </p:txBody>
      </p:sp>
      <p:sp>
        <p:nvSpPr>
          <p:cNvPr id="31" name="Text 26"/>
          <p:cNvSpPr txBox="1"/>
          <p:nvPr/>
        </p:nvSpPr>
        <p:spPr>
          <a:xfrm>
            <a:off x="6400800" y="4169664"/>
            <a:ext cx="5212080" cy="685800"/>
          </a:xfrm>
          <a:prstGeom prst="rect">
            <a:avLst/>
          </a:prstGeom>
          <a:noFill/>
          <a:ln/>
        </p:spPr>
        <p:txBody>
          <a:bodyPr wrap="square" lIns="0" tIns="0" rIns="0" bIns="0" rtlCol="0" anchor="t"/>
          <a:lstStyle/>
          <a:p>
            <a:pPr indent="0" marL="0">
              <a:buNone/>
            </a:pPr>
            <a:r>
              <a:rPr lang="en-US" sz="1300" dirty="0">
                <a:solidFill>
                  <a:schemeClr val="accent5"/>
                </a:solidFill>
              </a:rPr>
              <a:t>Austria, Germany, the UK and Scandinavia, where off-season travel is common.</a:t>
            </a:r>
            <a:endParaRPr lang="en-US" sz="1300" dirty="0"/>
          </a:p>
        </p:txBody>
      </p:sp>
      <p:sp>
        <p:nvSpPr>
          <p:cNvPr id="32" name="Shape 27"/>
          <p:cNvSpPr/>
          <p:nvPr/>
        </p:nvSpPr>
        <p:spPr>
          <a:xfrm>
            <a:off x="5852160" y="4937760"/>
            <a:ext cx="384048" cy="384048"/>
          </a:xfrm>
          <a:prstGeom prst="ellipse">
            <a:avLst/>
          </a:prstGeom>
          <a:solidFill>
            <a:schemeClr val="tx2"/>
          </a:solidFill>
          <a:ln/>
        </p:spPr>
      </p:sp>
      <p:sp>
        <p:nvSpPr>
          <p:cNvPr id="33" name="Text 28"/>
          <p:cNvSpPr txBox="1"/>
          <p:nvPr/>
        </p:nvSpPr>
        <p:spPr>
          <a:xfrm>
            <a:off x="5852160" y="4937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34" name="Text 29"/>
          <p:cNvSpPr txBox="1"/>
          <p:nvPr/>
        </p:nvSpPr>
        <p:spPr>
          <a:xfrm>
            <a:off x="6400800" y="4892040"/>
            <a:ext cx="5212080" cy="320040"/>
          </a:xfrm>
          <a:prstGeom prst="rect">
            <a:avLst/>
          </a:prstGeom>
          <a:noFill/>
          <a:ln/>
        </p:spPr>
        <p:txBody>
          <a:bodyPr wrap="square" lIns="0" tIns="0" rIns="0" bIns="0" rtlCol="0" anchor="ctr"/>
          <a:lstStyle/>
          <a:p>
            <a:pPr indent="0" marL="0">
              <a:buNone/>
            </a:pPr>
            <a:r>
              <a:rPr lang="en-US" sz="1600" b="1" dirty="0">
                <a:solidFill>
                  <a:schemeClr val="tx1"/>
                </a:solidFill>
              </a:rPr>
              <a:t>We measure it</a:t>
            </a:r>
            <a:endParaRPr lang="en-US" sz="1600" dirty="0"/>
          </a:p>
        </p:txBody>
      </p:sp>
      <p:sp>
        <p:nvSpPr>
          <p:cNvPr id="35" name="Text 30"/>
          <p:cNvSpPr txBox="1"/>
          <p:nvPr/>
        </p:nvSpPr>
        <p:spPr>
          <a:xfrm>
            <a:off x="6400800" y="5221224"/>
            <a:ext cx="5212080" cy="685800"/>
          </a:xfrm>
          <a:prstGeom prst="rect">
            <a:avLst/>
          </a:prstGeom>
          <a:noFill/>
          <a:ln/>
        </p:spPr>
        <p:txBody>
          <a:bodyPr wrap="square" lIns="0" tIns="0" rIns="0" bIns="0" rtlCol="0" anchor="t"/>
          <a:lstStyle/>
          <a:p>
            <a:pPr indent="0" marL="0">
              <a:buNone/>
            </a:pPr>
            <a:r>
              <a:rPr lang="en-US" sz="1300" dirty="0">
                <a:solidFill>
                  <a:schemeClr val="accent5"/>
                </a:solidFill>
              </a:rPr>
              <a:t>Every creator gets their own link: we count visits and bookings in February to April.</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46D"/>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t"/>
          <a:lstStyle/>
          <a:p>
            <a:pPr algn="l" indent="0" marL="0">
              <a:buNone/>
            </a:pPr>
            <a:r>
              <a:rPr lang="en-US" sz="3400" b="1" dirty="0">
                <a:solidFill>
                  <a:schemeClr val="tx1"/>
                </a:solidFill>
              </a:rPr>
              <a:t>One partner hotel that stays open all winter</a:t>
            </a:r>
            <a:endParaRPr lang="en-US" sz="3400" dirty="0"/>
          </a:p>
        </p:txBody>
      </p:sp>
      <p:pic>
        <p:nvPicPr>
          <p:cNvPr id="3" name="Lapad bay" descr="preencoded.png">    </p:cNvPr>
          <p:cNvPicPr>
            <a:picLocks noChangeAspect="1"/>
          </p:cNvPicPr>
          <p:nvPr/>
        </p:nvPicPr>
        <p:blipFill>
          <a:blip r:embed="rId1"/>
          <a:srcRect l="16189" r="16189" t="0" b="0"/>
          <a:stretch/>
        </p:blipFill>
        <p:spPr>
          <a:xfrm>
            <a:off x="548640" y="1371600"/>
            <a:ext cx="5120640" cy="4709160"/>
          </a:xfrm>
          <a:prstGeom prst="rect">
            <a:avLst/>
          </a:prstGeom>
        </p:spPr>
      </p:pic>
      <p:sp>
        <p:nvSpPr>
          <p:cNvPr id="4" name="Shape 1"/>
          <p:cNvSpPr/>
          <p:nvPr/>
        </p:nvSpPr>
        <p:spPr>
          <a:xfrm>
            <a:off x="6035040" y="1371600"/>
            <a:ext cx="566928" cy="566928"/>
          </a:xfrm>
          <a:prstGeom prst="ellipse">
            <a:avLst/>
          </a:prstGeom>
          <a:solidFill>
            <a:schemeClr val="accent6"/>
          </a:solidFill>
          <a:ln/>
        </p:spPr>
      </p:sp>
      <p:pic>
        <p:nvPicPr>
          <p:cNvPr id="5" name="Image 1" descr="preencoded.png">    </p:cNvPr>
          <p:cNvPicPr>
            <a:picLocks noChangeAspect="1"/>
          </p:cNvPicPr>
          <p:nvPr/>
        </p:nvPicPr>
        <p:blipFill>
          <a:blip r:embed="rId2"/>
          <a:stretch>
            <a:fillRect/>
          </a:stretch>
        </p:blipFill>
        <p:spPr>
          <a:xfrm>
            <a:off x="6148426" y="1484986"/>
            <a:ext cx="340157" cy="340157"/>
          </a:xfrm>
          <a:prstGeom prst="rect">
            <a:avLst/>
          </a:prstGeom>
        </p:spPr>
      </p:pic>
      <p:sp>
        <p:nvSpPr>
          <p:cNvPr id="6" name="Text 2"/>
          <p:cNvSpPr txBox="1"/>
          <p:nvPr/>
        </p:nvSpPr>
        <p:spPr>
          <a:xfrm>
            <a:off x="6812280" y="1371600"/>
            <a:ext cx="4754880" cy="365760"/>
          </a:xfrm>
          <a:prstGeom prst="rect">
            <a:avLst/>
          </a:prstGeom>
          <a:noFill/>
          <a:ln/>
        </p:spPr>
        <p:txBody>
          <a:bodyPr wrap="square" lIns="0" tIns="0" rIns="0" bIns="0" rtlCol="0" anchor="ctr"/>
          <a:lstStyle/>
          <a:p>
            <a:pPr indent="0" marL="0">
              <a:buNone/>
            </a:pPr>
            <a:r>
              <a:rPr lang="en-US" sz="1800" b="1" dirty="0">
                <a:solidFill>
                  <a:schemeClr val="tx1"/>
                </a:solidFill>
              </a:rPr>
              <a:t>The deal</a:t>
            </a:r>
            <a:endParaRPr lang="en-US" sz="1800" dirty="0"/>
          </a:p>
        </p:txBody>
      </p:sp>
      <p:sp>
        <p:nvSpPr>
          <p:cNvPr id="7" name="Text 3"/>
          <p:cNvSpPr txBox="1"/>
          <p:nvPr/>
        </p:nvSpPr>
        <p:spPr>
          <a:xfrm>
            <a:off x="6812280" y="1755648"/>
            <a:ext cx="4754880" cy="1097280"/>
          </a:xfrm>
          <a:prstGeom prst="rect">
            <a:avLst/>
          </a:prstGeom>
          <a:noFill/>
          <a:ln/>
        </p:spPr>
        <p:txBody>
          <a:bodyPr wrap="square" lIns="0" tIns="0" rIns="0" bIns="0" rtlCol="0" anchor="t"/>
          <a:lstStyle/>
          <a:p>
            <a:pPr indent="0" marL="0">
              <a:buNone/>
            </a:pPr>
            <a:r>
              <a:rPr lang="en-US" sz="1500" dirty="0">
                <a:solidFill>
                  <a:schemeClr val="accent5"/>
                </a:solidFill>
              </a:rPr>
              <a:t>A contract with one hotel in Lapad: rooms for our guests from October to May, family rooms, early breakfast on activity days.</a:t>
            </a:r>
            <a:endParaRPr lang="en-US" sz="1500" dirty="0"/>
          </a:p>
        </p:txBody>
      </p:sp>
      <p:sp>
        <p:nvSpPr>
          <p:cNvPr id="8" name="Shape 4"/>
          <p:cNvSpPr/>
          <p:nvPr/>
        </p:nvSpPr>
        <p:spPr>
          <a:xfrm>
            <a:off x="6035040" y="2971800"/>
            <a:ext cx="566928" cy="566928"/>
          </a:xfrm>
          <a:prstGeom prst="ellipse">
            <a:avLst/>
          </a:prstGeom>
          <a:solidFill>
            <a:schemeClr val="accent6"/>
          </a:solidFill>
          <a:ln/>
        </p:spPr>
      </p:sp>
      <p:pic>
        <p:nvPicPr>
          <p:cNvPr id="9" name="Image 2" descr="preencoded.png">    </p:cNvPr>
          <p:cNvPicPr>
            <a:picLocks noChangeAspect="1"/>
          </p:cNvPicPr>
          <p:nvPr/>
        </p:nvPicPr>
        <p:blipFill>
          <a:blip r:embed="rId3"/>
          <a:stretch>
            <a:fillRect/>
          </a:stretch>
        </p:blipFill>
        <p:spPr>
          <a:xfrm>
            <a:off x="6148426" y="3085186"/>
            <a:ext cx="340157" cy="340157"/>
          </a:xfrm>
          <a:prstGeom prst="rect">
            <a:avLst/>
          </a:prstGeom>
        </p:spPr>
      </p:pic>
      <p:sp>
        <p:nvSpPr>
          <p:cNvPr id="10" name="Text 5"/>
          <p:cNvSpPr txBox="1"/>
          <p:nvPr/>
        </p:nvSpPr>
        <p:spPr>
          <a:xfrm>
            <a:off x="6812280" y="2971800"/>
            <a:ext cx="4754880" cy="365760"/>
          </a:xfrm>
          <a:prstGeom prst="rect">
            <a:avLst/>
          </a:prstGeom>
          <a:noFill/>
          <a:ln/>
        </p:spPr>
        <p:txBody>
          <a:bodyPr wrap="square" lIns="0" tIns="0" rIns="0" bIns="0" rtlCol="0" anchor="ctr"/>
          <a:lstStyle/>
          <a:p>
            <a:pPr indent="0" marL="0">
              <a:buNone/>
            </a:pPr>
            <a:r>
              <a:rPr lang="en-US" sz="1800" b="1" dirty="0">
                <a:solidFill>
                  <a:schemeClr val="tx1"/>
                </a:solidFill>
              </a:rPr>
              <a:t>What the hotel gets</a:t>
            </a:r>
            <a:endParaRPr lang="en-US" sz="1800" dirty="0"/>
          </a:p>
        </p:txBody>
      </p:sp>
      <p:sp>
        <p:nvSpPr>
          <p:cNvPr id="11" name="Text 6"/>
          <p:cNvSpPr txBox="1"/>
          <p:nvPr/>
        </p:nvSpPr>
        <p:spPr>
          <a:xfrm>
            <a:off x="6812280" y="3355848"/>
            <a:ext cx="4754880" cy="1097280"/>
          </a:xfrm>
          <a:prstGeom prst="rect">
            <a:avLst/>
          </a:prstGeom>
          <a:noFill/>
          <a:ln/>
        </p:spPr>
        <p:txBody>
          <a:bodyPr wrap="square" lIns="0" tIns="0" rIns="0" bIns="0" rtlCol="0" anchor="t"/>
          <a:lstStyle/>
          <a:p>
            <a:pPr indent="0" marL="0">
              <a:buNone/>
            </a:pPr>
            <a:r>
              <a:rPr lang="en-US" sz="1500" dirty="0">
                <a:solidFill>
                  <a:schemeClr val="accent5"/>
                </a:solidFill>
              </a:rPr>
              <a:t>Guests in months it used to close, and staff kept on all year.</a:t>
            </a:r>
            <a:endParaRPr lang="en-US" sz="1500" dirty="0"/>
          </a:p>
        </p:txBody>
      </p:sp>
      <p:sp>
        <p:nvSpPr>
          <p:cNvPr id="12" name="Shape 7"/>
          <p:cNvSpPr/>
          <p:nvPr/>
        </p:nvSpPr>
        <p:spPr>
          <a:xfrm>
            <a:off x="6035040" y="4572000"/>
            <a:ext cx="566928" cy="566928"/>
          </a:xfrm>
          <a:prstGeom prst="ellipse">
            <a:avLst/>
          </a:prstGeom>
          <a:solidFill>
            <a:schemeClr val="accent6"/>
          </a:solidFill>
          <a:ln/>
        </p:spPr>
      </p:sp>
      <p:pic>
        <p:nvPicPr>
          <p:cNvPr id="13" name="Image 3" descr="preencoded.png">    </p:cNvPr>
          <p:cNvPicPr>
            <a:picLocks noChangeAspect="1"/>
          </p:cNvPicPr>
          <p:nvPr/>
        </p:nvPicPr>
        <p:blipFill>
          <a:blip r:embed="rId4"/>
          <a:stretch>
            <a:fillRect/>
          </a:stretch>
        </p:blipFill>
        <p:spPr>
          <a:xfrm>
            <a:off x="6148426" y="4685386"/>
            <a:ext cx="340157" cy="340157"/>
          </a:xfrm>
          <a:prstGeom prst="rect">
            <a:avLst/>
          </a:prstGeom>
        </p:spPr>
      </p:pic>
      <p:sp>
        <p:nvSpPr>
          <p:cNvPr id="14" name="Text 8"/>
          <p:cNvSpPr txBox="1"/>
          <p:nvPr/>
        </p:nvSpPr>
        <p:spPr>
          <a:xfrm>
            <a:off x="6812280" y="4572000"/>
            <a:ext cx="4754880" cy="365760"/>
          </a:xfrm>
          <a:prstGeom prst="rect">
            <a:avLst/>
          </a:prstGeom>
          <a:noFill/>
          <a:ln/>
        </p:spPr>
        <p:txBody>
          <a:bodyPr wrap="square" lIns="0" tIns="0" rIns="0" bIns="0" rtlCol="0" anchor="ctr"/>
          <a:lstStyle/>
          <a:p>
            <a:pPr indent="0" marL="0">
              <a:buNone/>
            </a:pPr>
            <a:r>
              <a:rPr lang="en-US" sz="1800" b="1" dirty="0">
                <a:solidFill>
                  <a:schemeClr val="tx1"/>
                </a:solidFill>
              </a:rPr>
              <a:t>Step by step</a:t>
            </a:r>
            <a:endParaRPr lang="en-US" sz="1800" dirty="0"/>
          </a:p>
        </p:txBody>
      </p:sp>
      <p:sp>
        <p:nvSpPr>
          <p:cNvPr id="15" name="Text 9"/>
          <p:cNvSpPr txBox="1"/>
          <p:nvPr/>
        </p:nvSpPr>
        <p:spPr>
          <a:xfrm>
            <a:off x="6812280" y="4956048"/>
            <a:ext cx="4754880" cy="1097280"/>
          </a:xfrm>
          <a:prstGeom prst="rect">
            <a:avLst/>
          </a:prstGeom>
          <a:noFill/>
          <a:ln/>
        </p:spPr>
        <p:txBody>
          <a:bodyPr wrap="square" lIns="0" tIns="0" rIns="0" bIns="0" rtlCol="0" anchor="t"/>
          <a:lstStyle/>
          <a:p>
            <a:pPr indent="0" marL="0">
              <a:buNone/>
            </a:pPr>
            <a:r>
              <a:rPr lang="en-US" sz="1500" dirty="0">
                <a:solidFill>
                  <a:schemeClr val="accent5"/>
                </a:solidFill>
              </a:rPr>
              <a:t>Winter 2026/27: 10 rooms. 2027/28: 25 rooms every week. Then a second hotel in Ston or the Neretva valley.</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46D"/>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t"/>
          <a:lstStyle/>
          <a:p>
            <a:pPr algn="l" indent="0" marL="0">
              <a:buNone/>
            </a:pPr>
            <a:r>
              <a:rPr lang="en-US" sz="3400" b="1" dirty="0">
                <a:solidFill>
                  <a:schemeClr val="tx1"/>
                </a:solidFill>
              </a:rPr>
              <a:t>Why it works</a:t>
            </a:r>
            <a:endParaRPr lang="en-US" sz="3400" dirty="0"/>
          </a:p>
        </p:txBody>
      </p:sp>
      <p:sp>
        <p:nvSpPr>
          <p:cNvPr id="3" name="Shape 1"/>
          <p:cNvSpPr/>
          <p:nvPr/>
        </p:nvSpPr>
        <p:spPr>
          <a:xfrm>
            <a:off x="548640" y="1371600"/>
            <a:ext cx="2651760" cy="2194560"/>
          </a:xfrm>
          <a:prstGeom prst="roundRect">
            <a:avLst>
              <a:gd name="adj" fmla="val 5000"/>
            </a:avLst>
          </a:prstGeom>
          <a:solidFill>
            <a:schemeClr val="bg2"/>
          </a:solidFill>
          <a:ln/>
        </p:spPr>
      </p:sp>
      <p:sp>
        <p:nvSpPr>
          <p:cNvPr id="4" name="Shape 2"/>
          <p:cNvSpPr/>
          <p:nvPr/>
        </p:nvSpPr>
        <p:spPr>
          <a:xfrm>
            <a:off x="749808" y="1572768"/>
            <a:ext cx="566928" cy="566928"/>
          </a:xfrm>
          <a:prstGeom prst="ellipse">
            <a:avLst/>
          </a:prstGeom>
          <a:solidFill>
            <a:schemeClr val="accent6"/>
          </a:solidFill>
          <a:ln/>
        </p:spPr>
      </p:sp>
      <p:pic>
        <p:nvPicPr>
          <p:cNvPr id="5" name="Image 0" descr="preencoded.png">    </p:cNvPr>
          <p:cNvPicPr>
            <a:picLocks noChangeAspect="1"/>
          </p:cNvPicPr>
          <p:nvPr/>
        </p:nvPicPr>
        <p:blipFill>
          <a:blip r:embed="rId1"/>
          <a:stretch>
            <a:fillRect/>
          </a:stretch>
        </p:blipFill>
        <p:spPr>
          <a:xfrm>
            <a:off x="863194" y="1686154"/>
            <a:ext cx="340157" cy="340157"/>
          </a:xfrm>
          <a:prstGeom prst="rect">
            <a:avLst/>
          </a:prstGeom>
        </p:spPr>
      </p:pic>
      <p:sp>
        <p:nvSpPr>
          <p:cNvPr id="6" name="Text 3"/>
          <p:cNvSpPr txBox="1"/>
          <p:nvPr/>
        </p:nvSpPr>
        <p:spPr>
          <a:xfrm>
            <a:off x="749808" y="2267712"/>
            <a:ext cx="2286000" cy="365760"/>
          </a:xfrm>
          <a:prstGeom prst="rect">
            <a:avLst/>
          </a:prstGeom>
          <a:noFill/>
          <a:ln/>
        </p:spPr>
        <p:txBody>
          <a:bodyPr wrap="square" lIns="0" tIns="0" rIns="0" bIns="0" rtlCol="0" anchor="ctr"/>
          <a:lstStyle/>
          <a:p>
            <a:pPr indent="0" marL="0">
              <a:buNone/>
            </a:pPr>
            <a:r>
              <a:rPr lang="en-US" sz="1800" b="1" dirty="0">
                <a:solidFill>
                  <a:schemeClr val="tx1"/>
                </a:solidFill>
              </a:rPr>
              <a:t>Content</a:t>
            </a:r>
            <a:endParaRPr lang="en-US" sz="1800" dirty="0"/>
          </a:p>
        </p:txBody>
      </p:sp>
      <p:sp>
        <p:nvSpPr>
          <p:cNvPr id="7" name="Text 4"/>
          <p:cNvSpPr txBox="1"/>
          <p:nvPr/>
        </p:nvSpPr>
        <p:spPr>
          <a:xfrm>
            <a:off x="749808" y="2670048"/>
            <a:ext cx="2286000" cy="777240"/>
          </a:xfrm>
          <a:prstGeom prst="rect">
            <a:avLst/>
          </a:prstGeom>
          <a:noFill/>
          <a:ln/>
        </p:spPr>
        <p:txBody>
          <a:bodyPr wrap="square" lIns="0" tIns="0" rIns="0" bIns="0" rtlCol="0" anchor="t"/>
          <a:lstStyle/>
          <a:p>
            <a:pPr indent="0" marL="0">
              <a:buNone/>
            </a:pPr>
            <a:r>
              <a:rPr lang="en-US" sz="1500" dirty="0">
                <a:solidFill>
                  <a:schemeClr val="accent5"/>
                </a:solidFill>
              </a:rPr>
              <a:t>Festival weeks, oyster season, photo safari, harvests</a:t>
            </a:r>
            <a:endParaRPr lang="en-US" sz="1500" dirty="0"/>
          </a:p>
        </p:txBody>
      </p:sp>
      <p:sp>
        <p:nvSpPr>
          <p:cNvPr id="8" name="Shape 5"/>
          <p:cNvSpPr/>
          <p:nvPr/>
        </p:nvSpPr>
        <p:spPr>
          <a:xfrm>
            <a:off x="3355848" y="1371600"/>
            <a:ext cx="2651760" cy="2194560"/>
          </a:xfrm>
          <a:prstGeom prst="roundRect">
            <a:avLst>
              <a:gd name="adj" fmla="val 5000"/>
            </a:avLst>
          </a:prstGeom>
          <a:solidFill>
            <a:schemeClr val="bg2"/>
          </a:solidFill>
          <a:ln/>
        </p:spPr>
      </p:sp>
      <p:sp>
        <p:nvSpPr>
          <p:cNvPr id="9" name="Shape 6"/>
          <p:cNvSpPr/>
          <p:nvPr/>
        </p:nvSpPr>
        <p:spPr>
          <a:xfrm>
            <a:off x="3557016" y="1572768"/>
            <a:ext cx="566928" cy="566928"/>
          </a:xfrm>
          <a:prstGeom prst="ellipse">
            <a:avLst/>
          </a:prstGeom>
          <a:solidFill>
            <a:schemeClr val="accent6"/>
          </a:solidFill>
          <a:ln/>
        </p:spPr>
      </p:sp>
      <p:pic>
        <p:nvPicPr>
          <p:cNvPr id="10" name="Image 1" descr="preencoded.png">    </p:cNvPr>
          <p:cNvPicPr>
            <a:picLocks noChangeAspect="1"/>
          </p:cNvPicPr>
          <p:nvPr/>
        </p:nvPicPr>
        <p:blipFill>
          <a:blip r:embed="rId2"/>
          <a:stretch>
            <a:fillRect/>
          </a:stretch>
        </p:blipFill>
        <p:spPr>
          <a:xfrm>
            <a:off x="3670402" y="1686154"/>
            <a:ext cx="340157" cy="340157"/>
          </a:xfrm>
          <a:prstGeom prst="rect">
            <a:avLst/>
          </a:prstGeom>
        </p:spPr>
      </p:pic>
      <p:sp>
        <p:nvSpPr>
          <p:cNvPr id="11" name="Text 7"/>
          <p:cNvSpPr txBox="1"/>
          <p:nvPr/>
        </p:nvSpPr>
        <p:spPr>
          <a:xfrm>
            <a:off x="3557016" y="2267712"/>
            <a:ext cx="2286000" cy="365760"/>
          </a:xfrm>
          <a:prstGeom prst="rect">
            <a:avLst/>
          </a:prstGeom>
          <a:noFill/>
          <a:ln/>
        </p:spPr>
        <p:txBody>
          <a:bodyPr wrap="square" lIns="0" tIns="0" rIns="0" bIns="0" rtlCol="0" anchor="ctr"/>
          <a:lstStyle/>
          <a:p>
            <a:pPr indent="0" marL="0">
              <a:buNone/>
            </a:pPr>
            <a:r>
              <a:rPr lang="en-US" sz="1800" b="1" dirty="0">
                <a:solidFill>
                  <a:schemeClr val="tx1"/>
                </a:solidFill>
              </a:rPr>
              <a:t>Innovation</a:t>
            </a:r>
            <a:endParaRPr lang="en-US" sz="1800" dirty="0"/>
          </a:p>
        </p:txBody>
      </p:sp>
      <p:sp>
        <p:nvSpPr>
          <p:cNvPr id="12" name="Text 8"/>
          <p:cNvSpPr txBox="1"/>
          <p:nvPr/>
        </p:nvSpPr>
        <p:spPr>
          <a:xfrm>
            <a:off x="3557016" y="2670048"/>
            <a:ext cx="2286000" cy="777240"/>
          </a:xfrm>
          <a:prstGeom prst="rect">
            <a:avLst/>
          </a:prstGeom>
          <a:noFill/>
          <a:ln/>
        </p:spPr>
        <p:txBody>
          <a:bodyPr wrap="square" lIns="0" tIns="0" rIns="0" bIns="0" rtlCol="0" anchor="t"/>
          <a:lstStyle/>
          <a:p>
            <a:pPr indent="0" marL="0">
              <a:buNone/>
            </a:pPr>
            <a:r>
              <a:rPr lang="en-US" sz="1500" dirty="0">
                <a:solidFill>
                  <a:schemeClr val="accent5"/>
                </a:solidFill>
              </a:rPr>
              <a:t>Stretching feasts into weeks; photo safari by lađa</a:t>
            </a:r>
            <a:endParaRPr lang="en-US" sz="1500" dirty="0"/>
          </a:p>
        </p:txBody>
      </p:sp>
      <p:sp>
        <p:nvSpPr>
          <p:cNvPr id="13" name="Shape 9"/>
          <p:cNvSpPr/>
          <p:nvPr/>
        </p:nvSpPr>
        <p:spPr>
          <a:xfrm>
            <a:off x="6163056" y="1371600"/>
            <a:ext cx="2651760" cy="2194560"/>
          </a:xfrm>
          <a:prstGeom prst="roundRect">
            <a:avLst>
              <a:gd name="adj" fmla="val 5000"/>
            </a:avLst>
          </a:prstGeom>
          <a:solidFill>
            <a:schemeClr val="bg2"/>
          </a:solidFill>
          <a:ln/>
        </p:spPr>
      </p:sp>
      <p:sp>
        <p:nvSpPr>
          <p:cNvPr id="14" name="Shape 10"/>
          <p:cNvSpPr/>
          <p:nvPr/>
        </p:nvSpPr>
        <p:spPr>
          <a:xfrm>
            <a:off x="6364224" y="1572768"/>
            <a:ext cx="566928" cy="566928"/>
          </a:xfrm>
          <a:prstGeom prst="ellipse">
            <a:avLst/>
          </a:prstGeom>
          <a:solidFill>
            <a:schemeClr val="accent6"/>
          </a:solidFill>
          <a:ln/>
        </p:spPr>
      </p:sp>
      <p:pic>
        <p:nvPicPr>
          <p:cNvPr id="15" name="Image 2" descr="preencoded.png">    </p:cNvPr>
          <p:cNvPicPr>
            <a:picLocks noChangeAspect="1"/>
          </p:cNvPicPr>
          <p:nvPr/>
        </p:nvPicPr>
        <p:blipFill>
          <a:blip r:embed="rId3"/>
          <a:stretch>
            <a:fillRect/>
          </a:stretch>
        </p:blipFill>
        <p:spPr>
          <a:xfrm>
            <a:off x="6477610" y="1686154"/>
            <a:ext cx="340157" cy="340157"/>
          </a:xfrm>
          <a:prstGeom prst="rect">
            <a:avLst/>
          </a:prstGeom>
        </p:spPr>
      </p:pic>
      <p:sp>
        <p:nvSpPr>
          <p:cNvPr id="16" name="Text 11"/>
          <p:cNvSpPr txBox="1"/>
          <p:nvPr/>
        </p:nvSpPr>
        <p:spPr>
          <a:xfrm>
            <a:off x="6364224" y="2267712"/>
            <a:ext cx="2286000" cy="365760"/>
          </a:xfrm>
          <a:prstGeom prst="rect">
            <a:avLst/>
          </a:prstGeom>
          <a:noFill/>
          <a:ln/>
        </p:spPr>
        <p:txBody>
          <a:bodyPr wrap="square" lIns="0" tIns="0" rIns="0" bIns="0" rtlCol="0" anchor="ctr"/>
          <a:lstStyle/>
          <a:p>
            <a:pPr indent="0" marL="0">
              <a:buNone/>
            </a:pPr>
            <a:r>
              <a:rPr lang="en-US" sz="1800" b="1" dirty="0">
                <a:solidFill>
                  <a:schemeClr val="tx1"/>
                </a:solidFill>
              </a:rPr>
              <a:t>Feasibility</a:t>
            </a:r>
            <a:endParaRPr lang="en-US" sz="1800" dirty="0"/>
          </a:p>
        </p:txBody>
      </p:sp>
      <p:sp>
        <p:nvSpPr>
          <p:cNvPr id="17" name="Text 12"/>
          <p:cNvSpPr txBox="1"/>
          <p:nvPr/>
        </p:nvSpPr>
        <p:spPr>
          <a:xfrm>
            <a:off x="6364224" y="2670048"/>
            <a:ext cx="2286000" cy="777240"/>
          </a:xfrm>
          <a:prstGeom prst="rect">
            <a:avLst/>
          </a:prstGeom>
          <a:noFill/>
          <a:ln/>
        </p:spPr>
        <p:txBody>
          <a:bodyPr wrap="square" lIns="0" tIns="0" rIns="0" bIns="0" rtlCol="0" anchor="t"/>
          <a:lstStyle/>
          <a:p>
            <a:pPr indent="0" marL="0">
              <a:buNone/>
            </a:pPr>
            <a:r>
              <a:rPr lang="en-US" sz="1500" dirty="0">
                <a:solidFill>
                  <a:schemeClr val="accent5"/>
                </a:solidFill>
              </a:rPr>
              <a:t>Existing events and places, one hotel to start</a:t>
            </a:r>
            <a:endParaRPr lang="en-US" sz="1500" dirty="0"/>
          </a:p>
        </p:txBody>
      </p:sp>
      <p:sp>
        <p:nvSpPr>
          <p:cNvPr id="18" name="Shape 13"/>
          <p:cNvSpPr/>
          <p:nvPr/>
        </p:nvSpPr>
        <p:spPr>
          <a:xfrm>
            <a:off x="8970264" y="1371600"/>
            <a:ext cx="2651760" cy="2194560"/>
          </a:xfrm>
          <a:prstGeom prst="roundRect">
            <a:avLst>
              <a:gd name="adj" fmla="val 5000"/>
            </a:avLst>
          </a:prstGeom>
          <a:solidFill>
            <a:schemeClr val="bg2"/>
          </a:solidFill>
          <a:ln/>
        </p:spPr>
      </p:sp>
      <p:sp>
        <p:nvSpPr>
          <p:cNvPr id="19" name="Shape 14"/>
          <p:cNvSpPr/>
          <p:nvPr/>
        </p:nvSpPr>
        <p:spPr>
          <a:xfrm>
            <a:off x="9171432" y="1572768"/>
            <a:ext cx="566928" cy="566928"/>
          </a:xfrm>
          <a:prstGeom prst="ellipse">
            <a:avLst/>
          </a:prstGeom>
          <a:solidFill>
            <a:schemeClr val="accent6"/>
          </a:solidFill>
          <a:ln/>
        </p:spPr>
      </p:sp>
      <p:pic>
        <p:nvPicPr>
          <p:cNvPr id="20" name="Image 3" descr="preencoded.png">    </p:cNvPr>
          <p:cNvPicPr>
            <a:picLocks noChangeAspect="1"/>
          </p:cNvPicPr>
          <p:nvPr/>
        </p:nvPicPr>
        <p:blipFill>
          <a:blip r:embed="rId4"/>
          <a:stretch>
            <a:fillRect/>
          </a:stretch>
        </p:blipFill>
        <p:spPr>
          <a:xfrm>
            <a:off x="9284818" y="1686154"/>
            <a:ext cx="340157" cy="340157"/>
          </a:xfrm>
          <a:prstGeom prst="rect">
            <a:avLst/>
          </a:prstGeom>
        </p:spPr>
      </p:pic>
      <p:sp>
        <p:nvSpPr>
          <p:cNvPr id="21" name="Text 15"/>
          <p:cNvSpPr txBox="1"/>
          <p:nvPr/>
        </p:nvSpPr>
        <p:spPr>
          <a:xfrm>
            <a:off x="9171432" y="2267712"/>
            <a:ext cx="2286000" cy="365760"/>
          </a:xfrm>
          <a:prstGeom prst="rect">
            <a:avLst/>
          </a:prstGeom>
          <a:noFill/>
          <a:ln/>
        </p:spPr>
        <p:txBody>
          <a:bodyPr wrap="square" lIns="0" tIns="0" rIns="0" bIns="0" rtlCol="0" anchor="ctr"/>
          <a:lstStyle/>
          <a:p>
            <a:pPr indent="0" marL="0">
              <a:buNone/>
            </a:pPr>
            <a:r>
              <a:rPr lang="en-US" sz="1800" b="1" dirty="0">
                <a:solidFill>
                  <a:schemeClr val="tx1"/>
                </a:solidFill>
              </a:rPr>
              <a:t>Sustainability</a:t>
            </a:r>
            <a:endParaRPr lang="en-US" sz="1800" dirty="0"/>
          </a:p>
        </p:txBody>
      </p:sp>
      <p:sp>
        <p:nvSpPr>
          <p:cNvPr id="22" name="Text 16"/>
          <p:cNvSpPr txBox="1"/>
          <p:nvPr/>
        </p:nvSpPr>
        <p:spPr>
          <a:xfrm>
            <a:off x="9171432" y="2670048"/>
            <a:ext cx="2286000" cy="777240"/>
          </a:xfrm>
          <a:prstGeom prst="rect">
            <a:avLst/>
          </a:prstGeom>
          <a:noFill/>
          <a:ln/>
        </p:spPr>
        <p:txBody>
          <a:bodyPr wrap="square" lIns="0" tIns="0" rIns="0" bIns="0" rtlCol="0" anchor="t"/>
          <a:lstStyle/>
          <a:p>
            <a:pPr indent="0" marL="0">
              <a:buNone/>
            </a:pPr>
            <a:r>
              <a:rPr lang="en-US" sz="1500" dirty="0">
                <a:solidFill>
                  <a:schemeClr val="accent5"/>
                </a:solidFill>
              </a:rPr>
              <a:t>Small groups, no new buildings, local income</a:t>
            </a:r>
            <a:endParaRPr lang="en-US" sz="1500" dirty="0"/>
          </a:p>
        </p:txBody>
      </p:sp>
      <p:sp>
        <p:nvSpPr>
          <p:cNvPr id="23" name="Shape 17"/>
          <p:cNvSpPr/>
          <p:nvPr/>
        </p:nvSpPr>
        <p:spPr>
          <a:xfrm>
            <a:off x="548640" y="3749040"/>
            <a:ext cx="2651760" cy="2194560"/>
          </a:xfrm>
          <a:prstGeom prst="roundRect">
            <a:avLst>
              <a:gd name="adj" fmla="val 5000"/>
            </a:avLst>
          </a:prstGeom>
          <a:solidFill>
            <a:schemeClr val="bg2"/>
          </a:solidFill>
          <a:ln/>
        </p:spPr>
      </p:sp>
      <p:sp>
        <p:nvSpPr>
          <p:cNvPr id="24" name="Shape 18"/>
          <p:cNvSpPr/>
          <p:nvPr/>
        </p:nvSpPr>
        <p:spPr>
          <a:xfrm>
            <a:off x="749808" y="3950208"/>
            <a:ext cx="566928" cy="566928"/>
          </a:xfrm>
          <a:prstGeom prst="ellipse">
            <a:avLst/>
          </a:prstGeom>
          <a:solidFill>
            <a:schemeClr val="accent6"/>
          </a:solidFill>
          <a:ln/>
        </p:spPr>
      </p:sp>
      <p:pic>
        <p:nvPicPr>
          <p:cNvPr id="25" name="Image 4" descr="preencoded.png">    </p:cNvPr>
          <p:cNvPicPr>
            <a:picLocks noChangeAspect="1"/>
          </p:cNvPicPr>
          <p:nvPr/>
        </p:nvPicPr>
        <p:blipFill>
          <a:blip r:embed="rId5"/>
          <a:stretch>
            <a:fillRect/>
          </a:stretch>
        </p:blipFill>
        <p:spPr>
          <a:xfrm>
            <a:off x="863194" y="4063594"/>
            <a:ext cx="340157" cy="340157"/>
          </a:xfrm>
          <a:prstGeom prst="rect">
            <a:avLst/>
          </a:prstGeom>
        </p:spPr>
      </p:pic>
      <p:sp>
        <p:nvSpPr>
          <p:cNvPr id="26" name="Text 19"/>
          <p:cNvSpPr txBox="1"/>
          <p:nvPr/>
        </p:nvSpPr>
        <p:spPr>
          <a:xfrm>
            <a:off x="749808" y="4645152"/>
            <a:ext cx="2286000" cy="365760"/>
          </a:xfrm>
          <a:prstGeom prst="rect">
            <a:avLst/>
          </a:prstGeom>
          <a:noFill/>
          <a:ln/>
        </p:spPr>
        <p:txBody>
          <a:bodyPr wrap="square" lIns="0" tIns="0" rIns="0" bIns="0" rtlCol="0" anchor="ctr"/>
          <a:lstStyle/>
          <a:p>
            <a:pPr indent="0" marL="0">
              <a:buNone/>
            </a:pPr>
            <a:r>
              <a:rPr lang="en-US" sz="1800" b="1" dirty="0">
                <a:solidFill>
                  <a:schemeClr val="tx1"/>
                </a:solidFill>
              </a:rPr>
              <a:t>Diversity</a:t>
            </a:r>
            <a:endParaRPr lang="en-US" sz="1800" dirty="0"/>
          </a:p>
        </p:txBody>
      </p:sp>
      <p:sp>
        <p:nvSpPr>
          <p:cNvPr id="27" name="Text 20"/>
          <p:cNvSpPr txBox="1"/>
          <p:nvPr/>
        </p:nvSpPr>
        <p:spPr>
          <a:xfrm>
            <a:off x="749808" y="5047488"/>
            <a:ext cx="2286000" cy="777240"/>
          </a:xfrm>
          <a:prstGeom prst="rect">
            <a:avLst/>
          </a:prstGeom>
          <a:noFill/>
          <a:ln/>
        </p:spPr>
        <p:txBody>
          <a:bodyPr wrap="square" lIns="0" tIns="0" rIns="0" bIns="0" rtlCol="0" anchor="t"/>
          <a:lstStyle/>
          <a:p>
            <a:pPr indent="0" marL="0">
              <a:buNone/>
            </a:pPr>
            <a:r>
              <a:rPr lang="en-US" sz="1500" dirty="0">
                <a:solidFill>
                  <a:schemeClr val="accent5"/>
                </a:solidFill>
              </a:rPr>
              <a:t>Culture, food, nature, harvests</a:t>
            </a:r>
            <a:endParaRPr lang="en-US" sz="1500" dirty="0"/>
          </a:p>
        </p:txBody>
      </p:sp>
      <p:sp>
        <p:nvSpPr>
          <p:cNvPr id="28" name="Shape 21"/>
          <p:cNvSpPr/>
          <p:nvPr/>
        </p:nvSpPr>
        <p:spPr>
          <a:xfrm>
            <a:off x="3355848" y="3749040"/>
            <a:ext cx="2651760" cy="2194560"/>
          </a:xfrm>
          <a:prstGeom prst="roundRect">
            <a:avLst>
              <a:gd name="adj" fmla="val 5000"/>
            </a:avLst>
          </a:prstGeom>
          <a:solidFill>
            <a:schemeClr val="bg2"/>
          </a:solidFill>
          <a:ln/>
        </p:spPr>
      </p:sp>
      <p:sp>
        <p:nvSpPr>
          <p:cNvPr id="29" name="Shape 22"/>
          <p:cNvSpPr/>
          <p:nvPr/>
        </p:nvSpPr>
        <p:spPr>
          <a:xfrm>
            <a:off x="3557016" y="3950208"/>
            <a:ext cx="566928" cy="566928"/>
          </a:xfrm>
          <a:prstGeom prst="ellipse">
            <a:avLst/>
          </a:prstGeom>
          <a:solidFill>
            <a:schemeClr val="accent6"/>
          </a:solidFill>
          <a:ln/>
        </p:spPr>
      </p:sp>
      <p:pic>
        <p:nvPicPr>
          <p:cNvPr id="30" name="Image 5" descr="preencoded.png">    </p:cNvPr>
          <p:cNvPicPr>
            <a:picLocks noChangeAspect="1"/>
          </p:cNvPicPr>
          <p:nvPr/>
        </p:nvPicPr>
        <p:blipFill>
          <a:blip r:embed="rId6"/>
          <a:stretch>
            <a:fillRect/>
          </a:stretch>
        </p:blipFill>
        <p:spPr>
          <a:xfrm>
            <a:off x="3670402" y="4063594"/>
            <a:ext cx="340157" cy="340157"/>
          </a:xfrm>
          <a:prstGeom prst="rect">
            <a:avLst/>
          </a:prstGeom>
        </p:spPr>
      </p:pic>
      <p:sp>
        <p:nvSpPr>
          <p:cNvPr id="31" name="Text 23"/>
          <p:cNvSpPr txBox="1"/>
          <p:nvPr/>
        </p:nvSpPr>
        <p:spPr>
          <a:xfrm>
            <a:off x="3557016" y="4645152"/>
            <a:ext cx="2286000" cy="365760"/>
          </a:xfrm>
          <a:prstGeom prst="rect">
            <a:avLst/>
          </a:prstGeom>
          <a:noFill/>
          <a:ln/>
        </p:spPr>
        <p:txBody>
          <a:bodyPr wrap="square" lIns="0" tIns="0" rIns="0" bIns="0" rtlCol="0" anchor="ctr"/>
          <a:lstStyle/>
          <a:p>
            <a:pPr indent="0" marL="0">
              <a:buNone/>
            </a:pPr>
            <a:r>
              <a:rPr lang="en-US" sz="1800" b="1" dirty="0">
                <a:solidFill>
                  <a:schemeClr val="tx1"/>
                </a:solidFill>
              </a:rPr>
              <a:t>Uniqueness</a:t>
            </a:r>
            <a:endParaRPr lang="en-US" sz="1800" dirty="0"/>
          </a:p>
        </p:txBody>
      </p:sp>
      <p:sp>
        <p:nvSpPr>
          <p:cNvPr id="32" name="Text 24"/>
          <p:cNvSpPr txBox="1"/>
          <p:nvPr/>
        </p:nvSpPr>
        <p:spPr>
          <a:xfrm>
            <a:off x="3557016" y="5047488"/>
            <a:ext cx="2286000" cy="777240"/>
          </a:xfrm>
          <a:prstGeom prst="rect">
            <a:avLst/>
          </a:prstGeom>
          <a:noFill/>
          <a:ln/>
        </p:spPr>
        <p:txBody>
          <a:bodyPr wrap="square" lIns="0" tIns="0" rIns="0" bIns="0" rtlCol="0" anchor="t"/>
          <a:lstStyle/>
          <a:p>
            <a:pPr indent="0" marL="0">
              <a:buNone/>
            </a:pPr>
            <a:r>
              <a:rPr lang="en-US" sz="1500" dirty="0">
                <a:solidFill>
                  <a:schemeClr val="accent5"/>
                </a:solidFill>
              </a:rPr>
              <a:t>St. Blaise, Ston oysters and the Neretva exist only here</a:t>
            </a:r>
            <a:endParaRPr lang="en-US" sz="1500" dirty="0"/>
          </a:p>
        </p:txBody>
      </p:sp>
      <p:sp>
        <p:nvSpPr>
          <p:cNvPr id="33" name="Shape 25"/>
          <p:cNvSpPr/>
          <p:nvPr/>
        </p:nvSpPr>
        <p:spPr>
          <a:xfrm>
            <a:off x="6163056" y="3749040"/>
            <a:ext cx="2651760" cy="2194560"/>
          </a:xfrm>
          <a:prstGeom prst="roundRect">
            <a:avLst>
              <a:gd name="adj" fmla="val 5000"/>
            </a:avLst>
          </a:prstGeom>
          <a:solidFill>
            <a:schemeClr val="bg2"/>
          </a:solidFill>
          <a:ln/>
        </p:spPr>
      </p:sp>
      <p:sp>
        <p:nvSpPr>
          <p:cNvPr id="34" name="Shape 26"/>
          <p:cNvSpPr/>
          <p:nvPr/>
        </p:nvSpPr>
        <p:spPr>
          <a:xfrm>
            <a:off x="6364224" y="3950208"/>
            <a:ext cx="566928" cy="566928"/>
          </a:xfrm>
          <a:prstGeom prst="ellipse">
            <a:avLst/>
          </a:prstGeom>
          <a:solidFill>
            <a:schemeClr val="accent6"/>
          </a:solidFill>
          <a:ln/>
        </p:spPr>
      </p:sp>
      <p:pic>
        <p:nvPicPr>
          <p:cNvPr id="35" name="Image 6" descr="preencoded.png">    </p:cNvPr>
          <p:cNvPicPr>
            <a:picLocks noChangeAspect="1"/>
          </p:cNvPicPr>
          <p:nvPr/>
        </p:nvPicPr>
        <p:blipFill>
          <a:blip r:embed="rId7"/>
          <a:stretch>
            <a:fillRect/>
          </a:stretch>
        </p:blipFill>
        <p:spPr>
          <a:xfrm>
            <a:off x="6477610" y="4063594"/>
            <a:ext cx="340157" cy="340157"/>
          </a:xfrm>
          <a:prstGeom prst="rect">
            <a:avLst/>
          </a:prstGeom>
        </p:spPr>
      </p:pic>
      <p:sp>
        <p:nvSpPr>
          <p:cNvPr id="36" name="Text 27"/>
          <p:cNvSpPr txBox="1"/>
          <p:nvPr/>
        </p:nvSpPr>
        <p:spPr>
          <a:xfrm>
            <a:off x="6364224" y="4645152"/>
            <a:ext cx="2286000" cy="365760"/>
          </a:xfrm>
          <a:prstGeom prst="rect">
            <a:avLst/>
          </a:prstGeom>
          <a:noFill/>
          <a:ln/>
        </p:spPr>
        <p:txBody>
          <a:bodyPr wrap="square" lIns="0" tIns="0" rIns="0" bIns="0" rtlCol="0" anchor="ctr"/>
          <a:lstStyle/>
          <a:p>
            <a:pPr indent="0" marL="0">
              <a:buNone/>
            </a:pPr>
            <a:r>
              <a:rPr lang="en-US" sz="1800" b="1" dirty="0">
                <a:solidFill>
                  <a:schemeClr val="tx1"/>
                </a:solidFill>
              </a:rPr>
              <a:t>Attractivity</a:t>
            </a:r>
            <a:endParaRPr lang="en-US" sz="1800" dirty="0"/>
          </a:p>
        </p:txBody>
      </p:sp>
      <p:sp>
        <p:nvSpPr>
          <p:cNvPr id="37" name="Text 28"/>
          <p:cNvSpPr txBox="1"/>
          <p:nvPr/>
        </p:nvSpPr>
        <p:spPr>
          <a:xfrm>
            <a:off x="6364224" y="5047488"/>
            <a:ext cx="2286000" cy="777240"/>
          </a:xfrm>
          <a:prstGeom prst="rect">
            <a:avLst/>
          </a:prstGeom>
          <a:noFill/>
          <a:ln/>
        </p:spPr>
        <p:txBody>
          <a:bodyPr wrap="square" lIns="0" tIns="0" rIns="0" bIns="0" rtlCol="0" anchor="t"/>
          <a:lstStyle/>
          <a:p>
            <a:pPr indent="0" marL="0">
              <a:buNone/>
            </a:pPr>
            <a:r>
              <a:rPr lang="en-US" sz="1500" dirty="0">
                <a:solidFill>
                  <a:schemeClr val="accent5"/>
                </a:solidFill>
              </a:rPr>
              <a:t>Real people, real food, quiet places</a:t>
            </a:r>
            <a:endParaRPr lang="en-US" sz="1500" dirty="0"/>
          </a:p>
        </p:txBody>
      </p:sp>
      <p:sp>
        <p:nvSpPr>
          <p:cNvPr id="38" name="Shape 29"/>
          <p:cNvSpPr/>
          <p:nvPr/>
        </p:nvSpPr>
        <p:spPr>
          <a:xfrm>
            <a:off x="8970264" y="3749040"/>
            <a:ext cx="2651760" cy="2194560"/>
          </a:xfrm>
          <a:prstGeom prst="roundRect">
            <a:avLst>
              <a:gd name="adj" fmla="val 5000"/>
            </a:avLst>
          </a:prstGeom>
          <a:solidFill>
            <a:schemeClr val="bg2"/>
          </a:solidFill>
          <a:ln/>
        </p:spPr>
      </p:sp>
      <p:sp>
        <p:nvSpPr>
          <p:cNvPr id="39" name="Shape 30"/>
          <p:cNvSpPr/>
          <p:nvPr/>
        </p:nvSpPr>
        <p:spPr>
          <a:xfrm>
            <a:off x="9171432" y="3950208"/>
            <a:ext cx="566928" cy="566928"/>
          </a:xfrm>
          <a:prstGeom prst="ellipse">
            <a:avLst/>
          </a:prstGeom>
          <a:solidFill>
            <a:schemeClr val="accent6"/>
          </a:solidFill>
          <a:ln/>
        </p:spPr>
      </p:sp>
      <p:pic>
        <p:nvPicPr>
          <p:cNvPr id="40" name="Image 7" descr="preencoded.png">    </p:cNvPr>
          <p:cNvPicPr>
            <a:picLocks noChangeAspect="1"/>
          </p:cNvPicPr>
          <p:nvPr/>
        </p:nvPicPr>
        <p:blipFill>
          <a:blip r:embed="rId8"/>
          <a:stretch>
            <a:fillRect/>
          </a:stretch>
        </p:blipFill>
        <p:spPr>
          <a:xfrm>
            <a:off x="9284818" y="4063594"/>
            <a:ext cx="340157" cy="340157"/>
          </a:xfrm>
          <a:prstGeom prst="rect">
            <a:avLst/>
          </a:prstGeom>
        </p:spPr>
      </p:pic>
      <p:sp>
        <p:nvSpPr>
          <p:cNvPr id="41" name="Text 31"/>
          <p:cNvSpPr txBox="1"/>
          <p:nvPr/>
        </p:nvSpPr>
        <p:spPr>
          <a:xfrm>
            <a:off x="9171432" y="4645152"/>
            <a:ext cx="2286000" cy="365760"/>
          </a:xfrm>
          <a:prstGeom prst="rect">
            <a:avLst/>
          </a:prstGeom>
          <a:noFill/>
          <a:ln/>
        </p:spPr>
        <p:txBody>
          <a:bodyPr wrap="square" lIns="0" tIns="0" rIns="0" bIns="0" rtlCol="0" anchor="ctr"/>
          <a:lstStyle/>
          <a:p>
            <a:pPr indent="0" marL="0">
              <a:buNone/>
            </a:pPr>
            <a:r>
              <a:rPr lang="en-US" sz="1800" b="1" dirty="0">
                <a:solidFill>
                  <a:schemeClr val="tx1"/>
                </a:solidFill>
              </a:rPr>
              <a:t>Adaptability</a:t>
            </a:r>
            <a:endParaRPr lang="en-US" sz="1800" dirty="0"/>
          </a:p>
        </p:txBody>
      </p:sp>
      <p:sp>
        <p:nvSpPr>
          <p:cNvPr id="42" name="Text 32"/>
          <p:cNvSpPr txBox="1"/>
          <p:nvPr/>
        </p:nvSpPr>
        <p:spPr>
          <a:xfrm>
            <a:off x="9171432" y="5047488"/>
            <a:ext cx="2286000" cy="777240"/>
          </a:xfrm>
          <a:prstGeom prst="rect">
            <a:avLst/>
          </a:prstGeom>
          <a:noFill/>
          <a:ln/>
        </p:spPr>
        <p:txBody>
          <a:bodyPr wrap="square" lIns="0" tIns="0" rIns="0" bIns="0" rtlCol="0" anchor="t"/>
          <a:lstStyle/>
          <a:p>
            <a:pPr indent="0" marL="0">
              <a:buNone/>
            </a:pPr>
            <a:r>
              <a:rPr lang="en-US" sz="1500" dirty="0">
                <a:solidFill>
                  <a:schemeClr val="accent5"/>
                </a:solidFill>
              </a:rPr>
              <a:t>The same model fits any feast or harvest</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46D"/>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Background photo" descr="preencoded.png">    </p:cNvPr>
          <p:cNvPicPr>
            <a:picLocks noChangeAspect="1"/>
          </p:cNvPicPr>
          <p:nvPr/>
        </p:nvPicPr>
        <p:blipFill>
          <a:blip r:embed="rId1"/>
          <a:srcRect l="0" r="0" t="3415" b="3415"/>
          <a:stretch/>
        </p:blipFill>
        <p:spPr>
          <a:xfrm>
            <a:off x="0" y="0"/>
            <a:ext cx="12191695" cy="6858000"/>
          </a:xfrm>
          <a:prstGeom prst="rect">
            <a:avLst/>
          </a:prstGeom>
        </p:spPr>
      </p:pic>
      <p:sp>
        <p:nvSpPr>
          <p:cNvPr id="3" name="Scrim"/>
          <p:cNvSpPr/>
          <p:nvPr/>
        </p:nvSpPr>
        <p:spPr>
          <a:xfrm>
            <a:off x="0" y="0"/>
            <a:ext cx="12191695" cy="6858000"/>
          </a:xfrm>
          <a:prstGeom prst="rect">
            <a:avLst/>
          </a:prstGeom>
          <a:solidFill>
            <a:srgbClr val="15201B">
              <a:alpha val="65000"/>
            </a:srgbClr>
          </a:solidFill>
          <a:ln/>
        </p:spPr>
      </p:sp>
      <p:sp>
        <p:nvSpPr>
          <p:cNvPr id="4" name="Text 1"/>
          <p:cNvSpPr txBox="1"/>
          <p:nvPr/>
        </p:nvSpPr>
        <p:spPr>
          <a:xfrm>
            <a:off x="548640" y="1280160"/>
            <a:ext cx="7315200" cy="2377440"/>
          </a:xfrm>
          <a:prstGeom prst="rect">
            <a:avLst/>
          </a:prstGeom>
          <a:noFill/>
          <a:ln/>
        </p:spPr>
        <p:txBody>
          <a:bodyPr wrap="square" lIns="0" tIns="0" rIns="0" bIns="0" rtlCol="0" anchor="t"/>
          <a:lstStyle/>
          <a:p>
            <a:pPr indent="0" marL="0">
              <a:lnSpc>
                <a:spcPct val="92000"/>
              </a:lnSpc>
              <a:buNone/>
            </a:pPr>
            <a:r>
              <a:rPr lang="en-US" sz="7600" b="1" dirty="0">
                <a:solidFill>
                  <a:srgbClr val="FFFFFF"/>
                </a:solidFill>
              </a:rPr>
              <a:t>You travel.</a:t>
            </a:r>
            <a:endParaRPr lang="en-US" sz="7600" dirty="0"/>
          </a:p>
          <a:p>
            <a:pPr indent="0" marL="0">
              <a:lnSpc>
                <a:spcPct val="92000"/>
              </a:lnSpc>
              <a:buNone/>
            </a:pPr>
            <a:r>
              <a:rPr lang="en-US" sz="7600" b="1" dirty="0">
                <a:solidFill>
                  <a:srgbClr val="FFFFFF"/>
                </a:solidFill>
              </a:rPr>
              <a:t>We care.</a:t>
            </a:r>
            <a:endParaRPr lang="en-US" sz="7600" dirty="0"/>
          </a:p>
        </p:txBody>
      </p:sp>
      <p:sp>
        <p:nvSpPr>
          <p:cNvPr id="5" name="Text 2"/>
          <p:cNvSpPr txBox="1"/>
          <p:nvPr/>
        </p:nvSpPr>
        <p:spPr>
          <a:xfrm>
            <a:off x="548640" y="3794760"/>
            <a:ext cx="7315200" cy="822960"/>
          </a:xfrm>
          <a:prstGeom prst="rect">
            <a:avLst/>
          </a:prstGeom>
          <a:noFill/>
          <a:ln/>
        </p:spPr>
        <p:txBody>
          <a:bodyPr wrap="square" lIns="0" tIns="0" rIns="0" bIns="0" rtlCol="0" anchor="t"/>
          <a:lstStyle/>
          <a:p>
            <a:pPr indent="0" marL="0">
              <a:buNone/>
            </a:pPr>
            <a:r>
              <a:rPr lang="en-US" sz="2100" dirty="0">
                <a:solidFill>
                  <a:srgbClr val="E3EEE8"/>
                </a:solidFill>
              </a:rPr>
              <a:t>A region that works in every season, for visitors and for the people who live there.</a:t>
            </a:r>
            <a:endParaRPr lang="en-US" sz="2100" dirty="0"/>
          </a:p>
        </p:txBody>
      </p:sp>
      <p:sp>
        <p:nvSpPr>
          <p:cNvPr id="6" name="Text 3"/>
          <p:cNvSpPr txBox="1"/>
          <p:nvPr/>
        </p:nvSpPr>
        <p:spPr>
          <a:xfrm>
            <a:off x="548640" y="4754880"/>
            <a:ext cx="5486400" cy="548640"/>
          </a:xfrm>
          <a:prstGeom prst="rect">
            <a:avLst/>
          </a:prstGeom>
          <a:noFill/>
          <a:ln/>
        </p:spPr>
        <p:txBody>
          <a:bodyPr wrap="square" lIns="0" tIns="0" rIns="0" bIns="0" rtlCol="0" anchor="ctr"/>
          <a:lstStyle/>
          <a:p>
            <a:pPr indent="0" marL="0">
              <a:buNone/>
            </a:pPr>
            <a:r>
              <a:rPr lang="en-US" sz="2400" b="1" dirty="0">
                <a:solidFill>
                  <a:srgbClr val="B8E6CF"/>
                </a:solidFill>
              </a:rPr>
              <a:t>Thank you. Questions?</a:t>
            </a:r>
            <a:endParaRPr lang="en-US" sz="2400" dirty="0"/>
          </a:p>
        </p:txBody>
      </p:sp>
      <p:sp>
        <p:nvSpPr>
          <p:cNvPr id="7" name="Shape 4"/>
          <p:cNvSpPr/>
          <p:nvPr/>
        </p:nvSpPr>
        <p:spPr>
          <a:xfrm>
            <a:off x="8778240" y="1737360"/>
            <a:ext cx="2743200" cy="3154680"/>
          </a:xfrm>
          <a:prstGeom prst="roundRect">
            <a:avLst>
              <a:gd name="adj" fmla="val 4000"/>
            </a:avLst>
          </a:prstGeom>
          <a:solidFill>
            <a:srgbClr val="FFFFFF"/>
          </a:solidFill>
          <a:ln/>
        </p:spPr>
      </p:sp>
      <p:pic>
        <p:nvPicPr>
          <p:cNvPr id="8" name="Image 1" descr="preencoded.png">
            <a:hlinkClick r:id="rId3" tooltip=""/>
          </p:cNvPr>
          <p:cNvPicPr>
            <a:picLocks noChangeAspect="1"/>
          </p:cNvPicPr>
          <p:nvPr/>
        </p:nvPicPr>
        <p:blipFill>
          <a:blip r:embed="rId2"/>
          <a:stretch>
            <a:fillRect/>
          </a:stretch>
        </p:blipFill>
        <p:spPr>
          <a:xfrm>
            <a:off x="9006840" y="1965960"/>
            <a:ext cx="2286000" cy="2286000"/>
          </a:xfrm>
          <a:prstGeom prst="rect">
            <a:avLst/>
          </a:prstGeom>
        </p:spPr>
      </p:pic>
      <p:sp>
        <p:nvSpPr>
          <p:cNvPr id="9" name="Text 5"/>
          <p:cNvSpPr txBox="1"/>
          <p:nvPr/>
        </p:nvSpPr>
        <p:spPr>
          <a:xfrm>
            <a:off x="8778240" y="4343400"/>
            <a:ext cx="2743200" cy="365760"/>
          </a:xfrm>
          <a:prstGeom prst="rect">
            <a:avLst/>
          </a:prstGeom>
          <a:noFill/>
          <a:ln/>
        </p:spPr>
        <p:txBody>
          <a:bodyPr wrap="square" lIns="0" tIns="0" rIns="0" bIns="0" rtlCol="0" anchor="ctr"/>
          <a:lstStyle/>
          <a:p>
            <a:pPr algn="ctr" indent="0" marL="0">
              <a:buNone/>
            </a:pPr>
            <a:r>
              <a:rPr lang="en-US" sz="1200" b="1" dirty="0">
                <a:solidFill>
                  <a:schemeClr val="tx1"/>
                </a:solidFill>
              </a:rPr>
              <a:t>dk129213.github.io/VitaNatura</a:t>
            </a:r>
            <a:endParaRPr lang="en-US" sz="1200" dirty="0"/>
          </a:p>
        </p:txBody>
      </p:sp>
      <p:sp>
        <p:nvSpPr>
          <p:cNvPr id="10" name="Text 6"/>
          <p:cNvSpPr txBox="1"/>
          <p:nvPr/>
        </p:nvSpPr>
        <p:spPr>
          <a:xfrm>
            <a:off x="548640" y="6080760"/>
            <a:ext cx="11094415" cy="548640"/>
          </a:xfrm>
          <a:prstGeom prst="rect">
            <a:avLst/>
          </a:prstGeom>
          <a:noFill/>
          <a:ln/>
        </p:spPr>
        <p:txBody>
          <a:bodyPr wrap="square" lIns="0" tIns="0" rIns="0" bIns="0" rtlCol="0" anchor="b"/>
          <a:lstStyle/>
          <a:p>
            <a:pPr indent="0" marL="0">
              <a:buNone/>
            </a:pPr>
            <a:r>
              <a:rPr lang="en-US" sz="800" dirty="0">
                <a:solidFill>
                  <a:srgbClr val="C9D6CF"/>
                </a:solidFill>
              </a:rPr>
              <a:t>Photos, Wikimedia Commons: Neretva at Opuzen, croatiatipscom (CC0); Neretva delta, Draceane (CC BY-SA 4.0); St. Blaise feast, Mariobonacic (public domain); Mali Ston bay, Eranyo (CC BY 3.0); Fortifications at Ston, Tony Hisgett (CC BY 2.0); Grey heron, Ljeto (CC BY-SA 4.0); Mandarins, SKas (CC BY-SA 4.0); Lapad, Jules Verne Times Two (CC BY 4.0).</a:t>
            </a:r>
            <a:endParaRPr lang="en-US" sz="800" dirty="0"/>
          </a:p>
        </p:txBody>
      </p:sp>
    </p:spTree>
  </p:cSld>
  <p:clrMapOvr>
    <a:masterClrMapping/>
  </p:clrMapOvr>
</p:sld>
</file>

<file path=ppt/theme/theme1.xml><?xml version="1.0" encoding="utf-8"?>
<a:theme xmlns:a="http://schemas.openxmlformats.org/drawingml/2006/main" name="VitaNatura">
  <a:themeElements>
    <a:clrScheme name="VitaNatura">
      <a:dk1>
        <a:srgbClr val="15201B"/>
      </a:dk1>
      <a:lt1>
        <a:srgbClr val="FFFFFF"/>
      </a:lt1>
      <a:dk2>
        <a:srgbClr val="1D6B4F"/>
      </a:dk2>
      <a:lt2>
        <a:srgbClr val="EEF3EF"/>
      </a:lt2>
      <a:accent1>
        <a:srgbClr val="1D6B4F"/>
      </a:accent1>
      <a:accent2>
        <a:srgbClr val="5CC49A"/>
      </a:accent2>
      <a:accent3>
        <a:srgbClr val="9A5B00"/>
      </a:accent3>
      <a:accent4>
        <a:srgbClr val="B3261E"/>
      </a:accent4>
      <a:accent5>
        <a:srgbClr val="66746D"/>
      </a:accent5>
      <a:accent6>
        <a:srgbClr val="DCEFE5"/>
      </a:accent6>
      <a:hlink>
        <a:srgbClr val="1D6B4F"/>
      </a:hlink>
      <a:folHlink>
        <a:srgbClr val="47554E"/>
      </a:folHlink>
    </a:clrScheme>
    <a:fontScheme name="VitaNatur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VitaNatura 365: You travel. We care.</dc:title>
  <dc:subject>PptxGenJS Presentation</dc:subject>
  <dc:creator>VitaNatura 365 team</dc:creator>
  <cp:lastModifiedBy>VitaNatura 365 team</cp:lastModifiedBy>
  <cp:revision>1</cp:revision>
  <dcterms:created xsi:type="dcterms:W3CDTF">2026-10-06T12:24:57Z</dcterms:created>
  <dcterms:modified xsi:type="dcterms:W3CDTF">2026-10-06T12:24:57Z</dcterms:modified>
</cp:coreProperties>
</file>